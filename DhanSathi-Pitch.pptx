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line, not the stack.</a:t>
            </a:r>
          </a:p>
          <a:p/>
          <a:p>
            <a:r>
              <a:t>"Every team here built something that decides what to sell a customer. We built something that can decide not to sell. That distinction turns out to change the whole architecture."</a:t>
            </a:r>
          </a:p>
          <a:p/>
          <a:p>
            <a:r>
              <a:t>Then name the team. Keep this slide under 20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columns are the brief's own words. The third is our reading of it.</a:t>
            </a:r>
          </a:p>
          <a:p/>
          <a:p>
            <a:r>
              <a:t>The brief warns against over-recommending loans to financially stressed customers. That warning is the design brief for this product: personalisation is only a benefit if it can decide against selling.</a:t>
            </a:r>
          </a:p>
          <a:p/>
          <a:p>
            <a:r>
              <a:t>Land the reframing line and move on. About 30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thesis on one slide. Everything after it is evidence.</a:t>
            </a:r>
          </a:p>
          <a:p/>
          <a:p>
            <a:r>
              <a:t>"The model proposes, the rules dispose" answers the question judges always ask about AI in lending: what happens when the model is wrong? Here, a wrong model can only make us more cautious.</a:t>
            </a:r>
          </a:p>
          <a:p/>
          <a:p>
            <a:r>
              <a:t>Principle one is also our explainability and compliance answer: the thing that decides is code a regulator can read.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architecture deliverable: data sources, AI engine, personalised output.</a:t>
            </a:r>
          </a:p>
          <a:p/>
          <a:p>
            <a:r>
              <a:t>Walk it left to right in one breath, then point at two things.</a:t>
            </a:r>
          </a:p>
          <a:p/>
          <a:p>
            <a:r>
              <a:t>First, the white box. The wellness gate sits after the model and before any output. Nothing downstream can override it.</a:t>
            </a:r>
          </a:p>
          <a:p/>
          <a:p>
            <a:r>
              <a:t>Second, the dashed box. The LLM is not in the decision path at all. It receives a finished decision and only phrases it, and a guardrail checks every number it writes against the facts. If Gemini is down or out of quota, templates take over and the UI says which one spoke.</a:t>
            </a:r>
          </a:p>
          <a:p/>
          <a:p>
            <a:r>
              <a:t>The bottom band: every step is a sealed, tamper-evident record.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1 asks for the most relevant product at the right moment, not a generic pop-up.</a:t>
            </a:r>
          </a:p>
          <a:p/>
          <a:p>
            <a:r>
              <a:t>The recommendation comes from the customer's own ledger. The timing engine decides when it is worth saying anything.</a:t>
            </a:r>
          </a:p>
          <a:p/>
          <a:p>
            <a:r>
              <a:t>The Time Machine is the part to demo: every timing rule takes an injectable clock, so dragging the slider moves the whole pipeline. Everyone will claim contextual timing; this is the version a judge can falsify while you stand there.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3 asks for early warning of stress and empathetic, non-punitive intervention.</a:t>
            </a:r>
          </a:p>
          <a:p/>
          <a:p>
            <a:r>
              <a:t>Sunita is the easy case: two missed EMIs, the rules and the model agree, and her natural offer is withheld in favour of EMI restructuring.</a:t>
            </a:r>
          </a:p>
          <a:p/>
          <a:p>
            <a:r>
              <a:t>Suresh is the case that justifies the machine learning. Zero missed EMIs. The rules score him 85, healthy. The model puts him at 15.6%, above the 10% intervention threshold, because his income regularity and expense ratio look like customers who ran into trouble within 90 days. So we hold the offer back before anything has gone wrong.</a:t>
            </a:r>
          </a:p>
          <a:p/>
          <a:p>
            <a:r>
              <a:t>If asked whether he was planted: no, he is one of fifteen seed customers.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AI/ML deliverable. Four techniques, each with a reason.</a:t>
            </a:r>
          </a:p>
          <a:p/>
          <a:p>
            <a:r>
              <a:t>Distress prediction: we chose logistic regression over gradient boosting on purpose. Additive models give exact per-feature reasons, and monotonic constraints mean the model cannot learn something indefensible from noise.</a:t>
            </a:r>
          </a:p>
          <a:p/>
          <a:p>
            <a:r>
              <a:t>AUC 0.72 will get a question. At a 7% base rate that is honest. A model claiming 0.95 on this task is leaking its label. And the threshold is not chosen for accuracy: predicting nobody is at risk is 93% accurate and useless. We priced the errors instead.</a:t>
            </a:r>
          </a:p>
          <a:p/>
          <a:p>
            <a:r>
              <a:t>The full model card, with calibration and per-cohort performance, is at /model-card.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Explainability is usually "why this product". The question a declined customer actually asks is "what would I have to do differently".</a:t>
            </a:r>
          </a:p>
          <a:p/>
          <a:p>
            <a:r>
              <a:t>Counterfactuals are what lending regulators mean by a route to recourse. Because our decision functions are pure, we do not approximate: we re-run the real engine and report the exact minimum change.</a:t>
            </a:r>
          </a:p>
          <a:p/>
          <a:p>
            <a:r>
              <a:t>Point at Sunita's line: clearing both missed EMIs reopens the offer. One alone is not enough, because the model still sees pressure.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RBI's circular on Key Facts Statements for Loans and Advances made this mandatory for retail and MSME term loans from 1 October 2024. Almost no one implements it.</a:t>
            </a:r>
          </a:p>
          <a:p/>
          <a:p>
            <a:r>
              <a:t>The headline comparison is the point of the regulation: a 14.5% rate is really an 18.03% annual cost once ₹5,500 of upfront charges are taken out of what she receives.</a:t>
            </a:r>
          </a:p>
          <a:p/>
          <a:p>
            <a:r>
              <a:t>Two decisions are ours rather than the regulator's. The loan is sized by affordability, not product ceiling. And we deliberately do not price on the distress model: charging the most fragile customer the highest rate is legal, common, and exactly what this product exists to resist.</a:t>
            </a:r>
          </a:p>
          <a:p/>
          <a:p>
            <a:r>
              <a:t>Cooling-off follows the Digital Lending Guidelines: principal plus proportionate APR, no penalty.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the DPDP and data localisation half of the ethical safeguards deliverable.</a:t>
            </a:r>
          </a:p>
          <a:p/>
          <a:p>
            <a:r>
              <a:t>The trade-off is the strongest thirty seconds in the live demo. Consent is per scope and every scope removes real capability. Switching off spend categories makes Sunita's missed EMIs invisible, so the gate cannot protect her. We do not hide that; the card explains it.</a:t>
            </a:r>
          </a:p>
          <a:p/>
          <a:p>
            <a:r>
              <a:t>Localisation is not a claim on a slide. The compliance page reads the database region off the live connection. If the project were in Singapore it would say so.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names algorithmic bias and predatory nudging. Most answers are a bullet point.</a:t>
            </a:r>
          </a:p>
          <a:p/>
          <a:p>
            <a:r>
              <a:t>We put six thousand modelled customers through the real pipeline and applied the four-fifths rule used in fair-lending enforcement. Gender passes at 0.98. City tier passes at 0.92. Income type fails at 0.65.</a:t>
            </a:r>
          </a:p>
          <a:p/>
          <a:p>
            <a:r>
              <a:t>Pause there. Then explain: the gate holds offers back from gig workers far more often, because their cash flow is more volatile. That is the gate doing its job, and it is still a disparity a bank must be able to see and defend. A product that hid this number would be less trustworthy.</a:t>
            </a:r>
          </a:p>
          <a:p/>
          <a:p>
            <a:r>
              <a:t>1,052 is the predatory-nudging answer: the number of offers we chose not to make.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Usability for non-tech-savvy, vernacular-first users.</a:t>
            </a:r>
          </a:p>
          <a:p/>
          <a:p>
            <a:r>
              <a:t>The decision layer does not care what channel it lands on. The same deterministic decision renders as a chat answer, a 160-character Hindi SMS, and an IVR script for a feature phone on 2G.</a:t>
            </a:r>
          </a:p>
          <a:p/>
          <a:p>
            <a:r>
              <a:t>The chat guard runs before any model call. Off-topic questions are refused, the refusal names the topic, and it suggests three banking questions instead. Ask about the weather and you get a different answer, not the previous one recycled.</a:t>
            </a:r>
          </a:p>
          <a:p/>
          <a:p>
            <a:r>
              <a:t>Be honest if asked about onboarding and KYC: the guided form journey is on the roadmap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Innovation and technical feasibility, and scalability across existing infrastructure.</a:t>
            </a:r>
          </a:p>
          <a:p/>
          <a:p>
            <a:r>
              <a:t>Feasibility: 160 automated assertions, including 26 integration checks against the live Mumbai database. The product runs end to end with no API key and no database at all, which is also why the demo cannot die on quota.</a:t>
            </a:r>
          </a:p>
          <a:p/>
          <a:p>
            <a:r>
              <a:t>Scalability: the one-async-boundary design is the key idea. Data loads once, and every decision after it is a pure function. That is what lets the counterfactual engine re-run the decision hundreds of times per request, and what makes the service stateless.</a:t>
            </a:r>
          </a:p>
          <a:p/>
          <a:p>
            <a:r>
              <a:t>Every architectural choice is written up in ADR.md with the alternatives we rejected.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live app here. DEMO.md has the timed script.</a:t>
            </a:r>
          </a:p>
          <a:p/>
          <a:p>
            <a:r>
              <a:t>Before presenting: run npm run db:reset so the audit ledger starts at 1, have /fairness open in a second tab, and match the theme to the room.</a:t>
            </a:r>
          </a:p>
          <a:p/>
          <a:p>
            <a:r>
              <a:t>Order that works: Priya with the Time Machine, Sunita and the gate, Suresh and the model, Priya's Key Facts Statement, Sunita with spend categories switched off, one off-topic chat question, then close on /fairness.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what is not built before a judge does. It reads as judgement, not weakness.</a:t>
            </a:r>
          </a:p>
          <a:p/>
          <a:p>
            <a:r>
              <a:t>Fraud is named in Challenge 3 and is our first priority. The guided onboarding and KYC journey is the fuller answer to Challenge 2.</a:t>
            </a:r>
          </a:p>
          <a:p/>
          <a:p>
            <a:r>
              <a:t>Then close on the line, and stop talking.</a:t>
            </a:r>
          </a:p>
          <a:p/>
          <a:p>
            <a:r>
              <a:t>"A product that can say no is a product you can trust with a yes."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Rounded Rectangle 1"/>
          <p:cNvSpPr/>
          <p:nvPr/>
        </p:nvSpPr>
        <p:spPr>
          <a:xfrm>
            <a:off x="548640" y="822960"/>
            <a:ext cx="1125260" cy="246888"/>
          </a:xfrm>
          <a:prstGeom prst="roundRect">
            <a:avLst>
              <a:gd name="adj" fmla="val 18000"/>
            </a:avLst>
          </a:prstGeom>
          <a:noFill/>
          <a:ln w="9525">
            <a:solidFill>
              <a:srgbClr val="4A4A52"/>
            </a:solidFill>
          </a:ln>
        </p:spPr>
        <p:txBody>
          <a:bodyPr rtlCol="0" anchor="ctr"/>
          <a:lstStyle/>
          <a:p/>
        </p:txBody>
      </p:sp>
      <p:sp>
        <p:nvSpPr>
          <p:cNvPr id="3" name="TextBox 2"/>
          <p:cNvSpPr txBox="1"/>
          <p:nvPr/>
        </p:nvSpPr>
        <p:spPr>
          <a:xfrm>
            <a:off x="548640" y="822960"/>
            <a:ext cx="1125260" cy="246888"/>
          </a:xfrm>
          <a:prstGeom prst="rect">
            <a:avLst/>
          </a:prstGeom>
          <a:noFill/>
        </p:spPr>
        <p:txBody>
          <a:bodyPr wrap="square" lIns="0" rIns="0" tIns="0" bIns="0" anchor="ctr">
            <a:spAutoFit/>
          </a:bodyPr>
          <a:lstStyle/>
          <a:p>
            <a:pPr algn="ctr">
              <a:lnSpc>
                <a:spcPct val="112000"/>
              </a:lnSpc>
              <a:spcAft>
                <a:spcPts val="0"/>
              </a:spcAft>
            </a:pPr>
            <a:r>
              <a:rPr sz="900" b="0">
                <a:solidFill>
                  <a:srgbClr val="F5F5F6"/>
                </a:solidFill>
                <a:latin typeface="Segoe UI Semibold"/>
              </a:rPr>
              <a:t>HACKOUT 2026</a:t>
            </a:r>
          </a:p>
        </p:txBody>
      </p:sp>
      <p:sp>
        <p:nvSpPr>
          <p:cNvPr id="4" name="Rounded Rectangle 3"/>
          <p:cNvSpPr/>
          <p:nvPr/>
        </p:nvSpPr>
        <p:spPr>
          <a:xfrm>
            <a:off x="1783628" y="822960"/>
            <a:ext cx="2609880" cy="246888"/>
          </a:xfrm>
          <a:prstGeom prst="roundRect">
            <a:avLst>
              <a:gd name="adj" fmla="val 18000"/>
            </a:avLst>
          </a:prstGeom>
          <a:noFill/>
          <a:ln w="9525">
            <a:solidFill>
              <a:srgbClr val="4A4A52"/>
            </a:solidFill>
          </a:ln>
        </p:spPr>
        <p:txBody>
          <a:bodyPr rtlCol="0" anchor="ctr"/>
          <a:lstStyle/>
          <a:p/>
        </p:txBody>
      </p:sp>
      <p:sp>
        <p:nvSpPr>
          <p:cNvPr id="5" name="TextBox 4"/>
          <p:cNvSpPr txBox="1"/>
          <p:nvPr/>
        </p:nvSpPr>
        <p:spPr>
          <a:xfrm>
            <a:off x="1783628" y="822960"/>
            <a:ext cx="2609880" cy="246888"/>
          </a:xfrm>
          <a:prstGeom prst="rect">
            <a:avLst/>
          </a:prstGeom>
          <a:noFill/>
        </p:spPr>
        <p:txBody>
          <a:bodyPr wrap="square" lIns="0" rIns="0" tIns="0" bIns="0" anchor="ctr">
            <a:spAutoFit/>
          </a:bodyPr>
          <a:lstStyle/>
          <a:p>
            <a:pPr algn="ctr">
              <a:lnSpc>
                <a:spcPct val="112000"/>
              </a:lnSpc>
              <a:spcAft>
                <a:spcPts val="0"/>
              </a:spcAft>
            </a:pPr>
            <a:r>
              <a:rPr sz="900" b="0">
                <a:solidFill>
                  <a:srgbClr val="F5F5F6"/>
                </a:solidFill>
                <a:latin typeface="Segoe UI Semibold"/>
              </a:rPr>
              <a:t>DIGITAL TRANSFORMATION IN LENDING</a:t>
            </a:r>
          </a:p>
        </p:txBody>
      </p:sp>
      <p:sp>
        <p:nvSpPr>
          <p:cNvPr id="6" name="TextBox 5"/>
          <p:cNvSpPr txBox="1"/>
          <p:nvPr/>
        </p:nvSpPr>
        <p:spPr>
          <a:xfrm>
            <a:off x="548640" y="1691640"/>
            <a:ext cx="10972800" cy="1188720"/>
          </a:xfrm>
          <a:prstGeom prst="rect">
            <a:avLst/>
          </a:prstGeom>
          <a:noFill/>
        </p:spPr>
        <p:txBody>
          <a:bodyPr wrap="square" lIns="0" rIns="0" tIns="0" bIns="0" anchor="t">
            <a:spAutoFit/>
          </a:bodyPr>
          <a:lstStyle/>
          <a:p>
            <a:pPr algn="l">
              <a:lnSpc>
                <a:spcPct val="95000"/>
              </a:lnSpc>
              <a:spcAft>
                <a:spcPts val="0"/>
              </a:spcAft>
            </a:pPr>
            <a:r>
              <a:rPr sz="8000" b="0">
                <a:solidFill>
                  <a:srgbClr val="F5F5F6"/>
                </a:solidFill>
                <a:latin typeface="Segoe UI Semibold"/>
              </a:rPr>
              <a:t>DhanSathi</a:t>
            </a:r>
          </a:p>
        </p:txBody>
      </p:sp>
      <p:sp>
        <p:nvSpPr>
          <p:cNvPr id="7" name="TextBox 6"/>
          <p:cNvSpPr txBox="1"/>
          <p:nvPr/>
        </p:nvSpPr>
        <p:spPr>
          <a:xfrm>
            <a:off x="548640" y="2926080"/>
            <a:ext cx="9601200" cy="1280160"/>
          </a:xfrm>
          <a:prstGeom prst="rect">
            <a:avLst/>
          </a:prstGeom>
          <a:noFill/>
        </p:spPr>
        <p:txBody>
          <a:bodyPr wrap="square" lIns="0" rIns="0" tIns="0" bIns="0" anchor="t">
            <a:spAutoFit/>
          </a:bodyPr>
          <a:lstStyle/>
          <a:p>
            <a:pPr algn="l">
              <a:lnSpc>
                <a:spcPct val="105000"/>
              </a:lnSpc>
              <a:spcAft>
                <a:spcPts val="0"/>
              </a:spcAft>
            </a:pPr>
            <a:r>
              <a:rPr sz="3400" b="0">
                <a:solidFill>
                  <a:srgbClr val="F5F5F6"/>
                </a:solidFill>
                <a:latin typeface="Segoe UI Light"/>
              </a:rPr>
              <a:t>A banking assistant that can refuse to sell you something.</a:t>
            </a:r>
          </a:p>
        </p:txBody>
      </p:sp>
      <p:sp>
        <p:nvSpPr>
          <p:cNvPr id="8" name="TextBox 7"/>
          <p:cNvSpPr txBox="1"/>
          <p:nvPr/>
        </p:nvSpPr>
        <p:spPr>
          <a:xfrm>
            <a:off x="548640" y="4160520"/>
            <a:ext cx="9144000" cy="365760"/>
          </a:xfrm>
          <a:prstGeom prst="rect">
            <a:avLst/>
          </a:prstGeom>
          <a:noFill/>
        </p:spPr>
        <p:txBody>
          <a:bodyPr wrap="square" lIns="0" rIns="0" tIns="0" bIns="0" anchor="t">
            <a:spAutoFit/>
          </a:bodyPr>
          <a:lstStyle/>
          <a:p>
            <a:pPr algn="l">
              <a:lnSpc>
                <a:spcPct val="112000"/>
              </a:lnSpc>
              <a:spcAft>
                <a:spcPts val="0"/>
              </a:spcAft>
            </a:pPr>
            <a:r>
              <a:rPr sz="1600" b="0">
                <a:solidFill>
                  <a:srgbClr val="A8A8B0"/>
                </a:solidFill>
                <a:latin typeface="Segoe UI"/>
              </a:rPr>
              <a:t>AI-powered, hyper-personalised banking for Bharat</a:t>
            </a:r>
          </a:p>
        </p:txBody>
      </p:sp>
      <p:cxnSp>
        <p:nvCxnSpPr>
          <p:cNvPr id="9" name="Connector 8"/>
          <p:cNvCxnSpPr/>
          <p:nvPr/>
        </p:nvCxnSpPr>
        <p:spPr>
          <a:xfrm>
            <a:off x="548640" y="5166360"/>
            <a:ext cx="11094415" cy="0"/>
          </a:xfrm>
          <a:prstGeom prst="line">
            <a:avLst/>
          </a:prstGeom>
          <a:ln w="9525">
            <a:solidFill>
              <a:srgbClr val="30303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5349240"/>
            <a:ext cx="2743200" cy="502920"/>
          </a:xfrm>
          <a:prstGeom prst="rect">
            <a:avLst/>
          </a:prstGeom>
          <a:noFill/>
        </p:spPr>
        <p:txBody>
          <a:bodyPr wrap="square" lIns="0" rIns="0" tIns="0" bIns="0" anchor="t">
            <a:spAutoFit/>
          </a:bodyPr>
          <a:lstStyle/>
          <a:p>
            <a:pPr algn="l">
              <a:lnSpc>
                <a:spcPct val="112000"/>
              </a:lnSpc>
              <a:spcAft>
                <a:spcPts val="0"/>
              </a:spcAft>
            </a:pPr>
            <a:r>
              <a:rPr sz="2600" b="0">
                <a:solidFill>
                  <a:srgbClr val="F5F5F6"/>
                </a:solidFill>
                <a:latin typeface="Segoe UI Semibold"/>
              </a:rPr>
              <a:t>160</a:t>
            </a:r>
          </a:p>
        </p:txBody>
      </p:sp>
      <p:sp>
        <p:nvSpPr>
          <p:cNvPr id="11" name="TextBox 10"/>
          <p:cNvSpPr txBox="1"/>
          <p:nvPr/>
        </p:nvSpPr>
        <p:spPr>
          <a:xfrm>
            <a:off x="548640" y="5897880"/>
            <a:ext cx="2743200" cy="548640"/>
          </a:xfrm>
          <a:prstGeom prst="rect">
            <a:avLst/>
          </a:prstGeom>
          <a:noFill/>
        </p:spPr>
        <p:txBody>
          <a:bodyPr wrap="square" lIns="0" rIns="0" tIns="0" bIns="0" anchor="t">
            <a:spAutoFit/>
          </a:bodyPr>
          <a:lstStyle/>
          <a:p>
            <a:pPr algn="l">
              <a:lnSpc>
                <a:spcPct val="110000"/>
              </a:lnSpc>
              <a:spcAft>
                <a:spcPts val="0"/>
              </a:spcAft>
            </a:pPr>
            <a:r>
              <a:rPr sz="1050" b="0">
                <a:solidFill>
                  <a:srgbClr val="A8A8B0"/>
                </a:solidFill>
                <a:latin typeface="Segoe UI"/>
              </a:rPr>
              <a:t>automated assertions,
zero API keys needed to run</a:t>
            </a:r>
          </a:p>
        </p:txBody>
      </p:sp>
      <p:sp>
        <p:nvSpPr>
          <p:cNvPr id="12" name="TextBox 11"/>
          <p:cNvSpPr txBox="1"/>
          <p:nvPr/>
        </p:nvSpPr>
        <p:spPr>
          <a:xfrm>
            <a:off x="3337560" y="5349240"/>
            <a:ext cx="2743200" cy="502920"/>
          </a:xfrm>
          <a:prstGeom prst="rect">
            <a:avLst/>
          </a:prstGeom>
          <a:noFill/>
        </p:spPr>
        <p:txBody>
          <a:bodyPr wrap="square" lIns="0" rIns="0" tIns="0" bIns="0" anchor="t">
            <a:spAutoFit/>
          </a:bodyPr>
          <a:lstStyle/>
          <a:p>
            <a:pPr algn="l">
              <a:lnSpc>
                <a:spcPct val="112000"/>
              </a:lnSpc>
              <a:spcAft>
                <a:spcPts val="0"/>
              </a:spcAft>
            </a:pPr>
            <a:r>
              <a:rPr sz="2600" b="0">
                <a:solidFill>
                  <a:srgbClr val="F5F5F6"/>
                </a:solidFill>
                <a:latin typeface="Segoe UI Semibold"/>
              </a:rPr>
              <a:t>34</a:t>
            </a:r>
          </a:p>
        </p:txBody>
      </p:sp>
      <p:sp>
        <p:nvSpPr>
          <p:cNvPr id="13" name="TextBox 12"/>
          <p:cNvSpPr txBox="1"/>
          <p:nvPr/>
        </p:nvSpPr>
        <p:spPr>
          <a:xfrm>
            <a:off x="3337560" y="5897880"/>
            <a:ext cx="2743200" cy="548640"/>
          </a:xfrm>
          <a:prstGeom prst="rect">
            <a:avLst/>
          </a:prstGeom>
          <a:noFill/>
        </p:spPr>
        <p:txBody>
          <a:bodyPr wrap="square" lIns="0" rIns="0" tIns="0" bIns="0" anchor="t">
            <a:spAutoFit/>
          </a:bodyPr>
          <a:lstStyle/>
          <a:p>
            <a:pPr algn="l">
              <a:lnSpc>
                <a:spcPct val="110000"/>
              </a:lnSpc>
              <a:spcAft>
                <a:spcPts val="0"/>
              </a:spcAft>
            </a:pPr>
            <a:r>
              <a:rPr sz="1050" b="0">
                <a:solidFill>
                  <a:srgbClr val="A8A8B0"/>
                </a:solidFill>
                <a:latin typeface="Segoe UI"/>
              </a:rPr>
              <a:t>architecture decisions,
each with its alternatives</a:t>
            </a:r>
          </a:p>
        </p:txBody>
      </p:sp>
      <p:sp>
        <p:nvSpPr>
          <p:cNvPr id="14" name="TextBox 13"/>
          <p:cNvSpPr txBox="1"/>
          <p:nvPr/>
        </p:nvSpPr>
        <p:spPr>
          <a:xfrm>
            <a:off x="6126479" y="5349240"/>
            <a:ext cx="2743200" cy="502920"/>
          </a:xfrm>
          <a:prstGeom prst="rect">
            <a:avLst/>
          </a:prstGeom>
          <a:noFill/>
        </p:spPr>
        <p:txBody>
          <a:bodyPr wrap="square" lIns="0" rIns="0" tIns="0" bIns="0" anchor="t">
            <a:spAutoFit/>
          </a:bodyPr>
          <a:lstStyle/>
          <a:p>
            <a:pPr algn="l">
              <a:lnSpc>
                <a:spcPct val="112000"/>
              </a:lnSpc>
              <a:spcAft>
                <a:spcPts val="0"/>
              </a:spcAft>
            </a:pPr>
            <a:r>
              <a:rPr sz="2600" b="0">
                <a:solidFill>
                  <a:srgbClr val="F5F5F6"/>
                </a:solidFill>
                <a:latin typeface="Segoe UI Semibold"/>
              </a:rPr>
              <a:t>Mumbai</a:t>
            </a:r>
          </a:p>
        </p:txBody>
      </p:sp>
      <p:sp>
        <p:nvSpPr>
          <p:cNvPr id="15" name="TextBox 14"/>
          <p:cNvSpPr txBox="1"/>
          <p:nvPr/>
        </p:nvSpPr>
        <p:spPr>
          <a:xfrm>
            <a:off x="6126479" y="5897880"/>
            <a:ext cx="2743200" cy="548640"/>
          </a:xfrm>
          <a:prstGeom prst="rect">
            <a:avLst/>
          </a:prstGeom>
          <a:noFill/>
        </p:spPr>
        <p:txBody>
          <a:bodyPr wrap="square" lIns="0" rIns="0" tIns="0" bIns="0" anchor="t">
            <a:spAutoFit/>
          </a:bodyPr>
          <a:lstStyle/>
          <a:p>
            <a:pPr algn="l">
              <a:lnSpc>
                <a:spcPct val="110000"/>
              </a:lnSpc>
              <a:spcAft>
                <a:spcPts val="0"/>
              </a:spcAft>
            </a:pPr>
            <a:r>
              <a:rPr sz="1050" b="0">
                <a:solidFill>
                  <a:srgbClr val="A8A8B0"/>
                </a:solidFill>
                <a:latin typeface="Segoe UI"/>
              </a:rPr>
              <a:t>live Postgres, region read
off the running connection</a:t>
            </a:r>
          </a:p>
        </p:txBody>
      </p:sp>
      <p:sp>
        <p:nvSpPr>
          <p:cNvPr id="16" name="TextBox 15"/>
          <p:cNvSpPr txBox="1"/>
          <p:nvPr/>
        </p:nvSpPr>
        <p:spPr>
          <a:xfrm>
            <a:off x="8915400" y="5349240"/>
            <a:ext cx="2743200" cy="502920"/>
          </a:xfrm>
          <a:prstGeom prst="rect">
            <a:avLst/>
          </a:prstGeom>
          <a:noFill/>
        </p:spPr>
        <p:txBody>
          <a:bodyPr wrap="square" lIns="0" rIns="0" tIns="0" bIns="0" anchor="t">
            <a:spAutoFit/>
          </a:bodyPr>
          <a:lstStyle/>
          <a:p>
            <a:pPr algn="l">
              <a:lnSpc>
                <a:spcPct val="112000"/>
              </a:lnSpc>
              <a:spcAft>
                <a:spcPts val="0"/>
              </a:spcAft>
            </a:pPr>
            <a:r>
              <a:rPr sz="2600" b="0">
                <a:solidFill>
                  <a:srgbClr val="F5F5F6"/>
                </a:solidFill>
                <a:latin typeface="Segoe UI Semibold"/>
              </a:rPr>
              <a:t>18.03%</a:t>
            </a:r>
          </a:p>
        </p:txBody>
      </p:sp>
      <p:sp>
        <p:nvSpPr>
          <p:cNvPr id="17" name="TextBox 16"/>
          <p:cNvSpPr txBox="1"/>
          <p:nvPr/>
        </p:nvSpPr>
        <p:spPr>
          <a:xfrm>
            <a:off x="8915400" y="5897880"/>
            <a:ext cx="2743200" cy="548640"/>
          </a:xfrm>
          <a:prstGeom prst="rect">
            <a:avLst/>
          </a:prstGeom>
          <a:noFill/>
        </p:spPr>
        <p:txBody>
          <a:bodyPr wrap="square" lIns="0" rIns="0" tIns="0" bIns="0" anchor="t">
            <a:spAutoFit/>
          </a:bodyPr>
          <a:lstStyle/>
          <a:p>
            <a:pPr algn="l">
              <a:lnSpc>
                <a:spcPct val="110000"/>
              </a:lnSpc>
              <a:spcAft>
                <a:spcPts val="0"/>
              </a:spcAft>
            </a:pPr>
            <a:r>
              <a:rPr sz="1050" b="0">
                <a:solidFill>
                  <a:srgbClr val="A8A8B0"/>
                </a:solidFill>
                <a:latin typeface="Segoe UI"/>
              </a:rPr>
              <a:t>the APR hidden behind
a 14.5% headline rate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Semibold"/>
              </a:rPr>
              <a:t>01 · THE PROBLEM</a:t>
            </a:r>
          </a:p>
        </p:txBody>
      </p:sp>
      <p:sp>
        <p:nvSpPr>
          <p:cNvPr id="3" name="TextBox 2"/>
          <p:cNvSpPr txBox="1"/>
          <p:nvPr/>
        </p:nvSpPr>
        <p:spPr>
          <a:xfrm>
            <a:off x="548640" y="658368"/>
            <a:ext cx="11094415" cy="1097280"/>
          </a:xfrm>
          <a:prstGeom prst="rect">
            <a:avLst/>
          </a:prstGeom>
          <a:noFill/>
        </p:spPr>
        <p:txBody>
          <a:bodyPr wrap="square" lIns="0" rIns="0" tIns="0" bIns="0" anchor="t">
            <a:spAutoFit/>
          </a:bodyPr>
          <a:lstStyle/>
          <a:p>
            <a:pPr algn="l">
              <a:lnSpc>
                <a:spcPct val="102000"/>
              </a:lnSpc>
              <a:spcAft>
                <a:spcPts val="0"/>
              </a:spcAft>
            </a:pPr>
            <a:r>
              <a:rPr sz="2800" b="0">
                <a:solidFill>
                  <a:srgbClr val="F5F5F6"/>
                </a:solidFill>
                <a:latin typeface="Segoe UI Semibold"/>
              </a:rPr>
              <a:t>Banks already have the data to personalise. The risk is who it gets aimed at.</a:t>
            </a:r>
          </a:p>
        </p:txBody>
      </p:sp>
      <p:sp>
        <p:nvSpPr>
          <p:cNvPr id="4" name="Rounded Rectangle 3"/>
          <p:cNvSpPr/>
          <p:nvPr/>
        </p:nvSpPr>
        <p:spPr>
          <a:xfrm>
            <a:off x="548640" y="2011680"/>
            <a:ext cx="3515258" cy="2148840"/>
          </a:xfrm>
          <a:prstGeom prst="roundRect">
            <a:avLst>
              <a:gd name="adj" fmla="val 4000"/>
            </a:avLst>
          </a:prstGeom>
          <a:solidFill>
            <a:srgbClr val="16161A"/>
          </a:solidFill>
          <a:ln w="9525">
            <a:solidFill>
              <a:srgbClr val="303037"/>
            </a:solidFill>
          </a:ln>
        </p:spPr>
        <p:txBody>
          <a:bodyPr rtlCol="0" anchor="ctr"/>
          <a:lstStyle/>
          <a:p/>
        </p:txBody>
      </p:sp>
      <p:sp>
        <p:nvSpPr>
          <p:cNvPr id="5" name="TextBox 4"/>
          <p:cNvSpPr txBox="1"/>
          <p:nvPr/>
        </p:nvSpPr>
        <p:spPr>
          <a:xfrm>
            <a:off x="749808" y="2212848"/>
            <a:ext cx="3112922" cy="502920"/>
          </a:xfrm>
          <a:prstGeom prst="rect">
            <a:avLst/>
          </a:prstGeom>
          <a:noFill/>
        </p:spPr>
        <p:txBody>
          <a:bodyPr wrap="square" lIns="0" rIns="0" tIns="0" bIns="0" anchor="t">
            <a:spAutoFit/>
          </a:bodyPr>
          <a:lstStyle/>
          <a:p>
            <a:pPr algn="l">
              <a:lnSpc>
                <a:spcPct val="105000"/>
              </a:lnSpc>
              <a:spcAft>
                <a:spcPts val="0"/>
              </a:spcAft>
            </a:pPr>
            <a:r>
              <a:rPr sz="1600" b="0">
                <a:solidFill>
                  <a:srgbClr val="F5F5F6"/>
                </a:solidFill>
                <a:latin typeface="Segoe UI Semibold"/>
              </a:rPr>
              <a:t>For customers</a:t>
            </a:r>
          </a:p>
        </p:txBody>
      </p:sp>
      <p:sp>
        <p:nvSpPr>
          <p:cNvPr id="6" name="TextBox 5"/>
          <p:cNvSpPr txBox="1"/>
          <p:nvPr/>
        </p:nvSpPr>
        <p:spPr>
          <a:xfrm>
            <a:off x="749808" y="2556662"/>
            <a:ext cx="3112922" cy="1402689"/>
          </a:xfrm>
          <a:prstGeom prst="rect">
            <a:avLst/>
          </a:prstGeom>
          <a:noFill/>
        </p:spPr>
        <p:txBody>
          <a:bodyPr wrap="square" lIns="0" rIns="0" tIns="0" bIns="0" anchor="t">
            <a:spAutoFit/>
          </a:bodyPr>
          <a:lstStyle/>
          <a:p>
            <a:pPr algn="l">
              <a:lnSpc>
                <a:spcPct val="115000"/>
              </a:lnSpc>
              <a:spcAft>
                <a:spcPts val="0"/>
              </a:spcAft>
            </a:pPr>
            <a:r>
              <a:rPr sz="1200" b="0">
                <a:solidFill>
                  <a:srgbClr val="A8A8B0"/>
                </a:solidFill>
                <a:latin typeface="Segoe UI"/>
              </a:rPr>
              <a:t>Banking apps feel generic and confusing, especially in Tier 2, 3 and 4 towns. First-time digital users drop off mid-journey, and pop-up offers have nothing to do with their actual finances.</a:t>
            </a:r>
          </a:p>
        </p:txBody>
      </p:sp>
      <p:sp>
        <p:nvSpPr>
          <p:cNvPr id="7" name="Rounded Rectangle 6"/>
          <p:cNvSpPr/>
          <p:nvPr/>
        </p:nvSpPr>
        <p:spPr>
          <a:xfrm>
            <a:off x="4338218" y="2011680"/>
            <a:ext cx="3515258" cy="2148840"/>
          </a:xfrm>
          <a:prstGeom prst="roundRect">
            <a:avLst>
              <a:gd name="adj" fmla="val 4000"/>
            </a:avLst>
          </a:prstGeom>
          <a:solidFill>
            <a:srgbClr val="16161A"/>
          </a:solidFill>
          <a:ln w="9525">
            <a:solidFill>
              <a:srgbClr val="303037"/>
            </a:solidFill>
          </a:ln>
        </p:spPr>
        <p:txBody>
          <a:bodyPr rtlCol="0" anchor="ctr"/>
          <a:lstStyle/>
          <a:p/>
        </p:txBody>
      </p:sp>
      <p:sp>
        <p:nvSpPr>
          <p:cNvPr id="8" name="TextBox 7"/>
          <p:cNvSpPr txBox="1"/>
          <p:nvPr/>
        </p:nvSpPr>
        <p:spPr>
          <a:xfrm>
            <a:off x="4539386" y="2212848"/>
            <a:ext cx="3112922" cy="502920"/>
          </a:xfrm>
          <a:prstGeom prst="rect">
            <a:avLst/>
          </a:prstGeom>
          <a:noFill/>
        </p:spPr>
        <p:txBody>
          <a:bodyPr wrap="square" lIns="0" rIns="0" tIns="0" bIns="0" anchor="t">
            <a:spAutoFit/>
          </a:bodyPr>
          <a:lstStyle/>
          <a:p>
            <a:pPr algn="l">
              <a:lnSpc>
                <a:spcPct val="105000"/>
              </a:lnSpc>
              <a:spcAft>
                <a:spcPts val="0"/>
              </a:spcAft>
            </a:pPr>
            <a:r>
              <a:rPr sz="1600" b="0">
                <a:solidFill>
                  <a:srgbClr val="F5F5F6"/>
                </a:solidFill>
                <a:latin typeface="Segoe UI Semibold"/>
              </a:rPr>
              <a:t>For banks</a:t>
            </a:r>
          </a:p>
        </p:txBody>
      </p:sp>
      <p:sp>
        <p:nvSpPr>
          <p:cNvPr id="9" name="TextBox 8"/>
          <p:cNvSpPr txBox="1"/>
          <p:nvPr/>
        </p:nvSpPr>
        <p:spPr>
          <a:xfrm>
            <a:off x="4539386" y="2556662"/>
            <a:ext cx="3112922" cy="1402689"/>
          </a:xfrm>
          <a:prstGeom prst="rect">
            <a:avLst/>
          </a:prstGeom>
          <a:noFill/>
        </p:spPr>
        <p:txBody>
          <a:bodyPr wrap="square" lIns="0" rIns="0" tIns="0" bIns="0" anchor="t">
            <a:spAutoFit/>
          </a:bodyPr>
          <a:lstStyle/>
          <a:p>
            <a:pPr algn="l">
              <a:lnSpc>
                <a:spcPct val="115000"/>
              </a:lnSpc>
              <a:spcAft>
                <a:spcPts val="0"/>
              </a:spcAft>
            </a:pPr>
            <a:r>
              <a:rPr sz="1200" b="0">
                <a:solidFill>
                  <a:srgbClr val="A8A8B0"/>
                </a:solidFill>
                <a:latin typeface="Segoe UI"/>
              </a:rPr>
              <a:t>Rising customer acquisition costs, high drop-offs in loan and product journeys, and cross-sell that reaches the wrong customer at the wrong moment.</a:t>
            </a:r>
          </a:p>
        </p:txBody>
      </p:sp>
      <p:sp>
        <p:nvSpPr>
          <p:cNvPr id="10" name="Rounded Rectangle 9"/>
          <p:cNvSpPr/>
          <p:nvPr/>
        </p:nvSpPr>
        <p:spPr>
          <a:xfrm>
            <a:off x="8127796" y="2011680"/>
            <a:ext cx="3515258" cy="2148840"/>
          </a:xfrm>
          <a:prstGeom prst="roundRect">
            <a:avLst>
              <a:gd name="adj" fmla="val 4000"/>
            </a:avLst>
          </a:prstGeom>
          <a:solidFill>
            <a:srgbClr val="1F1F24"/>
          </a:solidFill>
          <a:ln w="9525">
            <a:solidFill>
              <a:srgbClr val="303037"/>
            </a:solidFill>
          </a:ln>
        </p:spPr>
        <p:txBody>
          <a:bodyPr rtlCol="0" anchor="ctr"/>
          <a:lstStyle/>
          <a:p/>
        </p:txBody>
      </p:sp>
      <p:sp>
        <p:nvSpPr>
          <p:cNvPr id="11" name="TextBox 10"/>
          <p:cNvSpPr txBox="1"/>
          <p:nvPr/>
        </p:nvSpPr>
        <p:spPr>
          <a:xfrm>
            <a:off x="8328964" y="2212848"/>
            <a:ext cx="3112922" cy="502920"/>
          </a:xfrm>
          <a:prstGeom prst="rect">
            <a:avLst/>
          </a:prstGeom>
          <a:noFill/>
        </p:spPr>
        <p:txBody>
          <a:bodyPr wrap="square" lIns="0" rIns="0" tIns="0" bIns="0" anchor="t">
            <a:spAutoFit/>
          </a:bodyPr>
          <a:lstStyle/>
          <a:p>
            <a:pPr algn="l">
              <a:lnSpc>
                <a:spcPct val="105000"/>
              </a:lnSpc>
              <a:spcAft>
                <a:spcPts val="0"/>
              </a:spcAft>
            </a:pPr>
            <a:r>
              <a:rPr sz="1600" b="0">
                <a:solidFill>
                  <a:srgbClr val="F5F5F6"/>
                </a:solidFill>
                <a:latin typeface="Segoe UI Semibold"/>
              </a:rPr>
              <a:t>The trap nobody names</a:t>
            </a:r>
          </a:p>
        </p:txBody>
      </p:sp>
      <p:sp>
        <p:nvSpPr>
          <p:cNvPr id="12" name="TextBox 11"/>
          <p:cNvSpPr txBox="1"/>
          <p:nvPr/>
        </p:nvSpPr>
        <p:spPr>
          <a:xfrm>
            <a:off x="8328964" y="2556662"/>
            <a:ext cx="3112922" cy="1402689"/>
          </a:xfrm>
          <a:prstGeom prst="rect">
            <a:avLst/>
          </a:prstGeom>
          <a:noFill/>
        </p:spPr>
        <p:txBody>
          <a:bodyPr wrap="square" lIns="0" rIns="0" tIns="0" bIns="0" anchor="t">
            <a:spAutoFit/>
          </a:bodyPr>
          <a:lstStyle/>
          <a:p>
            <a:pPr algn="l">
              <a:lnSpc>
                <a:spcPct val="115000"/>
              </a:lnSpc>
              <a:spcAft>
                <a:spcPts val="0"/>
              </a:spcAft>
            </a:pPr>
            <a:r>
              <a:rPr sz="1200" b="0">
                <a:solidFill>
                  <a:srgbClr val="A8A8B0"/>
                </a:solidFill>
                <a:latin typeface="Segoe UI"/>
              </a:rPr>
              <a:t>The same transaction data that finds the right moment also finds the most financially fragile customer. Optimise that for conversion and you have built predatory lending at scale.</a:t>
            </a:r>
          </a:p>
        </p:txBody>
      </p:sp>
      <p:sp>
        <p:nvSpPr>
          <p:cNvPr id="13" name="Rounded Rectangle 12"/>
          <p:cNvSpPr/>
          <p:nvPr/>
        </p:nvSpPr>
        <p:spPr>
          <a:xfrm>
            <a:off x="548640" y="4526280"/>
            <a:ext cx="11094415" cy="1554480"/>
          </a:xfrm>
          <a:prstGeom prst="roundRect">
            <a:avLst>
              <a:gd name="adj" fmla="val 4000"/>
            </a:avLst>
          </a:prstGeom>
          <a:noFill/>
          <a:ln w="9525">
            <a:solidFill>
              <a:srgbClr val="4A4A52"/>
            </a:solidFill>
          </a:ln>
        </p:spPr>
        <p:txBody>
          <a:bodyPr rtlCol="0" anchor="ctr"/>
          <a:lstStyle/>
          <a:p/>
        </p:txBody>
      </p:sp>
      <p:sp>
        <p:nvSpPr>
          <p:cNvPr id="14" name="TextBox 13"/>
          <p:cNvSpPr txBox="1"/>
          <p:nvPr/>
        </p:nvSpPr>
        <p:spPr>
          <a:xfrm>
            <a:off x="914400" y="4754880"/>
            <a:ext cx="10362895" cy="1188720"/>
          </a:xfrm>
          <a:prstGeom prst="rect">
            <a:avLst/>
          </a:prstGeom>
          <a:noFill/>
        </p:spPr>
        <p:txBody>
          <a:bodyPr wrap="square" lIns="0" rIns="0" tIns="0" bIns="0" anchor="t">
            <a:spAutoFit/>
          </a:bodyPr>
          <a:lstStyle/>
          <a:p>
            <a:pPr algn="l">
              <a:lnSpc>
                <a:spcPct val="120000"/>
              </a:lnSpc>
              <a:spcAft>
                <a:spcPts val="600"/>
              </a:spcAft>
            </a:pPr>
            <a:r>
              <a:rPr sz="2400" b="0">
                <a:solidFill>
                  <a:srgbClr val="A8A8B0"/>
                </a:solidFill>
                <a:latin typeface="Segoe UI"/>
              </a:rPr>
              <a:t>Most solutions ask: </a:t>
            </a:r>
            <a:r>
              <a:rPr sz="2400" b="0">
                <a:solidFill>
                  <a:srgbClr val="A8A8B0"/>
                </a:solidFill>
                <a:latin typeface="Segoe UI Semibold"/>
              </a:rPr>
              <a:t>what should we sell this customer?</a:t>
            </a:r>
          </a:p>
          <a:p>
            <a:pPr algn="l">
              <a:lnSpc>
                <a:spcPct val="120000"/>
              </a:lnSpc>
              <a:spcAft>
                <a:spcPts val="600"/>
              </a:spcAft>
            </a:pPr>
            <a:r>
              <a:rPr sz="2400" b="0">
                <a:solidFill>
                  <a:srgbClr val="F5F5F6"/>
                </a:solidFill>
                <a:latin typeface="Segoe UI"/>
              </a:rPr>
              <a:t>We ask: </a:t>
            </a:r>
            <a:r>
              <a:rPr sz="2400" b="0">
                <a:solidFill>
                  <a:srgbClr val="F5F5F6"/>
                </a:solidFill>
                <a:latin typeface="Segoe UI Semibold"/>
              </a:rPr>
              <a:t>should we be selling to them at all, right now?</a:t>
            </a:r>
          </a:p>
        </p:txBody>
      </p:sp>
      <p:cxnSp>
        <p:nvCxnSpPr>
          <p:cNvPr id="15" name="Connector 14"/>
          <p:cNvCxnSpPr/>
          <p:nvPr/>
        </p:nvCxnSpPr>
        <p:spPr>
          <a:xfrm>
            <a:off x="548640" y="6400800"/>
            <a:ext cx="11094415"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492240"/>
            <a:ext cx="5486400" cy="22860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a:rPr>
              <a:t>DhanSathi  ·  Explainable banking for Bharat</a:t>
            </a:r>
          </a:p>
        </p:txBody>
      </p:sp>
      <p:sp>
        <p:nvSpPr>
          <p:cNvPr id="17" name="TextBox 16"/>
          <p:cNvSpPr txBox="1"/>
          <p:nvPr/>
        </p:nvSpPr>
        <p:spPr>
          <a:xfrm>
            <a:off x="9814255" y="6492240"/>
            <a:ext cx="1828800" cy="228600"/>
          </a:xfrm>
          <a:prstGeom prst="rect">
            <a:avLst/>
          </a:prstGeom>
          <a:noFill/>
        </p:spPr>
        <p:txBody>
          <a:bodyPr wrap="square" lIns="0" rIns="0" tIns="0" bIns="0" anchor="t">
            <a:spAutoFit/>
          </a:bodyPr>
          <a:lstStyle/>
          <a:p>
            <a:pPr algn="r">
              <a:lnSpc>
                <a:spcPct val="112000"/>
              </a:lnSpc>
              <a:spcAft>
                <a:spcPts val="0"/>
              </a:spcAft>
            </a:pPr>
            <a:r>
              <a:rPr sz="900" b="0">
                <a:solidFill>
                  <a:srgbClr val="70707A"/>
                </a:solidFill>
                <a:latin typeface="Segoe UI"/>
              </a:rPr>
              <a:t>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Semibold"/>
              </a:rPr>
              <a:t>02 · OUR APPROACH</a:t>
            </a:r>
          </a:p>
        </p:txBody>
      </p:sp>
      <p:sp>
        <p:nvSpPr>
          <p:cNvPr id="3" name="TextBox 2"/>
          <p:cNvSpPr txBox="1"/>
          <p:nvPr/>
        </p:nvSpPr>
        <p:spPr>
          <a:xfrm>
            <a:off x="548640" y="914400"/>
            <a:ext cx="10972800" cy="1371600"/>
          </a:xfrm>
          <a:prstGeom prst="rect">
            <a:avLst/>
          </a:prstGeom>
          <a:noFill/>
        </p:spPr>
        <p:txBody>
          <a:bodyPr wrap="square" lIns="0" rIns="0" tIns="0" bIns="0" anchor="t">
            <a:spAutoFit/>
          </a:bodyPr>
          <a:lstStyle/>
          <a:p>
            <a:pPr algn="l">
              <a:lnSpc>
                <a:spcPct val="100000"/>
              </a:lnSpc>
              <a:spcAft>
                <a:spcPts val="0"/>
              </a:spcAft>
            </a:pPr>
            <a:r>
              <a:rPr sz="4800" b="0">
                <a:solidFill>
                  <a:srgbClr val="F5F5F6"/>
                </a:solidFill>
                <a:latin typeface="Segoe UI Semibold"/>
              </a:rPr>
              <a:t>The model proposes. </a:t>
            </a:r>
            <a:r>
              <a:rPr sz="4800" b="0">
                <a:solidFill>
                  <a:srgbClr val="A8A8B0"/>
                </a:solidFill>
                <a:latin typeface="Segoe UI Semibold"/>
              </a:rPr>
              <a:t>The rules dispose.</a:t>
            </a:r>
          </a:p>
        </p:txBody>
      </p:sp>
      <p:sp>
        <p:nvSpPr>
          <p:cNvPr id="4" name="TextBox 3"/>
          <p:cNvSpPr txBox="1"/>
          <p:nvPr/>
        </p:nvSpPr>
        <p:spPr>
          <a:xfrm>
            <a:off x="548640" y="2057400"/>
            <a:ext cx="10058400" cy="731520"/>
          </a:xfrm>
          <a:prstGeom prst="rect">
            <a:avLst/>
          </a:prstGeom>
          <a:noFill/>
        </p:spPr>
        <p:txBody>
          <a:bodyPr wrap="square" lIns="0" rIns="0" tIns="0" bIns="0" anchor="t">
            <a:spAutoFit/>
          </a:bodyPr>
          <a:lstStyle/>
          <a:p>
            <a:pPr algn="l">
              <a:lnSpc>
                <a:spcPct val="120000"/>
              </a:lnSpc>
              <a:spcAft>
                <a:spcPts val="0"/>
              </a:spcAft>
            </a:pPr>
            <a:r>
              <a:rPr sz="1500" b="0">
                <a:solidFill>
                  <a:srgbClr val="A8A8B0"/>
                </a:solidFill>
                <a:latin typeface="Segoe UI"/>
              </a:rPr>
              <a:t>A trained model may pull a customer into protection. It can never release one the rules have flagged. A wrong model costs the bank a sale; it cannot cost a customer their safeguard.</a:t>
            </a:r>
          </a:p>
        </p:txBody>
      </p:sp>
      <p:sp>
        <p:nvSpPr>
          <p:cNvPr id="5" name="Rounded Rectangle 4"/>
          <p:cNvSpPr/>
          <p:nvPr/>
        </p:nvSpPr>
        <p:spPr>
          <a:xfrm>
            <a:off x="548640" y="3246120"/>
            <a:ext cx="3515258" cy="2788920"/>
          </a:xfrm>
          <a:prstGeom prst="roundRect">
            <a:avLst>
              <a:gd name="adj" fmla="val 4000"/>
            </a:avLst>
          </a:prstGeom>
          <a:solidFill>
            <a:srgbClr val="16161A"/>
          </a:solidFill>
          <a:ln w="9525">
            <a:solidFill>
              <a:srgbClr val="303037"/>
            </a:solidFill>
          </a:ln>
        </p:spPr>
        <p:txBody>
          <a:bodyPr rtlCol="0" anchor="ctr"/>
          <a:lstStyle/>
          <a:p/>
        </p:txBody>
      </p:sp>
      <p:sp>
        <p:nvSpPr>
          <p:cNvPr id="6" name="TextBox 5"/>
          <p:cNvSpPr txBox="1"/>
          <p:nvPr/>
        </p:nvSpPr>
        <p:spPr>
          <a:xfrm>
            <a:off x="749808" y="3447288"/>
            <a:ext cx="3112922" cy="22860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Consolas"/>
              </a:rPr>
              <a:t>01</a:t>
            </a:r>
          </a:p>
        </p:txBody>
      </p:sp>
      <p:sp>
        <p:nvSpPr>
          <p:cNvPr id="7" name="TextBox 6"/>
          <p:cNvSpPr txBox="1"/>
          <p:nvPr/>
        </p:nvSpPr>
        <p:spPr>
          <a:xfrm>
            <a:off x="749808" y="3721608"/>
            <a:ext cx="3112922" cy="502920"/>
          </a:xfrm>
          <a:prstGeom prst="rect">
            <a:avLst/>
          </a:prstGeom>
          <a:noFill/>
        </p:spPr>
        <p:txBody>
          <a:bodyPr wrap="square" lIns="0" rIns="0" tIns="0" bIns="0" anchor="t">
            <a:spAutoFit/>
          </a:bodyPr>
          <a:lstStyle/>
          <a:p>
            <a:pPr algn="l">
              <a:lnSpc>
                <a:spcPct val="105000"/>
              </a:lnSpc>
              <a:spcAft>
                <a:spcPts val="0"/>
              </a:spcAft>
            </a:pPr>
            <a:r>
              <a:rPr sz="1700" b="0">
                <a:solidFill>
                  <a:srgbClr val="F5F5F6"/>
                </a:solidFill>
                <a:latin typeface="Segoe UI Semibold"/>
              </a:rPr>
              <a:t>The LLM narrates. It never decides.</a:t>
            </a:r>
          </a:p>
        </p:txBody>
      </p:sp>
      <p:sp>
        <p:nvSpPr>
          <p:cNvPr id="8" name="TextBox 7"/>
          <p:cNvSpPr txBox="1"/>
          <p:nvPr/>
        </p:nvSpPr>
        <p:spPr>
          <a:xfrm>
            <a:off x="749808" y="4369917"/>
            <a:ext cx="3112922" cy="1463954"/>
          </a:xfrm>
          <a:prstGeom prst="rect">
            <a:avLst/>
          </a:prstGeom>
          <a:noFill/>
        </p:spPr>
        <p:txBody>
          <a:bodyPr wrap="square" lIns="0" rIns="0" tIns="0" bIns="0" anchor="t">
            <a:spAutoFit/>
          </a:bodyPr>
          <a:lstStyle/>
          <a:p>
            <a:pPr algn="l">
              <a:lnSpc>
                <a:spcPct val="115000"/>
              </a:lnSpc>
              <a:spcAft>
                <a:spcPts val="0"/>
              </a:spcAft>
            </a:pPr>
            <a:r>
              <a:rPr sz="1200" b="0">
                <a:solidFill>
                  <a:srgbClr val="A8A8B0"/>
                </a:solidFill>
                <a:latin typeface="Segoe UI"/>
              </a:rPr>
              <a:t>Every recommendation, score and gate decision is deterministic TypeScript. The language model only phrases the result, and its output is figure-checked against the facts before anyone sees it.</a:t>
            </a:r>
          </a:p>
        </p:txBody>
      </p:sp>
      <p:sp>
        <p:nvSpPr>
          <p:cNvPr id="9" name="Rounded Rectangle 8"/>
          <p:cNvSpPr/>
          <p:nvPr/>
        </p:nvSpPr>
        <p:spPr>
          <a:xfrm>
            <a:off x="4338218" y="3246120"/>
            <a:ext cx="3515258" cy="2788920"/>
          </a:xfrm>
          <a:prstGeom prst="roundRect">
            <a:avLst>
              <a:gd name="adj" fmla="val 4000"/>
            </a:avLst>
          </a:prstGeom>
          <a:solidFill>
            <a:srgbClr val="16161A"/>
          </a:solidFill>
          <a:ln w="9525">
            <a:solidFill>
              <a:srgbClr val="303037"/>
            </a:solidFill>
          </a:ln>
        </p:spPr>
        <p:txBody>
          <a:bodyPr rtlCol="0" anchor="ctr"/>
          <a:lstStyle/>
          <a:p/>
        </p:txBody>
      </p:sp>
      <p:sp>
        <p:nvSpPr>
          <p:cNvPr id="10" name="TextBox 9"/>
          <p:cNvSpPr txBox="1"/>
          <p:nvPr/>
        </p:nvSpPr>
        <p:spPr>
          <a:xfrm>
            <a:off x="4539386" y="3447288"/>
            <a:ext cx="3112922" cy="22860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Consolas"/>
              </a:rPr>
              <a:t>02</a:t>
            </a:r>
          </a:p>
        </p:txBody>
      </p:sp>
      <p:sp>
        <p:nvSpPr>
          <p:cNvPr id="11" name="TextBox 10"/>
          <p:cNvSpPr txBox="1"/>
          <p:nvPr/>
        </p:nvSpPr>
        <p:spPr>
          <a:xfrm>
            <a:off x="4539386" y="3721608"/>
            <a:ext cx="3112922" cy="502920"/>
          </a:xfrm>
          <a:prstGeom prst="rect">
            <a:avLst/>
          </a:prstGeom>
          <a:noFill/>
        </p:spPr>
        <p:txBody>
          <a:bodyPr wrap="square" lIns="0" rIns="0" tIns="0" bIns="0" anchor="t">
            <a:spAutoFit/>
          </a:bodyPr>
          <a:lstStyle/>
          <a:p>
            <a:pPr algn="l">
              <a:lnSpc>
                <a:spcPct val="105000"/>
              </a:lnSpc>
              <a:spcAft>
                <a:spcPts val="0"/>
              </a:spcAft>
            </a:pPr>
            <a:r>
              <a:rPr sz="1700" b="0">
                <a:solidFill>
                  <a:srgbClr val="F5F5F6"/>
                </a:solidFill>
                <a:latin typeface="Segoe UI Semibold"/>
              </a:rPr>
              <a:t>A hard-coded gate can cancel any sale.</a:t>
            </a:r>
          </a:p>
        </p:txBody>
      </p:sp>
      <p:sp>
        <p:nvSpPr>
          <p:cNvPr id="12" name="TextBox 11"/>
          <p:cNvSpPr txBox="1"/>
          <p:nvPr/>
        </p:nvSpPr>
        <p:spPr>
          <a:xfrm>
            <a:off x="4539386" y="4369917"/>
            <a:ext cx="3112922" cy="1463954"/>
          </a:xfrm>
          <a:prstGeom prst="rect">
            <a:avLst/>
          </a:prstGeom>
          <a:noFill/>
        </p:spPr>
        <p:txBody>
          <a:bodyPr wrap="square" lIns="0" rIns="0" tIns="0" bIns="0" anchor="t">
            <a:spAutoFit/>
          </a:bodyPr>
          <a:lstStyle/>
          <a:p>
            <a:pPr algn="l">
              <a:lnSpc>
                <a:spcPct val="115000"/>
              </a:lnSpc>
              <a:spcAft>
                <a:spcPts val="0"/>
              </a:spcAft>
            </a:pPr>
            <a:r>
              <a:rPr sz="1200" b="0">
                <a:solidFill>
                  <a:srgbClr val="A8A8B0"/>
                </a:solidFill>
                <a:latin typeface="Segoe UI"/>
              </a:rPr>
              <a:t>When signals show financial stress, the wellness gate withholds credit, investment and insurance alike, and substitutes support. No prompt can talk it out of that.</a:t>
            </a:r>
          </a:p>
        </p:txBody>
      </p:sp>
      <p:sp>
        <p:nvSpPr>
          <p:cNvPr id="13" name="Rounded Rectangle 12"/>
          <p:cNvSpPr/>
          <p:nvPr/>
        </p:nvSpPr>
        <p:spPr>
          <a:xfrm>
            <a:off x="8127796" y="3246120"/>
            <a:ext cx="3515258" cy="2788920"/>
          </a:xfrm>
          <a:prstGeom prst="roundRect">
            <a:avLst>
              <a:gd name="adj" fmla="val 4000"/>
            </a:avLst>
          </a:prstGeom>
          <a:solidFill>
            <a:srgbClr val="16161A"/>
          </a:solidFill>
          <a:ln w="9525">
            <a:solidFill>
              <a:srgbClr val="303037"/>
            </a:solidFill>
          </a:ln>
        </p:spPr>
        <p:txBody>
          <a:bodyPr rtlCol="0" anchor="ctr"/>
          <a:lstStyle/>
          <a:p/>
        </p:txBody>
      </p:sp>
      <p:sp>
        <p:nvSpPr>
          <p:cNvPr id="14" name="TextBox 13"/>
          <p:cNvSpPr txBox="1"/>
          <p:nvPr/>
        </p:nvSpPr>
        <p:spPr>
          <a:xfrm>
            <a:off x="8328964" y="3447288"/>
            <a:ext cx="3112922" cy="22860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Consolas"/>
              </a:rPr>
              <a:t>03</a:t>
            </a:r>
          </a:p>
        </p:txBody>
      </p:sp>
      <p:sp>
        <p:nvSpPr>
          <p:cNvPr id="15" name="TextBox 14"/>
          <p:cNvSpPr txBox="1"/>
          <p:nvPr/>
        </p:nvSpPr>
        <p:spPr>
          <a:xfrm>
            <a:off x="8328964" y="3721608"/>
            <a:ext cx="3112922" cy="502920"/>
          </a:xfrm>
          <a:prstGeom prst="rect">
            <a:avLst/>
          </a:prstGeom>
          <a:noFill/>
        </p:spPr>
        <p:txBody>
          <a:bodyPr wrap="square" lIns="0" rIns="0" tIns="0" bIns="0" anchor="t">
            <a:spAutoFit/>
          </a:bodyPr>
          <a:lstStyle/>
          <a:p>
            <a:pPr algn="l">
              <a:lnSpc>
                <a:spcPct val="105000"/>
              </a:lnSpc>
              <a:spcAft>
                <a:spcPts val="0"/>
              </a:spcAft>
            </a:pPr>
            <a:r>
              <a:rPr sz="1700" b="0">
                <a:solidFill>
                  <a:srgbClr val="F5F5F6"/>
                </a:solidFill>
                <a:latin typeface="Segoe UI Semibold"/>
              </a:rPr>
              <a:t>Every decision is explainable, contestable, sealed.</a:t>
            </a:r>
          </a:p>
        </p:txBody>
      </p:sp>
      <p:sp>
        <p:nvSpPr>
          <p:cNvPr id="16" name="TextBox 15"/>
          <p:cNvSpPr txBox="1"/>
          <p:nvPr/>
        </p:nvSpPr>
        <p:spPr>
          <a:xfrm>
            <a:off x="8328964" y="4369917"/>
            <a:ext cx="3112922" cy="1463954"/>
          </a:xfrm>
          <a:prstGeom prst="rect">
            <a:avLst/>
          </a:prstGeom>
          <a:noFill/>
        </p:spPr>
        <p:txBody>
          <a:bodyPr wrap="square" lIns="0" rIns="0" tIns="0" bIns="0" anchor="t">
            <a:spAutoFit/>
          </a:bodyPr>
          <a:lstStyle/>
          <a:p>
            <a:pPr algn="l">
              <a:lnSpc>
                <a:spcPct val="115000"/>
              </a:lnSpc>
              <a:spcAft>
                <a:spcPts val="0"/>
              </a:spcAft>
            </a:pPr>
            <a:r>
              <a:rPr sz="1200" b="0">
                <a:solidFill>
                  <a:srgbClr val="A8A8B0"/>
                </a:solidFill>
                <a:latin typeface="Segoe UI"/>
              </a:rPr>
              <a:t>Plain-language reason traces, exact counterfactuals, and a hash-chained audit record for every step a decision takes.</a:t>
            </a:r>
          </a:p>
        </p:txBody>
      </p:sp>
      <p:cxnSp>
        <p:nvCxnSpPr>
          <p:cNvPr id="17" name="Connector 16"/>
          <p:cNvCxnSpPr/>
          <p:nvPr/>
        </p:nvCxnSpPr>
        <p:spPr>
          <a:xfrm>
            <a:off x="548640" y="6400800"/>
            <a:ext cx="11094415"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6492240"/>
            <a:ext cx="5486400" cy="22860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a:rPr>
              <a:t>DhanSathi  ·  Explainable banking for Bharat</a:t>
            </a:r>
          </a:p>
        </p:txBody>
      </p:sp>
      <p:sp>
        <p:nvSpPr>
          <p:cNvPr id="19" name="TextBox 18"/>
          <p:cNvSpPr txBox="1"/>
          <p:nvPr/>
        </p:nvSpPr>
        <p:spPr>
          <a:xfrm>
            <a:off x="9814255" y="6492240"/>
            <a:ext cx="1828800" cy="228600"/>
          </a:xfrm>
          <a:prstGeom prst="rect">
            <a:avLst/>
          </a:prstGeom>
          <a:noFill/>
        </p:spPr>
        <p:txBody>
          <a:bodyPr wrap="square" lIns="0" rIns="0" tIns="0" bIns="0" anchor="t">
            <a:spAutoFit/>
          </a:bodyPr>
          <a:lstStyle/>
          <a:p>
            <a:pPr algn="r">
              <a:lnSpc>
                <a:spcPct val="112000"/>
              </a:lnSpc>
              <a:spcAft>
                <a:spcPts val="0"/>
              </a:spcAft>
            </a:pPr>
            <a:r>
              <a:rPr sz="900" b="0">
                <a:solidFill>
                  <a:srgbClr val="70707A"/>
                </a:solidFill>
                <a:latin typeface="Segoe UI"/>
              </a:rPr>
              <a:t>03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Semibold"/>
              </a:rPr>
              <a:t>03 · ARCHITECTURE  (DELIVERABLE)</a:t>
            </a:r>
          </a:p>
        </p:txBody>
      </p:sp>
      <p:sp>
        <p:nvSpPr>
          <p:cNvPr id="3" name="TextBox 2"/>
          <p:cNvSpPr txBox="1"/>
          <p:nvPr/>
        </p:nvSpPr>
        <p:spPr>
          <a:xfrm>
            <a:off x="548640" y="658368"/>
            <a:ext cx="11094415" cy="1097280"/>
          </a:xfrm>
          <a:prstGeom prst="rect">
            <a:avLst/>
          </a:prstGeom>
          <a:noFill/>
        </p:spPr>
        <p:txBody>
          <a:bodyPr wrap="square" lIns="0" rIns="0" tIns="0" bIns="0" anchor="t">
            <a:spAutoFit/>
          </a:bodyPr>
          <a:lstStyle/>
          <a:p>
            <a:pPr algn="l">
              <a:lnSpc>
                <a:spcPct val="102000"/>
              </a:lnSpc>
              <a:spcAft>
                <a:spcPts val="0"/>
              </a:spcAft>
            </a:pPr>
            <a:r>
              <a:rPr sz="2600" b="0">
                <a:solidFill>
                  <a:srgbClr val="F5F5F6"/>
                </a:solidFill>
                <a:latin typeface="Segoe UI Semibold"/>
              </a:rPr>
              <a:t>From data sources to action, with the language model kept out of the decision path.</a:t>
            </a:r>
          </a:p>
        </p:txBody>
      </p:sp>
      <p:sp>
        <p:nvSpPr>
          <p:cNvPr id="4" name="Rounded Rectangle 3"/>
          <p:cNvSpPr/>
          <p:nvPr/>
        </p:nvSpPr>
        <p:spPr>
          <a:xfrm>
            <a:off x="548640" y="2011680"/>
            <a:ext cx="1650949" cy="1481328"/>
          </a:xfrm>
          <a:prstGeom prst="roundRect">
            <a:avLst>
              <a:gd name="adj" fmla="val 6000"/>
            </a:avLst>
          </a:prstGeom>
          <a:solidFill>
            <a:srgbClr val="16161A"/>
          </a:solidFill>
          <a:ln w="9525">
            <a:solidFill>
              <a:srgbClr val="303037"/>
            </a:solidFill>
          </a:ln>
        </p:spPr>
        <p:txBody>
          <a:bodyPr rtlCol="0" anchor="ctr"/>
          <a:lstStyle/>
          <a:p/>
        </p:txBody>
      </p:sp>
      <p:sp>
        <p:nvSpPr>
          <p:cNvPr id="5" name="TextBox 4"/>
          <p:cNvSpPr txBox="1"/>
          <p:nvPr/>
        </p:nvSpPr>
        <p:spPr>
          <a:xfrm>
            <a:off x="685800" y="2167128"/>
            <a:ext cx="1376629" cy="27432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Consolas"/>
              </a:rPr>
              <a:t>01</a:t>
            </a:r>
          </a:p>
        </p:txBody>
      </p:sp>
      <p:sp>
        <p:nvSpPr>
          <p:cNvPr id="6" name="TextBox 5"/>
          <p:cNvSpPr txBox="1"/>
          <p:nvPr/>
        </p:nvSpPr>
        <p:spPr>
          <a:xfrm>
            <a:off x="685800" y="2395728"/>
            <a:ext cx="1376629" cy="457200"/>
          </a:xfrm>
          <a:prstGeom prst="rect">
            <a:avLst/>
          </a:prstGeom>
          <a:noFill/>
        </p:spPr>
        <p:txBody>
          <a:bodyPr wrap="square" lIns="0" rIns="0" tIns="0" bIns="0" anchor="t">
            <a:spAutoFit/>
          </a:bodyPr>
          <a:lstStyle/>
          <a:p>
            <a:pPr algn="l">
              <a:lnSpc>
                <a:spcPct val="100000"/>
              </a:lnSpc>
              <a:spcAft>
                <a:spcPts val="0"/>
              </a:spcAft>
            </a:pPr>
            <a:r>
              <a:rPr sz="1300" b="0">
                <a:solidFill>
                  <a:srgbClr val="F5F5F6"/>
                </a:solidFill>
                <a:latin typeface="Segoe UI Semibold"/>
              </a:rPr>
              <a:t>Data sources</a:t>
            </a:r>
          </a:p>
        </p:txBody>
      </p:sp>
      <p:sp>
        <p:nvSpPr>
          <p:cNvPr id="7" name="TextBox 6"/>
          <p:cNvSpPr txBox="1"/>
          <p:nvPr/>
        </p:nvSpPr>
        <p:spPr>
          <a:xfrm>
            <a:off x="685800" y="2862072"/>
            <a:ext cx="1376629" cy="640080"/>
          </a:xfrm>
          <a:prstGeom prst="rect">
            <a:avLst/>
          </a:prstGeom>
          <a:noFill/>
        </p:spPr>
        <p:txBody>
          <a:bodyPr wrap="square" lIns="0" rIns="0" tIns="0" bIns="0" anchor="t">
            <a:spAutoFit/>
          </a:bodyPr>
          <a:lstStyle/>
          <a:p>
            <a:pPr algn="l">
              <a:lnSpc>
                <a:spcPct val="108000"/>
              </a:lnSpc>
              <a:spcAft>
                <a:spcPts val="0"/>
              </a:spcAft>
            </a:pPr>
            <a:r>
              <a:rPr sz="950" b="0">
                <a:solidFill>
                  <a:srgbClr val="A8A8B0"/>
                </a:solidFill>
                <a:latin typeface="Segoe UI"/>
              </a:rPr>
              <a:t>Transaction ledger and consent ledger in Postgres, Mumbai</a:t>
            </a:r>
          </a:p>
        </p:txBody>
      </p:sp>
      <p:cxnSp>
        <p:nvCxnSpPr>
          <p:cNvPr id="8" name="Connector 7"/>
          <p:cNvCxnSpPr/>
          <p:nvPr/>
        </p:nvCxnSpPr>
        <p:spPr>
          <a:xfrm>
            <a:off x="2217877" y="2752344"/>
            <a:ext cx="201168" cy="0"/>
          </a:xfrm>
          <a:prstGeom prst="line">
            <a:avLst/>
          </a:prstGeom>
          <a:ln w="15875">
            <a:solidFill>
              <a:srgbClr val="4A4A5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37333" y="2011680"/>
            <a:ext cx="1650949" cy="1481328"/>
          </a:xfrm>
          <a:prstGeom prst="roundRect">
            <a:avLst>
              <a:gd name="adj" fmla="val 6000"/>
            </a:avLst>
          </a:prstGeom>
          <a:solidFill>
            <a:srgbClr val="16161A"/>
          </a:solidFill>
          <a:ln w="9525">
            <a:solidFill>
              <a:srgbClr val="303037"/>
            </a:solidFill>
          </a:ln>
        </p:spPr>
        <p:txBody>
          <a:bodyPr rtlCol="0" anchor="ctr"/>
          <a:lstStyle/>
          <a:p/>
        </p:txBody>
      </p:sp>
      <p:sp>
        <p:nvSpPr>
          <p:cNvPr id="10" name="TextBox 9"/>
          <p:cNvSpPr txBox="1"/>
          <p:nvPr/>
        </p:nvSpPr>
        <p:spPr>
          <a:xfrm>
            <a:off x="2574493" y="2167128"/>
            <a:ext cx="1376629" cy="27432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Consolas"/>
              </a:rPr>
              <a:t>02</a:t>
            </a:r>
          </a:p>
        </p:txBody>
      </p:sp>
      <p:sp>
        <p:nvSpPr>
          <p:cNvPr id="11" name="TextBox 10"/>
          <p:cNvSpPr txBox="1"/>
          <p:nvPr/>
        </p:nvSpPr>
        <p:spPr>
          <a:xfrm>
            <a:off x="2574493" y="2395728"/>
            <a:ext cx="1376629" cy="457200"/>
          </a:xfrm>
          <a:prstGeom prst="rect">
            <a:avLst/>
          </a:prstGeom>
          <a:noFill/>
        </p:spPr>
        <p:txBody>
          <a:bodyPr wrap="square" lIns="0" rIns="0" tIns="0" bIns="0" anchor="t">
            <a:spAutoFit/>
          </a:bodyPr>
          <a:lstStyle/>
          <a:p>
            <a:pPr algn="l">
              <a:lnSpc>
                <a:spcPct val="100000"/>
              </a:lnSpc>
              <a:spcAft>
                <a:spcPts val="0"/>
              </a:spcAft>
            </a:pPr>
            <a:r>
              <a:rPr sz="1300" b="0">
                <a:solidFill>
                  <a:srgbClr val="F5F5F6"/>
                </a:solidFill>
                <a:latin typeface="Segoe UI Semibold"/>
              </a:rPr>
              <a:t>Consent check</a:t>
            </a:r>
          </a:p>
        </p:txBody>
      </p:sp>
      <p:sp>
        <p:nvSpPr>
          <p:cNvPr id="12" name="TextBox 11"/>
          <p:cNvSpPr txBox="1"/>
          <p:nvPr/>
        </p:nvSpPr>
        <p:spPr>
          <a:xfrm>
            <a:off x="2574493" y="2862072"/>
            <a:ext cx="1376629" cy="640080"/>
          </a:xfrm>
          <a:prstGeom prst="rect">
            <a:avLst/>
          </a:prstGeom>
          <a:noFill/>
        </p:spPr>
        <p:txBody>
          <a:bodyPr wrap="square" lIns="0" rIns="0" tIns="0" bIns="0" anchor="t">
            <a:spAutoFit/>
          </a:bodyPr>
          <a:lstStyle/>
          <a:p>
            <a:pPr algn="l">
              <a:lnSpc>
                <a:spcPct val="108000"/>
              </a:lnSpc>
              <a:spcAft>
                <a:spcPts val="0"/>
              </a:spcAft>
            </a:pPr>
            <a:r>
              <a:rPr sz="950" b="0">
                <a:solidFill>
                  <a:srgbClr val="A8A8B0"/>
                </a:solidFill>
                <a:latin typeface="Segoe UI"/>
              </a:rPr>
              <a:t>Per scope, before any data is read</a:t>
            </a:r>
          </a:p>
        </p:txBody>
      </p:sp>
      <p:cxnSp>
        <p:nvCxnSpPr>
          <p:cNvPr id="13" name="Connector 12"/>
          <p:cNvCxnSpPr/>
          <p:nvPr/>
        </p:nvCxnSpPr>
        <p:spPr>
          <a:xfrm>
            <a:off x="4106570" y="2752344"/>
            <a:ext cx="201168" cy="0"/>
          </a:xfrm>
          <a:prstGeom prst="line">
            <a:avLst/>
          </a:prstGeom>
          <a:ln w="15875">
            <a:solidFill>
              <a:srgbClr val="4A4A5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26026" y="2011680"/>
            <a:ext cx="1650949" cy="1481328"/>
          </a:xfrm>
          <a:prstGeom prst="roundRect">
            <a:avLst>
              <a:gd name="adj" fmla="val 6000"/>
            </a:avLst>
          </a:prstGeom>
          <a:solidFill>
            <a:srgbClr val="16161A"/>
          </a:solidFill>
          <a:ln w="9525">
            <a:solidFill>
              <a:srgbClr val="303037"/>
            </a:solidFill>
          </a:ln>
        </p:spPr>
        <p:txBody>
          <a:bodyPr rtlCol="0" anchor="ctr"/>
          <a:lstStyle/>
          <a:p/>
        </p:txBody>
      </p:sp>
      <p:sp>
        <p:nvSpPr>
          <p:cNvPr id="15" name="TextBox 14"/>
          <p:cNvSpPr txBox="1"/>
          <p:nvPr/>
        </p:nvSpPr>
        <p:spPr>
          <a:xfrm>
            <a:off x="4463186" y="2167128"/>
            <a:ext cx="1376629" cy="27432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Consolas"/>
              </a:rPr>
              <a:t>03</a:t>
            </a:r>
          </a:p>
        </p:txBody>
      </p:sp>
      <p:sp>
        <p:nvSpPr>
          <p:cNvPr id="16" name="TextBox 15"/>
          <p:cNvSpPr txBox="1"/>
          <p:nvPr/>
        </p:nvSpPr>
        <p:spPr>
          <a:xfrm>
            <a:off x="4463186" y="2395728"/>
            <a:ext cx="1376629" cy="457200"/>
          </a:xfrm>
          <a:prstGeom prst="rect">
            <a:avLst/>
          </a:prstGeom>
          <a:noFill/>
        </p:spPr>
        <p:txBody>
          <a:bodyPr wrap="square" lIns="0" rIns="0" tIns="0" bIns="0" anchor="t">
            <a:spAutoFit/>
          </a:bodyPr>
          <a:lstStyle/>
          <a:p>
            <a:pPr algn="l">
              <a:lnSpc>
                <a:spcPct val="100000"/>
              </a:lnSpc>
              <a:spcAft>
                <a:spcPts val="0"/>
              </a:spcAft>
            </a:pPr>
            <a:r>
              <a:rPr sz="1300" b="0">
                <a:solidFill>
                  <a:srgbClr val="F5F5F6"/>
                </a:solidFill>
                <a:latin typeface="Segoe UI Semibold"/>
              </a:rPr>
              <a:t>Signals engine</a:t>
            </a:r>
          </a:p>
        </p:txBody>
      </p:sp>
      <p:sp>
        <p:nvSpPr>
          <p:cNvPr id="17" name="TextBox 16"/>
          <p:cNvSpPr txBox="1"/>
          <p:nvPr/>
        </p:nvSpPr>
        <p:spPr>
          <a:xfrm>
            <a:off x="4463186" y="2862072"/>
            <a:ext cx="1376629" cy="640080"/>
          </a:xfrm>
          <a:prstGeom prst="rect">
            <a:avLst/>
          </a:prstGeom>
          <a:noFill/>
        </p:spPr>
        <p:txBody>
          <a:bodyPr wrap="square" lIns="0" rIns="0" tIns="0" bIns="0" anchor="t">
            <a:spAutoFit/>
          </a:bodyPr>
          <a:lstStyle/>
          <a:p>
            <a:pPr algn="l">
              <a:lnSpc>
                <a:spcPct val="108000"/>
              </a:lnSpc>
              <a:spcAft>
                <a:spcPts val="0"/>
              </a:spcAft>
            </a:pPr>
            <a:r>
              <a:rPr sz="950" b="0">
                <a:solidFill>
                  <a:srgbClr val="A8A8B0"/>
                </a:solidFill>
                <a:latin typeface="Segoe UI"/>
              </a:rPr>
              <a:t>Salary regularity, savings, EMI misses, volatility, life stage</a:t>
            </a:r>
          </a:p>
        </p:txBody>
      </p:sp>
      <p:cxnSp>
        <p:nvCxnSpPr>
          <p:cNvPr id="18" name="Connector 17"/>
          <p:cNvCxnSpPr/>
          <p:nvPr/>
        </p:nvCxnSpPr>
        <p:spPr>
          <a:xfrm>
            <a:off x="5995263" y="2752344"/>
            <a:ext cx="201168" cy="0"/>
          </a:xfrm>
          <a:prstGeom prst="line">
            <a:avLst/>
          </a:prstGeom>
          <a:ln w="15875">
            <a:solidFill>
              <a:srgbClr val="4A4A5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14719" y="2011680"/>
            <a:ext cx="1650949" cy="1481328"/>
          </a:xfrm>
          <a:prstGeom prst="roundRect">
            <a:avLst>
              <a:gd name="adj" fmla="val 6000"/>
            </a:avLst>
          </a:prstGeom>
          <a:solidFill>
            <a:srgbClr val="16161A"/>
          </a:solidFill>
          <a:ln w="9525">
            <a:solidFill>
              <a:srgbClr val="303037"/>
            </a:solidFill>
          </a:ln>
        </p:spPr>
        <p:txBody>
          <a:bodyPr rtlCol="0" anchor="ctr"/>
          <a:lstStyle/>
          <a:p/>
        </p:txBody>
      </p:sp>
      <p:sp>
        <p:nvSpPr>
          <p:cNvPr id="20" name="TextBox 19"/>
          <p:cNvSpPr txBox="1"/>
          <p:nvPr/>
        </p:nvSpPr>
        <p:spPr>
          <a:xfrm>
            <a:off x="6351879" y="2167128"/>
            <a:ext cx="1376629" cy="27432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Consolas"/>
              </a:rPr>
              <a:t>04</a:t>
            </a:r>
          </a:p>
        </p:txBody>
      </p:sp>
      <p:sp>
        <p:nvSpPr>
          <p:cNvPr id="21" name="TextBox 20"/>
          <p:cNvSpPr txBox="1"/>
          <p:nvPr/>
        </p:nvSpPr>
        <p:spPr>
          <a:xfrm>
            <a:off x="6351879" y="2395728"/>
            <a:ext cx="1376629" cy="457200"/>
          </a:xfrm>
          <a:prstGeom prst="rect">
            <a:avLst/>
          </a:prstGeom>
          <a:noFill/>
        </p:spPr>
        <p:txBody>
          <a:bodyPr wrap="square" lIns="0" rIns="0" tIns="0" bIns="0" anchor="t">
            <a:spAutoFit/>
          </a:bodyPr>
          <a:lstStyle/>
          <a:p>
            <a:pPr algn="l">
              <a:lnSpc>
                <a:spcPct val="100000"/>
              </a:lnSpc>
              <a:spcAft>
                <a:spcPts val="0"/>
              </a:spcAft>
            </a:pPr>
            <a:r>
              <a:rPr sz="1300" b="0">
                <a:solidFill>
                  <a:srgbClr val="F5F5F6"/>
                </a:solidFill>
                <a:latin typeface="Segoe UI Semibold"/>
              </a:rPr>
              <a:t>Recommender + timing</a:t>
            </a:r>
          </a:p>
        </p:txBody>
      </p:sp>
      <p:sp>
        <p:nvSpPr>
          <p:cNvPr id="22" name="TextBox 21"/>
          <p:cNvSpPr txBox="1"/>
          <p:nvPr/>
        </p:nvSpPr>
        <p:spPr>
          <a:xfrm>
            <a:off x="6351879" y="2862072"/>
            <a:ext cx="1376629" cy="640080"/>
          </a:xfrm>
          <a:prstGeom prst="rect">
            <a:avLst/>
          </a:prstGeom>
          <a:noFill/>
        </p:spPr>
        <p:txBody>
          <a:bodyPr wrap="square" lIns="0" rIns="0" tIns="0" bIns="0" anchor="t">
            <a:spAutoFit/>
          </a:bodyPr>
          <a:lstStyle/>
          <a:p>
            <a:pPr algn="l">
              <a:lnSpc>
                <a:spcPct val="108000"/>
              </a:lnSpc>
              <a:spcAft>
                <a:spcPts val="0"/>
              </a:spcAft>
            </a:pPr>
            <a:r>
              <a:rPr sz="950" b="0">
                <a:solidFill>
                  <a:srgbClr val="A8A8B0"/>
                </a:solidFill>
                <a:latin typeface="Segoe UI"/>
              </a:rPr>
              <a:t>Rules pick the product, timing picks the moment</a:t>
            </a:r>
          </a:p>
        </p:txBody>
      </p:sp>
      <p:cxnSp>
        <p:nvCxnSpPr>
          <p:cNvPr id="23" name="Connector 22"/>
          <p:cNvCxnSpPr/>
          <p:nvPr/>
        </p:nvCxnSpPr>
        <p:spPr>
          <a:xfrm>
            <a:off x="7883956" y="2752344"/>
            <a:ext cx="201168" cy="0"/>
          </a:xfrm>
          <a:prstGeom prst="line">
            <a:avLst/>
          </a:prstGeom>
          <a:ln w="15875">
            <a:solidFill>
              <a:srgbClr val="4A4A5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03412" y="2011680"/>
            <a:ext cx="1650949" cy="1481328"/>
          </a:xfrm>
          <a:prstGeom prst="roundRect">
            <a:avLst>
              <a:gd name="adj" fmla="val 6000"/>
            </a:avLst>
          </a:prstGeom>
          <a:solidFill>
            <a:srgbClr val="16161A"/>
          </a:solidFill>
          <a:ln w="9525">
            <a:solidFill>
              <a:srgbClr val="303037"/>
            </a:solidFill>
          </a:ln>
        </p:spPr>
        <p:txBody>
          <a:bodyPr rtlCol="0" anchor="ctr"/>
          <a:lstStyle/>
          <a:p/>
        </p:txBody>
      </p:sp>
      <p:sp>
        <p:nvSpPr>
          <p:cNvPr id="25" name="TextBox 24"/>
          <p:cNvSpPr txBox="1"/>
          <p:nvPr/>
        </p:nvSpPr>
        <p:spPr>
          <a:xfrm>
            <a:off x="8240572" y="2167128"/>
            <a:ext cx="1376629" cy="27432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Consolas"/>
              </a:rPr>
              <a:t>05</a:t>
            </a:r>
          </a:p>
        </p:txBody>
      </p:sp>
      <p:sp>
        <p:nvSpPr>
          <p:cNvPr id="26" name="TextBox 25"/>
          <p:cNvSpPr txBox="1"/>
          <p:nvPr/>
        </p:nvSpPr>
        <p:spPr>
          <a:xfrm>
            <a:off x="8240572" y="2395728"/>
            <a:ext cx="1376629" cy="457200"/>
          </a:xfrm>
          <a:prstGeom prst="rect">
            <a:avLst/>
          </a:prstGeom>
          <a:noFill/>
        </p:spPr>
        <p:txBody>
          <a:bodyPr wrap="square" lIns="0" rIns="0" tIns="0" bIns="0" anchor="t">
            <a:spAutoFit/>
          </a:bodyPr>
          <a:lstStyle/>
          <a:p>
            <a:pPr algn="l">
              <a:lnSpc>
                <a:spcPct val="100000"/>
              </a:lnSpc>
              <a:spcAft>
                <a:spcPts val="0"/>
              </a:spcAft>
            </a:pPr>
            <a:r>
              <a:rPr sz="1300" b="0">
                <a:solidFill>
                  <a:srgbClr val="F5F5F6"/>
                </a:solidFill>
                <a:latin typeface="Segoe UI Semibold"/>
              </a:rPr>
              <a:t>Distress model</a:t>
            </a:r>
          </a:p>
        </p:txBody>
      </p:sp>
      <p:sp>
        <p:nvSpPr>
          <p:cNvPr id="27" name="TextBox 26"/>
          <p:cNvSpPr txBox="1"/>
          <p:nvPr/>
        </p:nvSpPr>
        <p:spPr>
          <a:xfrm>
            <a:off x="8240572" y="2862072"/>
            <a:ext cx="1376629" cy="640080"/>
          </a:xfrm>
          <a:prstGeom prst="rect">
            <a:avLst/>
          </a:prstGeom>
          <a:noFill/>
        </p:spPr>
        <p:txBody>
          <a:bodyPr wrap="square" lIns="0" rIns="0" tIns="0" bIns="0" anchor="t">
            <a:spAutoFit/>
          </a:bodyPr>
          <a:lstStyle/>
          <a:p>
            <a:pPr algn="l">
              <a:lnSpc>
                <a:spcPct val="108000"/>
              </a:lnSpc>
              <a:spcAft>
                <a:spcPts val="0"/>
              </a:spcAft>
            </a:pPr>
            <a:r>
              <a:rPr sz="950" b="0">
                <a:solidFill>
                  <a:srgbClr val="A8A8B0"/>
                </a:solidFill>
                <a:latin typeface="Segoe UI"/>
              </a:rPr>
              <a:t>Machine learning. May escalate, never clear</a:t>
            </a:r>
          </a:p>
        </p:txBody>
      </p:sp>
      <p:cxnSp>
        <p:nvCxnSpPr>
          <p:cNvPr id="28" name="Connector 27"/>
          <p:cNvCxnSpPr/>
          <p:nvPr/>
        </p:nvCxnSpPr>
        <p:spPr>
          <a:xfrm>
            <a:off x="9772650" y="2752344"/>
            <a:ext cx="201168" cy="0"/>
          </a:xfrm>
          <a:prstGeom prst="line">
            <a:avLst/>
          </a:prstGeom>
          <a:ln w="15875">
            <a:solidFill>
              <a:srgbClr val="4A4A5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992106" y="2011680"/>
            <a:ext cx="1650949" cy="1481328"/>
          </a:xfrm>
          <a:prstGeom prst="roundRect">
            <a:avLst>
              <a:gd name="adj" fmla="val 6000"/>
            </a:avLst>
          </a:prstGeom>
          <a:solidFill>
            <a:srgbClr val="F5F5F6"/>
          </a:solidFill>
          <a:ln>
            <a:noFill/>
          </a:ln>
        </p:spPr>
        <p:txBody>
          <a:bodyPr rtlCol="0" anchor="ctr"/>
          <a:lstStyle/>
          <a:p/>
        </p:txBody>
      </p:sp>
      <p:sp>
        <p:nvSpPr>
          <p:cNvPr id="30" name="TextBox 29"/>
          <p:cNvSpPr txBox="1"/>
          <p:nvPr/>
        </p:nvSpPr>
        <p:spPr>
          <a:xfrm>
            <a:off x="10129266" y="2167128"/>
            <a:ext cx="1376629" cy="274320"/>
          </a:xfrm>
          <a:prstGeom prst="rect">
            <a:avLst/>
          </a:prstGeom>
          <a:noFill/>
        </p:spPr>
        <p:txBody>
          <a:bodyPr wrap="square" lIns="0" rIns="0" tIns="0" bIns="0" anchor="t">
            <a:spAutoFit/>
          </a:bodyPr>
          <a:lstStyle/>
          <a:p>
            <a:pPr algn="l">
              <a:lnSpc>
                <a:spcPct val="112000"/>
              </a:lnSpc>
              <a:spcAft>
                <a:spcPts val="0"/>
              </a:spcAft>
            </a:pPr>
            <a:r>
              <a:rPr sz="900" b="0">
                <a:solidFill>
                  <a:srgbClr val="55555C"/>
                </a:solidFill>
                <a:latin typeface="Consolas"/>
              </a:rPr>
              <a:t>06</a:t>
            </a:r>
          </a:p>
        </p:txBody>
      </p:sp>
      <p:sp>
        <p:nvSpPr>
          <p:cNvPr id="31" name="TextBox 30"/>
          <p:cNvSpPr txBox="1"/>
          <p:nvPr/>
        </p:nvSpPr>
        <p:spPr>
          <a:xfrm>
            <a:off x="10129266" y="2395728"/>
            <a:ext cx="1376629" cy="457200"/>
          </a:xfrm>
          <a:prstGeom prst="rect">
            <a:avLst/>
          </a:prstGeom>
          <a:noFill/>
        </p:spPr>
        <p:txBody>
          <a:bodyPr wrap="square" lIns="0" rIns="0" tIns="0" bIns="0" anchor="t">
            <a:spAutoFit/>
          </a:bodyPr>
          <a:lstStyle/>
          <a:p>
            <a:pPr algn="l">
              <a:lnSpc>
                <a:spcPct val="100000"/>
              </a:lnSpc>
              <a:spcAft>
                <a:spcPts val="0"/>
              </a:spcAft>
            </a:pPr>
            <a:r>
              <a:rPr sz="1300" b="0">
                <a:solidFill>
                  <a:srgbClr val="0B0B0C"/>
                </a:solidFill>
                <a:latin typeface="Segoe UI Semibold"/>
              </a:rPr>
              <a:t>Wellness gate</a:t>
            </a:r>
          </a:p>
        </p:txBody>
      </p:sp>
      <p:sp>
        <p:nvSpPr>
          <p:cNvPr id="32" name="TextBox 31"/>
          <p:cNvSpPr txBox="1"/>
          <p:nvPr/>
        </p:nvSpPr>
        <p:spPr>
          <a:xfrm>
            <a:off x="10129266" y="2862072"/>
            <a:ext cx="1376629" cy="640080"/>
          </a:xfrm>
          <a:prstGeom prst="rect">
            <a:avLst/>
          </a:prstGeom>
          <a:noFill/>
        </p:spPr>
        <p:txBody>
          <a:bodyPr wrap="square" lIns="0" rIns="0" tIns="0" bIns="0" anchor="t">
            <a:spAutoFit/>
          </a:bodyPr>
          <a:lstStyle/>
          <a:p>
            <a:pPr algn="l">
              <a:lnSpc>
                <a:spcPct val="108000"/>
              </a:lnSpc>
              <a:spcAft>
                <a:spcPts val="0"/>
              </a:spcAft>
            </a:pPr>
            <a:r>
              <a:rPr sz="950" b="0">
                <a:solidFill>
                  <a:srgbClr val="3A3A40"/>
                </a:solidFill>
                <a:latin typeface="Segoe UI"/>
              </a:rPr>
              <a:t>Cancels any sale when signals show stress</a:t>
            </a:r>
          </a:p>
        </p:txBody>
      </p:sp>
      <p:cxnSp>
        <p:nvCxnSpPr>
          <p:cNvPr id="33" name="Connector 32"/>
          <p:cNvCxnSpPr/>
          <p:nvPr/>
        </p:nvCxnSpPr>
        <p:spPr>
          <a:xfrm>
            <a:off x="10817580" y="3520440"/>
            <a:ext cx="0" cy="521208"/>
          </a:xfrm>
          <a:prstGeom prst="line">
            <a:avLst/>
          </a:prstGeom>
          <a:ln w="15875">
            <a:solidFill>
              <a:srgbClr val="4A4A5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671255" y="4069080"/>
            <a:ext cx="2971800" cy="1417320"/>
          </a:xfrm>
          <a:prstGeom prst="roundRect">
            <a:avLst>
              <a:gd name="adj" fmla="val 6000"/>
            </a:avLst>
          </a:prstGeom>
          <a:noFill/>
          <a:ln w="9525">
            <a:solidFill>
              <a:srgbClr val="4A4A52"/>
            </a:solidFill>
            <a:prstDash val="dash"/>
          </a:ln>
        </p:spPr>
        <p:txBody>
          <a:bodyPr rtlCol="0" anchor="ctr"/>
          <a:lstStyle/>
          <a:p/>
        </p:txBody>
      </p:sp>
      <p:sp>
        <p:nvSpPr>
          <p:cNvPr id="35" name="TextBox 34"/>
          <p:cNvSpPr txBox="1"/>
          <p:nvPr/>
        </p:nvSpPr>
        <p:spPr>
          <a:xfrm>
            <a:off x="8854135" y="4233672"/>
            <a:ext cx="2606040" cy="274320"/>
          </a:xfrm>
          <a:prstGeom prst="rect">
            <a:avLst/>
          </a:prstGeom>
          <a:noFill/>
        </p:spPr>
        <p:txBody>
          <a:bodyPr wrap="square" lIns="0" rIns="0" tIns="0" bIns="0" anchor="t">
            <a:spAutoFit/>
          </a:bodyPr>
          <a:lstStyle/>
          <a:p>
            <a:pPr algn="l">
              <a:lnSpc>
                <a:spcPct val="112000"/>
              </a:lnSpc>
              <a:spcAft>
                <a:spcPts val="0"/>
              </a:spcAft>
            </a:pPr>
            <a:r>
              <a:rPr sz="1300" b="0">
                <a:solidFill>
                  <a:srgbClr val="F5F5F6"/>
                </a:solidFill>
                <a:latin typeface="Segoe UI Semibold"/>
              </a:rPr>
              <a:t>Narration layer</a:t>
            </a:r>
          </a:p>
        </p:txBody>
      </p:sp>
      <p:sp>
        <p:nvSpPr>
          <p:cNvPr id="36" name="TextBox 35"/>
          <p:cNvSpPr txBox="1"/>
          <p:nvPr/>
        </p:nvSpPr>
        <p:spPr>
          <a:xfrm>
            <a:off x="8854135" y="4526280"/>
            <a:ext cx="2606040" cy="914400"/>
          </a:xfrm>
          <a:prstGeom prst="rect">
            <a:avLst/>
          </a:prstGeom>
          <a:noFill/>
        </p:spPr>
        <p:txBody>
          <a:bodyPr wrap="square" lIns="0" rIns="0" tIns="0" bIns="0" anchor="t">
            <a:spAutoFit/>
          </a:bodyPr>
          <a:lstStyle/>
          <a:p>
            <a:pPr algn="l">
              <a:lnSpc>
                <a:spcPct val="110000"/>
              </a:lnSpc>
              <a:spcAft>
                <a:spcPts val="0"/>
              </a:spcAft>
            </a:pPr>
            <a:r>
              <a:rPr sz="950" b="0">
                <a:solidFill>
                  <a:srgbClr val="A8A8B0"/>
                </a:solidFill>
                <a:latin typeface="Segoe UI"/>
              </a:rPr>
              <a:t>LLM (Gemini) phrases the decision from the reason trace only. Output guardrails check every figure. Grounded templates if the LLM is unavailable.</a:t>
            </a:r>
          </a:p>
        </p:txBody>
      </p:sp>
      <p:cxnSp>
        <p:nvCxnSpPr>
          <p:cNvPr id="37" name="Connector 36"/>
          <p:cNvCxnSpPr/>
          <p:nvPr/>
        </p:nvCxnSpPr>
        <p:spPr>
          <a:xfrm flipH="1">
            <a:off x="8287207" y="4777740"/>
            <a:ext cx="356616" cy="0"/>
          </a:xfrm>
          <a:prstGeom prst="line">
            <a:avLst/>
          </a:prstGeom>
          <a:ln w="15875">
            <a:solidFill>
              <a:srgbClr val="4A4A5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548640" y="4069080"/>
            <a:ext cx="7711135" cy="1417320"/>
          </a:xfrm>
          <a:prstGeom prst="roundRect">
            <a:avLst>
              <a:gd name="adj" fmla="val 5000"/>
            </a:avLst>
          </a:prstGeom>
          <a:solidFill>
            <a:srgbClr val="16161A"/>
          </a:solidFill>
          <a:ln w="9525">
            <a:solidFill>
              <a:srgbClr val="303037"/>
            </a:solidFill>
          </a:ln>
        </p:spPr>
        <p:txBody>
          <a:bodyPr rtlCol="0" anchor="ctr"/>
          <a:lstStyle/>
          <a:p/>
        </p:txBody>
      </p:sp>
      <p:sp>
        <p:nvSpPr>
          <p:cNvPr id="39" name="TextBox 38"/>
          <p:cNvSpPr txBox="1"/>
          <p:nvPr/>
        </p:nvSpPr>
        <p:spPr>
          <a:xfrm>
            <a:off x="749808" y="4233672"/>
            <a:ext cx="5486400" cy="274320"/>
          </a:xfrm>
          <a:prstGeom prst="rect">
            <a:avLst/>
          </a:prstGeom>
          <a:noFill/>
        </p:spPr>
        <p:txBody>
          <a:bodyPr wrap="square" lIns="0" rIns="0" tIns="0" bIns="0" anchor="t">
            <a:spAutoFit/>
          </a:bodyPr>
          <a:lstStyle/>
          <a:p>
            <a:pPr algn="l">
              <a:lnSpc>
                <a:spcPct val="112000"/>
              </a:lnSpc>
              <a:spcAft>
                <a:spcPts val="0"/>
              </a:spcAft>
            </a:pPr>
            <a:r>
              <a:rPr sz="1300" b="0">
                <a:solidFill>
                  <a:srgbClr val="F5F5F6"/>
                </a:solidFill>
                <a:latin typeface="Segoe UI Semibold"/>
              </a:rPr>
              <a:t>Personalised output, on any channel</a:t>
            </a:r>
          </a:p>
        </p:txBody>
      </p:sp>
      <p:sp>
        <p:nvSpPr>
          <p:cNvPr id="40" name="Rounded Rectangle 39"/>
          <p:cNvSpPr/>
          <p:nvPr/>
        </p:nvSpPr>
        <p:spPr>
          <a:xfrm>
            <a:off x="749808" y="4672584"/>
            <a:ext cx="1359347" cy="566928"/>
          </a:xfrm>
          <a:prstGeom prst="roundRect">
            <a:avLst>
              <a:gd name="adj" fmla="val 12000"/>
            </a:avLst>
          </a:prstGeom>
          <a:solidFill>
            <a:srgbClr val="1F1F24"/>
          </a:solidFill>
          <a:ln w="9525">
            <a:solidFill>
              <a:srgbClr val="303037"/>
            </a:solidFill>
          </a:ln>
        </p:spPr>
        <p:txBody>
          <a:bodyPr rtlCol="0" anchor="ctr"/>
          <a:lstStyle/>
          <a:p/>
        </p:txBody>
      </p:sp>
      <p:sp>
        <p:nvSpPr>
          <p:cNvPr id="41" name="TextBox 40"/>
          <p:cNvSpPr txBox="1"/>
          <p:nvPr/>
        </p:nvSpPr>
        <p:spPr>
          <a:xfrm>
            <a:off x="822959" y="4672584"/>
            <a:ext cx="1213043" cy="566928"/>
          </a:xfrm>
          <a:prstGeom prst="rect">
            <a:avLst/>
          </a:prstGeom>
          <a:noFill/>
        </p:spPr>
        <p:txBody>
          <a:bodyPr wrap="square" lIns="0" rIns="0" tIns="0" bIns="0" anchor="ctr">
            <a:spAutoFit/>
          </a:bodyPr>
          <a:lstStyle/>
          <a:p>
            <a:pPr algn="ctr">
              <a:lnSpc>
                <a:spcPct val="100000"/>
              </a:lnSpc>
              <a:spcAft>
                <a:spcPts val="0"/>
              </a:spcAft>
            </a:pPr>
            <a:r>
              <a:rPr sz="1000" b="0">
                <a:solidFill>
                  <a:srgbClr val="F5F5F6"/>
                </a:solidFill>
                <a:latin typeface="Segoe UI Semibold"/>
              </a:rPr>
              <a:t>App dashboard</a:t>
            </a:r>
          </a:p>
        </p:txBody>
      </p:sp>
      <p:sp>
        <p:nvSpPr>
          <p:cNvPr id="42" name="Rounded Rectangle 41"/>
          <p:cNvSpPr/>
          <p:nvPr/>
        </p:nvSpPr>
        <p:spPr>
          <a:xfrm>
            <a:off x="2237171" y="4672584"/>
            <a:ext cx="1359347" cy="566928"/>
          </a:xfrm>
          <a:prstGeom prst="roundRect">
            <a:avLst>
              <a:gd name="adj" fmla="val 12000"/>
            </a:avLst>
          </a:prstGeom>
          <a:solidFill>
            <a:srgbClr val="1F1F24"/>
          </a:solidFill>
          <a:ln w="9525">
            <a:solidFill>
              <a:srgbClr val="303037"/>
            </a:solidFill>
          </a:ln>
        </p:spPr>
        <p:txBody>
          <a:bodyPr rtlCol="0" anchor="ctr"/>
          <a:lstStyle/>
          <a:p/>
        </p:txBody>
      </p:sp>
      <p:sp>
        <p:nvSpPr>
          <p:cNvPr id="43" name="TextBox 42"/>
          <p:cNvSpPr txBox="1"/>
          <p:nvPr/>
        </p:nvSpPr>
        <p:spPr>
          <a:xfrm>
            <a:off x="2310323" y="4672584"/>
            <a:ext cx="1213043" cy="566928"/>
          </a:xfrm>
          <a:prstGeom prst="rect">
            <a:avLst/>
          </a:prstGeom>
          <a:noFill/>
        </p:spPr>
        <p:txBody>
          <a:bodyPr wrap="square" lIns="0" rIns="0" tIns="0" bIns="0" anchor="ctr">
            <a:spAutoFit/>
          </a:bodyPr>
          <a:lstStyle/>
          <a:p>
            <a:pPr algn="ctr">
              <a:lnSpc>
                <a:spcPct val="100000"/>
              </a:lnSpc>
              <a:spcAft>
                <a:spcPts val="0"/>
              </a:spcAft>
            </a:pPr>
            <a:r>
              <a:rPr sz="1000" b="0">
                <a:solidFill>
                  <a:srgbClr val="F5F5F6"/>
                </a:solidFill>
                <a:latin typeface="Segoe UI Semibold"/>
              </a:rPr>
              <a:t>Chat · Hindi and English</a:t>
            </a:r>
          </a:p>
        </p:txBody>
      </p:sp>
      <p:sp>
        <p:nvSpPr>
          <p:cNvPr id="44" name="Rounded Rectangle 43"/>
          <p:cNvSpPr/>
          <p:nvPr/>
        </p:nvSpPr>
        <p:spPr>
          <a:xfrm>
            <a:off x="3724534" y="4672584"/>
            <a:ext cx="1359347" cy="566928"/>
          </a:xfrm>
          <a:prstGeom prst="roundRect">
            <a:avLst>
              <a:gd name="adj" fmla="val 12000"/>
            </a:avLst>
          </a:prstGeom>
          <a:solidFill>
            <a:srgbClr val="1F1F24"/>
          </a:solidFill>
          <a:ln w="9525">
            <a:solidFill>
              <a:srgbClr val="303037"/>
            </a:solidFill>
          </a:ln>
        </p:spPr>
        <p:txBody>
          <a:bodyPr rtlCol="0" anchor="ctr"/>
          <a:lstStyle/>
          <a:p/>
        </p:txBody>
      </p:sp>
      <p:sp>
        <p:nvSpPr>
          <p:cNvPr id="45" name="TextBox 44"/>
          <p:cNvSpPr txBox="1"/>
          <p:nvPr/>
        </p:nvSpPr>
        <p:spPr>
          <a:xfrm>
            <a:off x="3797686" y="4672584"/>
            <a:ext cx="1213043" cy="566928"/>
          </a:xfrm>
          <a:prstGeom prst="rect">
            <a:avLst/>
          </a:prstGeom>
          <a:noFill/>
        </p:spPr>
        <p:txBody>
          <a:bodyPr wrap="square" lIns="0" rIns="0" tIns="0" bIns="0" anchor="ctr">
            <a:spAutoFit/>
          </a:bodyPr>
          <a:lstStyle/>
          <a:p>
            <a:pPr algn="ctr">
              <a:lnSpc>
                <a:spcPct val="100000"/>
              </a:lnSpc>
              <a:spcAft>
                <a:spcPts val="0"/>
              </a:spcAft>
            </a:pPr>
            <a:r>
              <a:rPr sz="1000" b="0">
                <a:solidFill>
                  <a:srgbClr val="F5F5F6"/>
                </a:solidFill>
                <a:latin typeface="Segoe UI Semibold"/>
              </a:rPr>
              <a:t>SMS · 160 characters</a:t>
            </a:r>
          </a:p>
        </p:txBody>
      </p:sp>
      <p:sp>
        <p:nvSpPr>
          <p:cNvPr id="46" name="Rounded Rectangle 45"/>
          <p:cNvSpPr/>
          <p:nvPr/>
        </p:nvSpPr>
        <p:spPr>
          <a:xfrm>
            <a:off x="5211897" y="4672584"/>
            <a:ext cx="1359347" cy="566928"/>
          </a:xfrm>
          <a:prstGeom prst="roundRect">
            <a:avLst>
              <a:gd name="adj" fmla="val 12000"/>
            </a:avLst>
          </a:prstGeom>
          <a:solidFill>
            <a:srgbClr val="1F1F24"/>
          </a:solidFill>
          <a:ln w="9525">
            <a:solidFill>
              <a:srgbClr val="303037"/>
            </a:solidFill>
          </a:ln>
        </p:spPr>
        <p:txBody>
          <a:bodyPr rtlCol="0" anchor="ctr"/>
          <a:lstStyle/>
          <a:p/>
        </p:txBody>
      </p:sp>
      <p:sp>
        <p:nvSpPr>
          <p:cNvPr id="47" name="TextBox 46"/>
          <p:cNvSpPr txBox="1"/>
          <p:nvPr/>
        </p:nvSpPr>
        <p:spPr>
          <a:xfrm>
            <a:off x="5285049" y="4672584"/>
            <a:ext cx="1213043" cy="566928"/>
          </a:xfrm>
          <a:prstGeom prst="rect">
            <a:avLst/>
          </a:prstGeom>
          <a:noFill/>
        </p:spPr>
        <p:txBody>
          <a:bodyPr wrap="square" lIns="0" rIns="0" tIns="0" bIns="0" anchor="ctr">
            <a:spAutoFit/>
          </a:bodyPr>
          <a:lstStyle/>
          <a:p>
            <a:pPr algn="ctr">
              <a:lnSpc>
                <a:spcPct val="100000"/>
              </a:lnSpc>
              <a:spcAft>
                <a:spcPts val="0"/>
              </a:spcAft>
            </a:pPr>
            <a:r>
              <a:rPr sz="1000" b="0">
                <a:solidFill>
                  <a:srgbClr val="F5F5F6"/>
                </a:solidFill>
                <a:latin typeface="Segoe UI Semibold"/>
              </a:rPr>
              <a:t>IVR script</a:t>
            </a:r>
          </a:p>
        </p:txBody>
      </p:sp>
      <p:sp>
        <p:nvSpPr>
          <p:cNvPr id="48" name="Rounded Rectangle 47"/>
          <p:cNvSpPr/>
          <p:nvPr/>
        </p:nvSpPr>
        <p:spPr>
          <a:xfrm>
            <a:off x="6699260" y="4672584"/>
            <a:ext cx="1359347" cy="566928"/>
          </a:xfrm>
          <a:prstGeom prst="roundRect">
            <a:avLst>
              <a:gd name="adj" fmla="val 12000"/>
            </a:avLst>
          </a:prstGeom>
          <a:solidFill>
            <a:srgbClr val="1F1F24"/>
          </a:solidFill>
          <a:ln w="9525">
            <a:solidFill>
              <a:srgbClr val="303037"/>
            </a:solidFill>
          </a:ln>
        </p:spPr>
        <p:txBody>
          <a:bodyPr rtlCol="0" anchor="ctr"/>
          <a:lstStyle/>
          <a:p/>
        </p:txBody>
      </p:sp>
      <p:sp>
        <p:nvSpPr>
          <p:cNvPr id="49" name="TextBox 48"/>
          <p:cNvSpPr txBox="1"/>
          <p:nvPr/>
        </p:nvSpPr>
        <p:spPr>
          <a:xfrm>
            <a:off x="6772412" y="4672584"/>
            <a:ext cx="1213043" cy="566928"/>
          </a:xfrm>
          <a:prstGeom prst="rect">
            <a:avLst/>
          </a:prstGeom>
          <a:noFill/>
        </p:spPr>
        <p:txBody>
          <a:bodyPr wrap="square" lIns="0" rIns="0" tIns="0" bIns="0" anchor="ctr">
            <a:spAutoFit/>
          </a:bodyPr>
          <a:lstStyle/>
          <a:p>
            <a:pPr algn="ctr">
              <a:lnSpc>
                <a:spcPct val="100000"/>
              </a:lnSpc>
              <a:spcAft>
                <a:spcPts val="0"/>
              </a:spcAft>
            </a:pPr>
            <a:r>
              <a:rPr sz="1000" b="0">
                <a:solidFill>
                  <a:srgbClr val="F5F5F6"/>
                </a:solidFill>
                <a:latin typeface="Segoe UI Semibold"/>
              </a:rPr>
              <a:t>Key Facts Statement</a:t>
            </a:r>
          </a:p>
        </p:txBody>
      </p:sp>
      <p:sp>
        <p:nvSpPr>
          <p:cNvPr id="50" name="Rounded Rectangle 49"/>
          <p:cNvSpPr/>
          <p:nvPr/>
        </p:nvSpPr>
        <p:spPr>
          <a:xfrm>
            <a:off x="548640" y="5715000"/>
            <a:ext cx="11094415" cy="457200"/>
          </a:xfrm>
          <a:prstGeom prst="roundRect">
            <a:avLst>
              <a:gd name="adj" fmla="val 20000"/>
            </a:avLst>
          </a:prstGeom>
          <a:noFill/>
          <a:ln w="9525">
            <a:solidFill>
              <a:srgbClr val="303037"/>
            </a:solidFill>
          </a:ln>
        </p:spPr>
        <p:txBody>
          <a:bodyPr rtlCol="0" anchor="ctr"/>
          <a:lstStyle/>
          <a:p/>
        </p:txBody>
      </p:sp>
      <p:sp>
        <p:nvSpPr>
          <p:cNvPr id="51" name="TextBox 50"/>
          <p:cNvSpPr txBox="1"/>
          <p:nvPr/>
        </p:nvSpPr>
        <p:spPr>
          <a:xfrm>
            <a:off x="777240" y="5715000"/>
            <a:ext cx="10637215" cy="457200"/>
          </a:xfrm>
          <a:prstGeom prst="rect">
            <a:avLst/>
          </a:prstGeom>
          <a:noFill/>
        </p:spPr>
        <p:txBody>
          <a:bodyPr wrap="square" lIns="0" rIns="0" tIns="0" bIns="0" anchor="ctr">
            <a:spAutoFit/>
          </a:bodyPr>
          <a:lstStyle/>
          <a:p>
            <a:pPr algn="l">
              <a:lnSpc>
                <a:spcPct val="112000"/>
              </a:lnSpc>
              <a:spcAft>
                <a:spcPts val="0"/>
              </a:spcAft>
            </a:pPr>
            <a:r>
              <a:rPr sz="1100" b="0">
                <a:solidFill>
                  <a:srgbClr val="F5F5F6"/>
                </a:solidFill>
                <a:latin typeface="Segoe UI Semibold"/>
              </a:rPr>
              <a:t>Hash-chained audit ledger  </a:t>
            </a:r>
            <a:r>
              <a:rPr sz="1100" b="0">
                <a:solidFill>
                  <a:srgbClr val="A8A8B0"/>
                </a:solidFill>
                <a:latin typeface="Segoe UI"/>
              </a:rPr>
              <a:t>every step above is sealed with the SHA-256 of the record before it, persisted in Postgres</a:t>
            </a:r>
          </a:p>
        </p:txBody>
      </p:sp>
      <p:cxnSp>
        <p:nvCxnSpPr>
          <p:cNvPr id="52" name="Connector 51"/>
          <p:cNvCxnSpPr/>
          <p:nvPr/>
        </p:nvCxnSpPr>
        <p:spPr>
          <a:xfrm>
            <a:off x="548640" y="6400800"/>
            <a:ext cx="11094415"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48640" y="6492240"/>
            <a:ext cx="5486400" cy="22860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a:rPr>
              <a:t>DhanSathi  ·  Explainable banking for Bharat</a:t>
            </a:r>
          </a:p>
        </p:txBody>
      </p:sp>
      <p:sp>
        <p:nvSpPr>
          <p:cNvPr id="54" name="TextBox 53"/>
          <p:cNvSpPr txBox="1"/>
          <p:nvPr/>
        </p:nvSpPr>
        <p:spPr>
          <a:xfrm>
            <a:off x="9814255" y="6492240"/>
            <a:ext cx="1828800" cy="228600"/>
          </a:xfrm>
          <a:prstGeom prst="rect">
            <a:avLst/>
          </a:prstGeom>
          <a:noFill/>
        </p:spPr>
        <p:txBody>
          <a:bodyPr wrap="square" lIns="0" rIns="0" tIns="0" bIns="0" anchor="t">
            <a:spAutoFit/>
          </a:bodyPr>
          <a:lstStyle/>
          <a:p>
            <a:pPr algn="r">
              <a:lnSpc>
                <a:spcPct val="112000"/>
              </a:lnSpc>
              <a:spcAft>
                <a:spcPts val="0"/>
              </a:spcAft>
            </a:pPr>
            <a:r>
              <a:rPr sz="900" b="0">
                <a:solidFill>
                  <a:srgbClr val="70707A"/>
                </a:solidFill>
                <a:latin typeface="Segoe UI"/>
              </a:rPr>
              <a:t>04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Semibold"/>
              </a:rPr>
              <a:t>04 · CHALLENGE 1 — THE RIGHT PRODUCT AT THE RIGHT MOMENT</a:t>
            </a:r>
          </a:p>
        </p:txBody>
      </p:sp>
      <p:sp>
        <p:nvSpPr>
          <p:cNvPr id="3" name="TextBox 2"/>
          <p:cNvSpPr txBox="1"/>
          <p:nvPr/>
        </p:nvSpPr>
        <p:spPr>
          <a:xfrm>
            <a:off x="548640" y="658368"/>
            <a:ext cx="11094415" cy="1097280"/>
          </a:xfrm>
          <a:prstGeom prst="rect">
            <a:avLst/>
          </a:prstGeom>
          <a:noFill/>
        </p:spPr>
        <p:txBody>
          <a:bodyPr wrap="square" lIns="0" rIns="0" tIns="0" bIns="0" anchor="t">
            <a:spAutoFit/>
          </a:bodyPr>
          <a:lstStyle/>
          <a:p>
            <a:pPr algn="l">
              <a:lnSpc>
                <a:spcPct val="102000"/>
              </a:lnSpc>
              <a:spcAft>
                <a:spcPts val="0"/>
              </a:spcAft>
            </a:pPr>
            <a:r>
              <a:rPr sz="2600" b="0">
                <a:solidFill>
                  <a:srgbClr val="F5F5F6"/>
                </a:solidFill>
                <a:latin typeface="Segoe UI Semibold"/>
              </a:rPr>
              <a:t>Recommendations built from a customer's own money, timed to their life.</a:t>
            </a:r>
          </a:p>
        </p:txBody>
      </p:sp>
      <p:pic>
        <p:nvPicPr>
          <p:cNvPr id="4" name="Picture 3" descr="hero_tight.png"/>
          <p:cNvPicPr>
            <a:picLocks noChangeAspect="1"/>
          </p:cNvPicPr>
          <p:nvPr/>
        </p:nvPicPr>
        <p:blipFill>
          <a:blip r:embed="rId2"/>
          <a:stretch>
            <a:fillRect/>
          </a:stretch>
        </p:blipFill>
        <p:spPr>
          <a:xfrm>
            <a:off x="548640" y="1691640"/>
            <a:ext cx="6720840" cy="3756360"/>
          </a:xfrm>
          <a:prstGeom prst="rect">
            <a:avLst/>
          </a:prstGeom>
          <a:ln w="9525">
            <a:solidFill>
              <a:srgbClr val="303037"/>
            </a:solidFill>
          </a:ln>
        </p:spPr>
      </p:pic>
      <p:sp>
        <p:nvSpPr>
          <p:cNvPr id="5" name="TextBox 4"/>
          <p:cNvSpPr txBox="1"/>
          <p:nvPr/>
        </p:nvSpPr>
        <p:spPr>
          <a:xfrm>
            <a:off x="548640" y="5576016"/>
            <a:ext cx="6720840" cy="457200"/>
          </a:xfrm>
          <a:prstGeom prst="rect">
            <a:avLst/>
          </a:prstGeom>
          <a:noFill/>
        </p:spPr>
        <p:txBody>
          <a:bodyPr wrap="square" lIns="0" rIns="0" tIns="0" bIns="0" anchor="t">
            <a:spAutoFit/>
          </a:bodyPr>
          <a:lstStyle/>
          <a:p>
            <a:pPr algn="l">
              <a:lnSpc>
                <a:spcPct val="110000"/>
              </a:lnSpc>
              <a:spcAft>
                <a:spcPts val="0"/>
              </a:spcAft>
            </a:pPr>
            <a:r>
              <a:rPr sz="1050" b="0">
                <a:solidFill>
                  <a:srgbClr val="F5F5F6"/>
                </a:solidFill>
                <a:latin typeface="Segoe UI Semibold"/>
              </a:rPr>
              <a:t>Live prototype  </a:t>
            </a:r>
            <a:r>
              <a:rPr sz="1050" b="0">
                <a:solidFill>
                  <a:srgbClr val="A8A8B0"/>
                </a:solidFill>
                <a:latin typeface="Segoe UI"/>
              </a:rPr>
              <a:t>Priya, salaried saver in a Tier 3 town. Systematic Investment Plan, timed to three months of 30%+ savings.</a:t>
            </a:r>
          </a:p>
        </p:txBody>
      </p:sp>
      <p:sp>
        <p:nvSpPr>
          <p:cNvPr id="6" name="TextBox 5"/>
          <p:cNvSpPr txBox="1"/>
          <p:nvPr/>
        </p:nvSpPr>
        <p:spPr>
          <a:xfrm>
            <a:off x="7680959" y="1691640"/>
            <a:ext cx="3962095" cy="274320"/>
          </a:xfrm>
          <a:prstGeom prst="rect">
            <a:avLst/>
          </a:prstGeom>
          <a:noFill/>
        </p:spPr>
        <p:txBody>
          <a:bodyPr wrap="square" lIns="0" rIns="0" tIns="0" bIns="0" anchor="t">
            <a:spAutoFit/>
          </a:bodyPr>
          <a:lstStyle/>
          <a:p>
            <a:pPr algn="l">
              <a:lnSpc>
                <a:spcPct val="112000"/>
              </a:lnSpc>
              <a:spcAft>
                <a:spcPts val="0"/>
              </a:spcAft>
            </a:pPr>
            <a:r>
              <a:rPr sz="1300" b="0">
                <a:solidFill>
                  <a:srgbClr val="F5F5F6"/>
                </a:solidFill>
                <a:latin typeface="Segoe UI Semibold"/>
              </a:rPr>
              <a:t>Signals from real transactions</a:t>
            </a:r>
          </a:p>
        </p:txBody>
      </p:sp>
      <p:sp>
        <p:nvSpPr>
          <p:cNvPr id="7" name="TextBox 6"/>
          <p:cNvSpPr txBox="1"/>
          <p:nvPr/>
        </p:nvSpPr>
        <p:spPr>
          <a:xfrm>
            <a:off x="7680959" y="1965959"/>
            <a:ext cx="3962095" cy="566928"/>
          </a:xfrm>
          <a:prstGeom prst="rect">
            <a:avLst/>
          </a:prstGeom>
          <a:noFill/>
        </p:spPr>
        <p:txBody>
          <a:bodyPr wrap="square" lIns="0" rIns="0" tIns="0" bIns="0" anchor="t">
            <a:spAutoFit/>
          </a:bodyPr>
          <a:lstStyle/>
          <a:p>
            <a:pPr algn="l">
              <a:lnSpc>
                <a:spcPct val="112000"/>
              </a:lnSpc>
              <a:spcAft>
                <a:spcPts val="0"/>
              </a:spcAft>
            </a:pPr>
            <a:r>
              <a:rPr sz="1050" b="0">
                <a:solidFill>
                  <a:srgbClr val="A8A8B0"/>
                </a:solidFill>
                <a:latin typeface="Segoe UI"/>
              </a:rPr>
              <a:t>Salary regularity, savings rate, missed EMIs, spend volatility and life-stage tags, all traceable.</a:t>
            </a:r>
          </a:p>
        </p:txBody>
      </p:sp>
      <p:sp>
        <p:nvSpPr>
          <p:cNvPr id="8" name="TextBox 7"/>
          <p:cNvSpPr txBox="1"/>
          <p:nvPr/>
        </p:nvSpPr>
        <p:spPr>
          <a:xfrm>
            <a:off x="7680959" y="2551176"/>
            <a:ext cx="3962095" cy="274320"/>
          </a:xfrm>
          <a:prstGeom prst="rect">
            <a:avLst/>
          </a:prstGeom>
          <a:noFill/>
        </p:spPr>
        <p:txBody>
          <a:bodyPr wrap="square" lIns="0" rIns="0" tIns="0" bIns="0" anchor="t">
            <a:spAutoFit/>
          </a:bodyPr>
          <a:lstStyle/>
          <a:p>
            <a:pPr algn="l">
              <a:lnSpc>
                <a:spcPct val="112000"/>
              </a:lnSpc>
              <a:spcAft>
                <a:spcPts val="0"/>
              </a:spcAft>
            </a:pPr>
            <a:r>
              <a:rPr sz="1300" b="0">
                <a:solidFill>
                  <a:srgbClr val="F5F5F6"/>
                </a:solidFill>
                <a:latin typeface="Segoe UI Semibold"/>
              </a:rPr>
              <a:t>A timing engine, not a pop-up</a:t>
            </a:r>
          </a:p>
        </p:txBody>
      </p:sp>
      <p:sp>
        <p:nvSpPr>
          <p:cNvPr id="9" name="TextBox 8"/>
          <p:cNvSpPr txBox="1"/>
          <p:nvPr/>
        </p:nvSpPr>
        <p:spPr>
          <a:xfrm>
            <a:off x="7680959" y="2825495"/>
            <a:ext cx="3962095" cy="566928"/>
          </a:xfrm>
          <a:prstGeom prst="rect">
            <a:avLst/>
          </a:prstGeom>
          <a:noFill/>
        </p:spPr>
        <p:txBody>
          <a:bodyPr wrap="square" lIns="0" rIns="0" tIns="0" bIns="0" anchor="t">
            <a:spAutoFit/>
          </a:bodyPr>
          <a:lstStyle/>
          <a:p>
            <a:pPr algn="l">
              <a:lnSpc>
                <a:spcPct val="112000"/>
              </a:lnSpc>
              <a:spcAft>
                <a:spcPts val="0"/>
              </a:spcAft>
            </a:pPr>
            <a:r>
              <a:rPr sz="1050" b="0">
                <a:solidFill>
                  <a:srgbClr val="A8A8B0"/>
                </a:solidFill>
                <a:latin typeface="Segoe UI"/>
              </a:rPr>
              <a:t>Salary just credited, EMI due soon, festival window, savings momentum, spend shift.</a:t>
            </a:r>
          </a:p>
        </p:txBody>
      </p:sp>
      <p:sp>
        <p:nvSpPr>
          <p:cNvPr id="10" name="TextBox 9"/>
          <p:cNvSpPr txBox="1"/>
          <p:nvPr/>
        </p:nvSpPr>
        <p:spPr>
          <a:xfrm>
            <a:off x="7680959" y="3410711"/>
            <a:ext cx="3962095" cy="274320"/>
          </a:xfrm>
          <a:prstGeom prst="rect">
            <a:avLst/>
          </a:prstGeom>
          <a:noFill/>
        </p:spPr>
        <p:txBody>
          <a:bodyPr wrap="square" lIns="0" rIns="0" tIns="0" bIns="0" anchor="t">
            <a:spAutoFit/>
          </a:bodyPr>
          <a:lstStyle/>
          <a:p>
            <a:pPr algn="l">
              <a:lnSpc>
                <a:spcPct val="112000"/>
              </a:lnSpc>
              <a:spcAft>
                <a:spcPts val="0"/>
              </a:spcAft>
            </a:pPr>
            <a:r>
              <a:rPr sz="1300" b="0">
                <a:solidFill>
                  <a:srgbClr val="F5F5F6"/>
                </a:solidFill>
                <a:latin typeface="Segoe UI Semibold"/>
              </a:rPr>
              <a:t>A Time Machine you can drag</a:t>
            </a:r>
          </a:p>
        </p:txBody>
      </p:sp>
      <p:sp>
        <p:nvSpPr>
          <p:cNvPr id="11" name="TextBox 10"/>
          <p:cNvSpPr txBox="1"/>
          <p:nvPr/>
        </p:nvSpPr>
        <p:spPr>
          <a:xfrm>
            <a:off x="7680959" y="3685031"/>
            <a:ext cx="3962095" cy="566928"/>
          </a:xfrm>
          <a:prstGeom prst="rect">
            <a:avLst/>
          </a:prstGeom>
          <a:noFill/>
        </p:spPr>
        <p:txBody>
          <a:bodyPr wrap="square" lIns="0" rIns="0" tIns="0" bIns="0" anchor="t">
            <a:spAutoFit/>
          </a:bodyPr>
          <a:lstStyle/>
          <a:p>
            <a:pPr algn="l">
              <a:lnSpc>
                <a:spcPct val="112000"/>
              </a:lnSpc>
              <a:spcAft>
                <a:spcPts val="0"/>
              </a:spcAft>
            </a:pPr>
            <a:r>
              <a:rPr sz="1050" b="0">
                <a:solidFill>
                  <a:srgbClr val="A8A8B0"/>
                </a:solidFill>
                <a:latin typeface="Segoe UI"/>
              </a:rPr>
              <a:t>Move the clock and every rolling window, due date and gate decision recomputes. The claim is testable in the room.</a:t>
            </a:r>
          </a:p>
        </p:txBody>
      </p:sp>
      <p:sp>
        <p:nvSpPr>
          <p:cNvPr id="12" name="TextBox 11"/>
          <p:cNvSpPr txBox="1"/>
          <p:nvPr/>
        </p:nvSpPr>
        <p:spPr>
          <a:xfrm>
            <a:off x="7680959" y="4270247"/>
            <a:ext cx="3962095" cy="274320"/>
          </a:xfrm>
          <a:prstGeom prst="rect">
            <a:avLst/>
          </a:prstGeom>
          <a:noFill/>
        </p:spPr>
        <p:txBody>
          <a:bodyPr wrap="square" lIns="0" rIns="0" tIns="0" bIns="0" anchor="t">
            <a:spAutoFit/>
          </a:bodyPr>
          <a:lstStyle/>
          <a:p>
            <a:pPr algn="l">
              <a:lnSpc>
                <a:spcPct val="112000"/>
              </a:lnSpc>
              <a:spcAft>
                <a:spcPts val="0"/>
              </a:spcAft>
            </a:pPr>
            <a:r>
              <a:rPr sz="1300" b="0">
                <a:solidFill>
                  <a:srgbClr val="F5F5F6"/>
                </a:solidFill>
                <a:latin typeface="Segoe UI Semibold"/>
              </a:rPr>
              <a:t>One next best action</a:t>
            </a:r>
          </a:p>
        </p:txBody>
      </p:sp>
      <p:sp>
        <p:nvSpPr>
          <p:cNvPr id="13" name="TextBox 12"/>
          <p:cNvSpPr txBox="1"/>
          <p:nvPr/>
        </p:nvSpPr>
        <p:spPr>
          <a:xfrm>
            <a:off x="7680959" y="4544567"/>
            <a:ext cx="3962095" cy="566928"/>
          </a:xfrm>
          <a:prstGeom prst="rect">
            <a:avLst/>
          </a:prstGeom>
          <a:noFill/>
        </p:spPr>
        <p:txBody>
          <a:bodyPr wrap="square" lIns="0" rIns="0" tIns="0" bIns="0" anchor="t">
            <a:spAutoFit/>
          </a:bodyPr>
          <a:lstStyle/>
          <a:p>
            <a:pPr algn="l">
              <a:lnSpc>
                <a:spcPct val="112000"/>
              </a:lnSpc>
              <a:spcAft>
                <a:spcPts val="0"/>
              </a:spcAft>
            </a:pPr>
            <a:r>
              <a:rPr sz="1050" b="0">
                <a:solidFill>
                  <a:srgbClr val="A8A8B0"/>
                </a:solidFill>
                <a:latin typeface="Segoe UI"/>
              </a:rPr>
              <a:t>Priority is fixed: protection, then early warning, then timing, then the offer.</a:t>
            </a:r>
          </a:p>
        </p:txBody>
      </p:sp>
      <p:sp>
        <p:nvSpPr>
          <p:cNvPr id="14" name="TextBox 13"/>
          <p:cNvSpPr txBox="1"/>
          <p:nvPr/>
        </p:nvSpPr>
        <p:spPr>
          <a:xfrm>
            <a:off x="7680959" y="5129783"/>
            <a:ext cx="3962095" cy="274320"/>
          </a:xfrm>
          <a:prstGeom prst="rect">
            <a:avLst/>
          </a:prstGeom>
          <a:noFill/>
        </p:spPr>
        <p:txBody>
          <a:bodyPr wrap="square" lIns="0" rIns="0" tIns="0" bIns="0" anchor="t">
            <a:spAutoFit/>
          </a:bodyPr>
          <a:lstStyle/>
          <a:p>
            <a:pPr algn="l">
              <a:lnSpc>
                <a:spcPct val="112000"/>
              </a:lnSpc>
              <a:spcAft>
                <a:spcPts val="0"/>
              </a:spcAft>
            </a:pPr>
            <a:r>
              <a:rPr sz="1300" b="0">
                <a:solidFill>
                  <a:srgbClr val="F5F5F6"/>
                </a:solidFill>
                <a:latin typeface="Segoe UI Semibold"/>
              </a:rPr>
              <a:t>Behavioural segments</a:t>
            </a:r>
          </a:p>
        </p:txBody>
      </p:sp>
      <p:sp>
        <p:nvSpPr>
          <p:cNvPr id="15" name="TextBox 14"/>
          <p:cNvSpPr txBox="1"/>
          <p:nvPr/>
        </p:nvSpPr>
        <p:spPr>
          <a:xfrm>
            <a:off x="7680959" y="5404103"/>
            <a:ext cx="3962095" cy="566928"/>
          </a:xfrm>
          <a:prstGeom prst="rect">
            <a:avLst/>
          </a:prstGeom>
          <a:noFill/>
        </p:spPr>
        <p:txBody>
          <a:bodyPr wrap="square" lIns="0" rIns="0" tIns="0" bIns="0" anchor="t">
            <a:spAutoFit/>
          </a:bodyPr>
          <a:lstStyle/>
          <a:p>
            <a:pPr algn="l">
              <a:lnSpc>
                <a:spcPct val="112000"/>
              </a:lnSpc>
              <a:spcAft>
                <a:spcPts val="0"/>
              </a:spcAft>
            </a:pPr>
            <a:r>
              <a:rPr sz="1050" b="0">
                <a:solidFill>
                  <a:srgbClr val="A8A8B0"/>
                </a:solidFill>
                <a:latin typeface="Segoe UI"/>
              </a:rPr>
              <a:t>k-means cohorts: “saves more than 75% of comparable customers”.</a:t>
            </a:r>
          </a:p>
        </p:txBody>
      </p:sp>
      <p:cxnSp>
        <p:nvCxnSpPr>
          <p:cNvPr id="16" name="Connector 15"/>
          <p:cNvCxnSpPr/>
          <p:nvPr/>
        </p:nvCxnSpPr>
        <p:spPr>
          <a:xfrm>
            <a:off x="548640" y="6400800"/>
            <a:ext cx="11094415"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6492240"/>
            <a:ext cx="5486400" cy="22860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a:rPr>
              <a:t>DhanSathi  ·  Explainable banking for Bharat</a:t>
            </a:r>
          </a:p>
        </p:txBody>
      </p:sp>
      <p:sp>
        <p:nvSpPr>
          <p:cNvPr id="18" name="TextBox 17"/>
          <p:cNvSpPr txBox="1"/>
          <p:nvPr/>
        </p:nvSpPr>
        <p:spPr>
          <a:xfrm>
            <a:off x="9814255" y="6492240"/>
            <a:ext cx="1828800" cy="228600"/>
          </a:xfrm>
          <a:prstGeom prst="rect">
            <a:avLst/>
          </a:prstGeom>
          <a:noFill/>
        </p:spPr>
        <p:txBody>
          <a:bodyPr wrap="square" lIns="0" rIns="0" tIns="0" bIns="0" anchor="t">
            <a:spAutoFit/>
          </a:bodyPr>
          <a:lstStyle/>
          <a:p>
            <a:pPr algn="r">
              <a:lnSpc>
                <a:spcPct val="112000"/>
              </a:lnSpc>
              <a:spcAft>
                <a:spcPts val="0"/>
              </a:spcAft>
            </a:pPr>
            <a:r>
              <a:rPr sz="900" b="0">
                <a:solidFill>
                  <a:srgbClr val="70707A"/>
                </a:solidFill>
                <a:latin typeface="Segoe UI"/>
              </a:rPr>
              <a:t>05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Semibold"/>
              </a:rPr>
              <a:t>05 · CHALLENGE 3 — EARLY WARNING, EMPATHETIC INTERVENTION</a:t>
            </a:r>
          </a:p>
        </p:txBody>
      </p:sp>
      <p:sp>
        <p:nvSpPr>
          <p:cNvPr id="3" name="TextBox 2"/>
          <p:cNvSpPr txBox="1"/>
          <p:nvPr/>
        </p:nvSpPr>
        <p:spPr>
          <a:xfrm>
            <a:off x="548640" y="658368"/>
            <a:ext cx="11094415" cy="1097280"/>
          </a:xfrm>
          <a:prstGeom prst="rect">
            <a:avLst/>
          </a:prstGeom>
          <a:noFill/>
        </p:spPr>
        <p:txBody>
          <a:bodyPr wrap="square" lIns="0" rIns="0" tIns="0" bIns="0" anchor="t">
            <a:spAutoFit/>
          </a:bodyPr>
          <a:lstStyle/>
          <a:p>
            <a:pPr algn="l">
              <a:lnSpc>
                <a:spcPct val="102000"/>
              </a:lnSpc>
              <a:spcAft>
                <a:spcPts val="0"/>
              </a:spcAft>
            </a:pPr>
            <a:r>
              <a:rPr sz="2800" b="0">
                <a:solidFill>
                  <a:srgbClr val="F5F5F6"/>
                </a:solidFill>
                <a:latin typeface="Segoe UI Semibold"/>
              </a:rPr>
              <a:t>Suresh has missed nothing yet. The model flagged him anyway.</a:t>
            </a:r>
          </a:p>
        </p:txBody>
      </p:sp>
      <p:sp>
        <p:nvSpPr>
          <p:cNvPr id="4" name="Rounded Rectangle 3"/>
          <p:cNvSpPr/>
          <p:nvPr/>
        </p:nvSpPr>
        <p:spPr>
          <a:xfrm>
            <a:off x="548640" y="1600199"/>
            <a:ext cx="3611880" cy="3611880"/>
          </a:xfrm>
          <a:prstGeom prst="roundRect">
            <a:avLst>
              <a:gd name="adj" fmla="val 4000"/>
            </a:avLst>
          </a:prstGeom>
          <a:solidFill>
            <a:srgbClr val="16161A"/>
          </a:solidFill>
          <a:ln w="9525">
            <a:solidFill>
              <a:srgbClr val="303037"/>
            </a:solidFill>
          </a:ln>
        </p:spPr>
        <p:txBody>
          <a:bodyPr rtlCol="0" anchor="ctr"/>
          <a:lstStyle/>
          <a:p/>
        </p:txBody>
      </p:sp>
      <p:sp>
        <p:nvSpPr>
          <p:cNvPr id="5" name="TextBox 4"/>
          <p:cNvSpPr txBox="1"/>
          <p:nvPr/>
        </p:nvSpPr>
        <p:spPr>
          <a:xfrm>
            <a:off x="777240" y="1801368"/>
            <a:ext cx="3154680" cy="320040"/>
          </a:xfrm>
          <a:prstGeom prst="rect">
            <a:avLst/>
          </a:prstGeom>
          <a:noFill/>
        </p:spPr>
        <p:txBody>
          <a:bodyPr wrap="square" lIns="0" rIns="0" tIns="0" bIns="0" anchor="t">
            <a:spAutoFit/>
          </a:bodyPr>
          <a:lstStyle/>
          <a:p>
            <a:pPr algn="l">
              <a:lnSpc>
                <a:spcPct val="112000"/>
              </a:lnSpc>
              <a:spcAft>
                <a:spcPts val="0"/>
              </a:spcAft>
            </a:pPr>
            <a:r>
              <a:rPr sz="1800" b="0">
                <a:solidFill>
                  <a:srgbClr val="F5F5F6"/>
                </a:solidFill>
                <a:latin typeface="Segoe UI Semibold"/>
              </a:rPr>
              <a:t>Sunita</a:t>
            </a:r>
          </a:p>
        </p:txBody>
      </p:sp>
      <p:sp>
        <p:nvSpPr>
          <p:cNvPr id="6" name="TextBox 5"/>
          <p:cNvSpPr txBox="1"/>
          <p:nvPr/>
        </p:nvSpPr>
        <p:spPr>
          <a:xfrm>
            <a:off x="777240" y="2148840"/>
            <a:ext cx="3154680" cy="274320"/>
          </a:xfrm>
          <a:prstGeom prst="rect">
            <a:avLst/>
          </a:prstGeom>
          <a:noFill/>
        </p:spPr>
        <p:txBody>
          <a:bodyPr wrap="square" lIns="0" rIns="0" tIns="0" bIns="0" anchor="t">
            <a:spAutoFit/>
          </a:bodyPr>
          <a:lstStyle/>
          <a:p>
            <a:pPr algn="l">
              <a:lnSpc>
                <a:spcPct val="112000"/>
              </a:lnSpc>
              <a:spcAft>
                <a:spcPts val="0"/>
              </a:spcAft>
            </a:pPr>
            <a:r>
              <a:rPr sz="1050" b="0">
                <a:solidFill>
                  <a:srgbClr val="A8A8B0"/>
                </a:solidFill>
                <a:latin typeface="Segoe UI"/>
              </a:rPr>
              <a:t>Self-employed · Tier 3 town</a:t>
            </a:r>
          </a:p>
        </p:txBody>
      </p:sp>
      <p:sp>
        <p:nvSpPr>
          <p:cNvPr id="7" name="Rounded Rectangle 6"/>
          <p:cNvSpPr/>
          <p:nvPr/>
        </p:nvSpPr>
        <p:spPr>
          <a:xfrm>
            <a:off x="777240" y="2514600"/>
            <a:ext cx="1740834" cy="246888"/>
          </a:xfrm>
          <a:prstGeom prst="roundRect">
            <a:avLst>
              <a:gd name="adj" fmla="val 18000"/>
            </a:avLst>
          </a:prstGeom>
          <a:noFill/>
          <a:ln w="9525">
            <a:solidFill>
              <a:srgbClr val="4A4A52"/>
            </a:solidFill>
          </a:ln>
        </p:spPr>
        <p:txBody>
          <a:bodyPr rtlCol="0" anchor="ctr"/>
          <a:lstStyle/>
          <a:p/>
        </p:txBody>
      </p:sp>
      <p:sp>
        <p:nvSpPr>
          <p:cNvPr id="8" name="TextBox 7"/>
          <p:cNvSpPr txBox="1"/>
          <p:nvPr/>
        </p:nvSpPr>
        <p:spPr>
          <a:xfrm>
            <a:off x="777240" y="2514600"/>
            <a:ext cx="1740834" cy="246888"/>
          </a:xfrm>
          <a:prstGeom prst="rect">
            <a:avLst/>
          </a:prstGeom>
          <a:noFill/>
        </p:spPr>
        <p:txBody>
          <a:bodyPr wrap="square" lIns="0" rIns="0" tIns="0" bIns="0" anchor="ctr">
            <a:spAutoFit/>
          </a:bodyPr>
          <a:lstStyle/>
          <a:p>
            <a:pPr algn="ctr">
              <a:lnSpc>
                <a:spcPct val="112000"/>
              </a:lnSpc>
              <a:spcAft>
                <a:spcPts val="0"/>
              </a:spcAft>
            </a:pPr>
            <a:r>
              <a:rPr sz="900" b="0">
                <a:solidFill>
                  <a:srgbClr val="F5F5F6"/>
                </a:solidFill>
                <a:latin typeface="Segoe UI Semibold"/>
              </a:rPr>
              <a:t>RULES AND MODEL AGREE</a:t>
            </a:r>
          </a:p>
        </p:txBody>
      </p:sp>
      <p:sp>
        <p:nvSpPr>
          <p:cNvPr id="9" name="TextBox 8"/>
          <p:cNvSpPr txBox="1"/>
          <p:nvPr/>
        </p:nvSpPr>
        <p:spPr>
          <a:xfrm>
            <a:off x="777240" y="2971800"/>
            <a:ext cx="2148840" cy="274320"/>
          </a:xfrm>
          <a:prstGeom prst="rect">
            <a:avLst/>
          </a:prstGeom>
          <a:noFill/>
        </p:spPr>
        <p:txBody>
          <a:bodyPr wrap="square" lIns="0" rIns="0" tIns="0" bIns="0" anchor="t">
            <a:spAutoFit/>
          </a:bodyPr>
          <a:lstStyle/>
          <a:p>
            <a:pPr algn="l">
              <a:lnSpc>
                <a:spcPct val="112000"/>
              </a:lnSpc>
              <a:spcAft>
                <a:spcPts val="0"/>
              </a:spcAft>
            </a:pPr>
            <a:r>
              <a:rPr sz="1100" b="0">
                <a:solidFill>
                  <a:srgbClr val="A8A8B0"/>
                </a:solidFill>
                <a:latin typeface="Segoe UI"/>
              </a:rPr>
              <a:t>Missed EMIs, 90 days</a:t>
            </a:r>
          </a:p>
        </p:txBody>
      </p:sp>
      <p:sp>
        <p:nvSpPr>
          <p:cNvPr id="10" name="TextBox 9"/>
          <p:cNvSpPr txBox="1"/>
          <p:nvPr/>
        </p:nvSpPr>
        <p:spPr>
          <a:xfrm>
            <a:off x="2697479" y="2971800"/>
            <a:ext cx="1234440" cy="274320"/>
          </a:xfrm>
          <a:prstGeom prst="rect">
            <a:avLst/>
          </a:prstGeom>
          <a:noFill/>
        </p:spPr>
        <p:txBody>
          <a:bodyPr wrap="square" lIns="0" rIns="0" tIns="0" bIns="0" anchor="t">
            <a:spAutoFit/>
          </a:bodyPr>
          <a:lstStyle/>
          <a:p>
            <a:pPr algn="r">
              <a:lnSpc>
                <a:spcPct val="112000"/>
              </a:lnSpc>
              <a:spcAft>
                <a:spcPts val="0"/>
              </a:spcAft>
            </a:pPr>
            <a:r>
              <a:rPr sz="1200" b="0">
                <a:solidFill>
                  <a:srgbClr val="F5F5F6"/>
                </a:solidFill>
                <a:latin typeface="Segoe UI Semibold"/>
              </a:rPr>
              <a:t>2</a:t>
            </a:r>
          </a:p>
        </p:txBody>
      </p:sp>
      <p:cxnSp>
        <p:nvCxnSpPr>
          <p:cNvPr id="11" name="Connector 10"/>
          <p:cNvCxnSpPr/>
          <p:nvPr/>
        </p:nvCxnSpPr>
        <p:spPr>
          <a:xfrm>
            <a:off x="777240" y="3300983"/>
            <a:ext cx="3154680"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7240" y="3392424"/>
            <a:ext cx="2148840" cy="274320"/>
          </a:xfrm>
          <a:prstGeom prst="rect">
            <a:avLst/>
          </a:prstGeom>
          <a:noFill/>
        </p:spPr>
        <p:txBody>
          <a:bodyPr wrap="square" lIns="0" rIns="0" tIns="0" bIns="0" anchor="t">
            <a:spAutoFit/>
          </a:bodyPr>
          <a:lstStyle/>
          <a:p>
            <a:pPr algn="l">
              <a:lnSpc>
                <a:spcPct val="112000"/>
              </a:lnSpc>
              <a:spcAft>
                <a:spcPts val="0"/>
              </a:spcAft>
            </a:pPr>
            <a:r>
              <a:rPr sz="1100" b="0">
                <a:solidFill>
                  <a:srgbClr val="A8A8B0"/>
                </a:solidFill>
                <a:latin typeface="Segoe UI"/>
              </a:rPr>
              <a:t>Rules wellness score</a:t>
            </a:r>
          </a:p>
        </p:txBody>
      </p:sp>
      <p:sp>
        <p:nvSpPr>
          <p:cNvPr id="13" name="TextBox 12"/>
          <p:cNvSpPr txBox="1"/>
          <p:nvPr/>
        </p:nvSpPr>
        <p:spPr>
          <a:xfrm>
            <a:off x="2697479" y="3392424"/>
            <a:ext cx="1234440" cy="274320"/>
          </a:xfrm>
          <a:prstGeom prst="rect">
            <a:avLst/>
          </a:prstGeom>
          <a:noFill/>
        </p:spPr>
        <p:txBody>
          <a:bodyPr wrap="square" lIns="0" rIns="0" tIns="0" bIns="0" anchor="t">
            <a:spAutoFit/>
          </a:bodyPr>
          <a:lstStyle/>
          <a:p>
            <a:pPr algn="r">
              <a:lnSpc>
                <a:spcPct val="112000"/>
              </a:lnSpc>
              <a:spcAft>
                <a:spcPts val="0"/>
              </a:spcAft>
            </a:pPr>
            <a:r>
              <a:rPr sz="1200" b="0">
                <a:solidFill>
                  <a:srgbClr val="F5F5F6"/>
                </a:solidFill>
                <a:latin typeface="Segoe UI Semibold"/>
              </a:rPr>
              <a:t>50 / 100</a:t>
            </a:r>
          </a:p>
        </p:txBody>
      </p:sp>
      <p:cxnSp>
        <p:nvCxnSpPr>
          <p:cNvPr id="14" name="Connector 13"/>
          <p:cNvCxnSpPr/>
          <p:nvPr/>
        </p:nvCxnSpPr>
        <p:spPr>
          <a:xfrm>
            <a:off x="777240" y="3721608"/>
            <a:ext cx="3154680"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7240" y="3813048"/>
            <a:ext cx="2148840" cy="274320"/>
          </a:xfrm>
          <a:prstGeom prst="rect">
            <a:avLst/>
          </a:prstGeom>
          <a:noFill/>
        </p:spPr>
        <p:txBody>
          <a:bodyPr wrap="square" lIns="0" rIns="0" tIns="0" bIns="0" anchor="t">
            <a:spAutoFit/>
          </a:bodyPr>
          <a:lstStyle/>
          <a:p>
            <a:pPr algn="l">
              <a:lnSpc>
                <a:spcPct val="112000"/>
              </a:lnSpc>
              <a:spcAft>
                <a:spcPts val="0"/>
              </a:spcAft>
            </a:pPr>
            <a:r>
              <a:rPr sz="1100" b="0">
                <a:solidFill>
                  <a:srgbClr val="A8A8B0"/>
                </a:solidFill>
                <a:latin typeface="Segoe UI"/>
              </a:rPr>
              <a:t>Model distress risk</a:t>
            </a:r>
          </a:p>
        </p:txBody>
      </p:sp>
      <p:sp>
        <p:nvSpPr>
          <p:cNvPr id="16" name="TextBox 15"/>
          <p:cNvSpPr txBox="1"/>
          <p:nvPr/>
        </p:nvSpPr>
        <p:spPr>
          <a:xfrm>
            <a:off x="2697479" y="3813048"/>
            <a:ext cx="1234440" cy="274320"/>
          </a:xfrm>
          <a:prstGeom prst="rect">
            <a:avLst/>
          </a:prstGeom>
          <a:noFill/>
        </p:spPr>
        <p:txBody>
          <a:bodyPr wrap="square" lIns="0" rIns="0" tIns="0" bIns="0" anchor="t">
            <a:spAutoFit/>
          </a:bodyPr>
          <a:lstStyle/>
          <a:p>
            <a:pPr algn="r">
              <a:lnSpc>
                <a:spcPct val="112000"/>
              </a:lnSpc>
              <a:spcAft>
                <a:spcPts val="0"/>
              </a:spcAft>
            </a:pPr>
            <a:r>
              <a:rPr sz="1200" b="0">
                <a:solidFill>
                  <a:srgbClr val="F5F5F6"/>
                </a:solidFill>
                <a:latin typeface="Segoe UI Semibold"/>
              </a:rPr>
              <a:t>63.6%</a:t>
            </a:r>
          </a:p>
        </p:txBody>
      </p:sp>
      <p:cxnSp>
        <p:nvCxnSpPr>
          <p:cNvPr id="17" name="Connector 16"/>
          <p:cNvCxnSpPr/>
          <p:nvPr/>
        </p:nvCxnSpPr>
        <p:spPr>
          <a:xfrm>
            <a:off x="777240" y="4142232"/>
            <a:ext cx="3154680"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4233672"/>
            <a:ext cx="2148840" cy="274320"/>
          </a:xfrm>
          <a:prstGeom prst="rect">
            <a:avLst/>
          </a:prstGeom>
          <a:noFill/>
        </p:spPr>
        <p:txBody>
          <a:bodyPr wrap="square" lIns="0" rIns="0" tIns="0" bIns="0" anchor="t">
            <a:spAutoFit/>
          </a:bodyPr>
          <a:lstStyle/>
          <a:p>
            <a:pPr algn="l">
              <a:lnSpc>
                <a:spcPct val="112000"/>
              </a:lnSpc>
              <a:spcAft>
                <a:spcPts val="0"/>
              </a:spcAft>
            </a:pPr>
            <a:r>
              <a:rPr sz="1100" b="0">
                <a:solidFill>
                  <a:srgbClr val="A8A8B0"/>
                </a:solidFill>
                <a:latin typeface="Segoe UI"/>
              </a:rPr>
              <a:t>Natural offer</a:t>
            </a:r>
          </a:p>
        </p:txBody>
      </p:sp>
      <p:sp>
        <p:nvSpPr>
          <p:cNvPr id="19" name="TextBox 18"/>
          <p:cNvSpPr txBox="1"/>
          <p:nvPr/>
        </p:nvSpPr>
        <p:spPr>
          <a:xfrm>
            <a:off x="2697479" y="4233672"/>
            <a:ext cx="1234440" cy="274320"/>
          </a:xfrm>
          <a:prstGeom prst="rect">
            <a:avLst/>
          </a:prstGeom>
          <a:noFill/>
        </p:spPr>
        <p:txBody>
          <a:bodyPr wrap="square" lIns="0" rIns="0" tIns="0" bIns="0" anchor="t">
            <a:spAutoFit/>
          </a:bodyPr>
          <a:lstStyle/>
          <a:p>
            <a:pPr algn="r">
              <a:lnSpc>
                <a:spcPct val="112000"/>
              </a:lnSpc>
              <a:spcAft>
                <a:spcPts val="0"/>
              </a:spcAft>
            </a:pPr>
            <a:r>
              <a:rPr sz="1200" b="0">
                <a:solidFill>
                  <a:srgbClr val="F5F5F6"/>
                </a:solidFill>
                <a:latin typeface="Segoe UI Semibold"/>
              </a:rPr>
              <a:t>Withheld</a:t>
            </a:r>
          </a:p>
        </p:txBody>
      </p:sp>
      <p:cxnSp>
        <p:nvCxnSpPr>
          <p:cNvPr id="20" name="Connector 19"/>
          <p:cNvCxnSpPr/>
          <p:nvPr/>
        </p:nvCxnSpPr>
        <p:spPr>
          <a:xfrm>
            <a:off x="777240" y="4562856"/>
            <a:ext cx="3154680"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77240" y="4727448"/>
            <a:ext cx="3154680" cy="548640"/>
          </a:xfrm>
          <a:prstGeom prst="rect">
            <a:avLst/>
          </a:prstGeom>
          <a:noFill/>
        </p:spPr>
        <p:txBody>
          <a:bodyPr wrap="square" lIns="0" rIns="0" tIns="0" bIns="0" anchor="t">
            <a:spAutoFit/>
          </a:bodyPr>
          <a:lstStyle/>
          <a:p>
            <a:pPr algn="l">
              <a:lnSpc>
                <a:spcPct val="112000"/>
              </a:lnSpc>
              <a:spcAft>
                <a:spcPts val="0"/>
              </a:spcAft>
            </a:pPr>
            <a:r>
              <a:rPr sz="1100" b="0">
                <a:solidFill>
                  <a:srgbClr val="F5F5F6"/>
                </a:solidFill>
                <a:latin typeface="Segoe UI Semibold"/>
              </a:rPr>
              <a:t>Outcome  </a:t>
            </a:r>
            <a:r>
              <a:rPr sz="1100" b="0">
                <a:solidFill>
                  <a:srgbClr val="A8A8B0"/>
                </a:solidFill>
                <a:latin typeface="Segoe UI"/>
              </a:rPr>
              <a:t>EMI restructuring, no penalty.</a:t>
            </a:r>
          </a:p>
        </p:txBody>
      </p:sp>
      <p:sp>
        <p:nvSpPr>
          <p:cNvPr id="22" name="Rounded Rectangle 21"/>
          <p:cNvSpPr/>
          <p:nvPr/>
        </p:nvSpPr>
        <p:spPr>
          <a:xfrm>
            <a:off x="4434840" y="1600199"/>
            <a:ext cx="3611880" cy="3611880"/>
          </a:xfrm>
          <a:prstGeom prst="roundRect">
            <a:avLst>
              <a:gd name="adj" fmla="val 4000"/>
            </a:avLst>
          </a:prstGeom>
          <a:solidFill>
            <a:srgbClr val="16161A"/>
          </a:solidFill>
          <a:ln w="9525">
            <a:solidFill>
              <a:srgbClr val="303037"/>
            </a:solidFill>
          </a:ln>
        </p:spPr>
        <p:txBody>
          <a:bodyPr rtlCol="0" anchor="ctr"/>
          <a:lstStyle/>
          <a:p/>
        </p:txBody>
      </p:sp>
      <p:sp>
        <p:nvSpPr>
          <p:cNvPr id="23" name="TextBox 22"/>
          <p:cNvSpPr txBox="1"/>
          <p:nvPr/>
        </p:nvSpPr>
        <p:spPr>
          <a:xfrm>
            <a:off x="4663440" y="1801368"/>
            <a:ext cx="3154680" cy="320040"/>
          </a:xfrm>
          <a:prstGeom prst="rect">
            <a:avLst/>
          </a:prstGeom>
          <a:noFill/>
        </p:spPr>
        <p:txBody>
          <a:bodyPr wrap="square" lIns="0" rIns="0" tIns="0" bIns="0" anchor="t">
            <a:spAutoFit/>
          </a:bodyPr>
          <a:lstStyle/>
          <a:p>
            <a:pPr algn="l">
              <a:lnSpc>
                <a:spcPct val="112000"/>
              </a:lnSpc>
              <a:spcAft>
                <a:spcPts val="0"/>
              </a:spcAft>
            </a:pPr>
            <a:r>
              <a:rPr sz="1800" b="0">
                <a:solidFill>
                  <a:srgbClr val="F5F5F6"/>
                </a:solidFill>
                <a:latin typeface="Segoe UI Semibold"/>
              </a:rPr>
              <a:t>Suresh</a:t>
            </a:r>
          </a:p>
        </p:txBody>
      </p:sp>
      <p:sp>
        <p:nvSpPr>
          <p:cNvPr id="24" name="TextBox 23"/>
          <p:cNvSpPr txBox="1"/>
          <p:nvPr/>
        </p:nvSpPr>
        <p:spPr>
          <a:xfrm>
            <a:off x="4663440" y="2148840"/>
            <a:ext cx="3154680" cy="274320"/>
          </a:xfrm>
          <a:prstGeom prst="rect">
            <a:avLst/>
          </a:prstGeom>
          <a:noFill/>
        </p:spPr>
        <p:txBody>
          <a:bodyPr wrap="square" lIns="0" rIns="0" tIns="0" bIns="0" anchor="t">
            <a:spAutoFit/>
          </a:bodyPr>
          <a:lstStyle/>
          <a:p>
            <a:pPr algn="l">
              <a:lnSpc>
                <a:spcPct val="112000"/>
              </a:lnSpc>
              <a:spcAft>
                <a:spcPts val="0"/>
              </a:spcAft>
            </a:pPr>
            <a:r>
              <a:rPr sz="1050" b="0">
                <a:solidFill>
                  <a:srgbClr val="A8A8B0"/>
                </a:solidFill>
                <a:latin typeface="Segoe UI"/>
              </a:rPr>
              <a:t>Gig worker · Tier 4 town</a:t>
            </a:r>
          </a:p>
        </p:txBody>
      </p:sp>
      <p:sp>
        <p:nvSpPr>
          <p:cNvPr id="25" name="Rounded Rectangle 24"/>
          <p:cNvSpPr/>
          <p:nvPr/>
        </p:nvSpPr>
        <p:spPr>
          <a:xfrm>
            <a:off x="4663440" y="2514600"/>
            <a:ext cx="2302093" cy="246888"/>
          </a:xfrm>
          <a:prstGeom prst="roundRect">
            <a:avLst>
              <a:gd name="adj" fmla="val 18000"/>
            </a:avLst>
          </a:prstGeom>
          <a:solidFill>
            <a:srgbClr val="F5F5F6"/>
          </a:solidFill>
          <a:ln>
            <a:noFill/>
          </a:ln>
        </p:spPr>
        <p:txBody>
          <a:bodyPr rtlCol="0" anchor="ctr"/>
          <a:lstStyle/>
          <a:p/>
        </p:txBody>
      </p:sp>
      <p:sp>
        <p:nvSpPr>
          <p:cNvPr id="26" name="TextBox 25"/>
          <p:cNvSpPr txBox="1"/>
          <p:nvPr/>
        </p:nvSpPr>
        <p:spPr>
          <a:xfrm>
            <a:off x="4663440" y="2514600"/>
            <a:ext cx="2302093" cy="246888"/>
          </a:xfrm>
          <a:prstGeom prst="rect">
            <a:avLst/>
          </a:prstGeom>
          <a:noFill/>
        </p:spPr>
        <p:txBody>
          <a:bodyPr wrap="square" lIns="0" rIns="0" tIns="0" bIns="0" anchor="ctr">
            <a:spAutoFit/>
          </a:bodyPr>
          <a:lstStyle/>
          <a:p>
            <a:pPr algn="ctr">
              <a:lnSpc>
                <a:spcPct val="112000"/>
              </a:lnSpc>
              <a:spcAft>
                <a:spcPts val="0"/>
              </a:spcAft>
            </a:pPr>
            <a:r>
              <a:rPr sz="900" b="0">
                <a:solidFill>
                  <a:srgbClr val="0B0B0C"/>
                </a:solidFill>
                <a:latin typeface="Segoe UI Semibold"/>
              </a:rPr>
              <a:t>MODEL CATCHES WHAT RULES MISS</a:t>
            </a:r>
          </a:p>
        </p:txBody>
      </p:sp>
      <p:sp>
        <p:nvSpPr>
          <p:cNvPr id="27" name="TextBox 26"/>
          <p:cNvSpPr txBox="1"/>
          <p:nvPr/>
        </p:nvSpPr>
        <p:spPr>
          <a:xfrm>
            <a:off x="4663440" y="2971800"/>
            <a:ext cx="2148840" cy="274320"/>
          </a:xfrm>
          <a:prstGeom prst="rect">
            <a:avLst/>
          </a:prstGeom>
          <a:noFill/>
        </p:spPr>
        <p:txBody>
          <a:bodyPr wrap="square" lIns="0" rIns="0" tIns="0" bIns="0" anchor="t">
            <a:spAutoFit/>
          </a:bodyPr>
          <a:lstStyle/>
          <a:p>
            <a:pPr algn="l">
              <a:lnSpc>
                <a:spcPct val="112000"/>
              </a:lnSpc>
              <a:spcAft>
                <a:spcPts val="0"/>
              </a:spcAft>
            </a:pPr>
            <a:r>
              <a:rPr sz="1100" b="0">
                <a:solidFill>
                  <a:srgbClr val="A8A8B0"/>
                </a:solidFill>
                <a:latin typeface="Segoe UI"/>
              </a:rPr>
              <a:t>Missed EMIs, 90 days</a:t>
            </a:r>
          </a:p>
        </p:txBody>
      </p:sp>
      <p:sp>
        <p:nvSpPr>
          <p:cNvPr id="28" name="TextBox 27"/>
          <p:cNvSpPr txBox="1"/>
          <p:nvPr/>
        </p:nvSpPr>
        <p:spPr>
          <a:xfrm>
            <a:off x="6583680" y="2971800"/>
            <a:ext cx="1234440" cy="274320"/>
          </a:xfrm>
          <a:prstGeom prst="rect">
            <a:avLst/>
          </a:prstGeom>
          <a:noFill/>
        </p:spPr>
        <p:txBody>
          <a:bodyPr wrap="square" lIns="0" rIns="0" tIns="0" bIns="0" anchor="t">
            <a:spAutoFit/>
          </a:bodyPr>
          <a:lstStyle/>
          <a:p>
            <a:pPr algn="r">
              <a:lnSpc>
                <a:spcPct val="112000"/>
              </a:lnSpc>
              <a:spcAft>
                <a:spcPts val="0"/>
              </a:spcAft>
            </a:pPr>
            <a:r>
              <a:rPr sz="1200" b="0">
                <a:solidFill>
                  <a:srgbClr val="F5F5F6"/>
                </a:solidFill>
                <a:latin typeface="Segoe UI Semibold"/>
              </a:rPr>
              <a:t>0</a:t>
            </a:r>
          </a:p>
        </p:txBody>
      </p:sp>
      <p:cxnSp>
        <p:nvCxnSpPr>
          <p:cNvPr id="29" name="Connector 28"/>
          <p:cNvCxnSpPr/>
          <p:nvPr/>
        </p:nvCxnSpPr>
        <p:spPr>
          <a:xfrm>
            <a:off x="4663440" y="3300983"/>
            <a:ext cx="3154680"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663440" y="3392424"/>
            <a:ext cx="2148840" cy="274320"/>
          </a:xfrm>
          <a:prstGeom prst="rect">
            <a:avLst/>
          </a:prstGeom>
          <a:noFill/>
        </p:spPr>
        <p:txBody>
          <a:bodyPr wrap="square" lIns="0" rIns="0" tIns="0" bIns="0" anchor="t">
            <a:spAutoFit/>
          </a:bodyPr>
          <a:lstStyle/>
          <a:p>
            <a:pPr algn="l">
              <a:lnSpc>
                <a:spcPct val="112000"/>
              </a:lnSpc>
              <a:spcAft>
                <a:spcPts val="0"/>
              </a:spcAft>
            </a:pPr>
            <a:r>
              <a:rPr sz="1100" b="0">
                <a:solidFill>
                  <a:srgbClr val="A8A8B0"/>
                </a:solidFill>
                <a:latin typeface="Segoe UI"/>
              </a:rPr>
              <a:t>Rules wellness score</a:t>
            </a:r>
          </a:p>
        </p:txBody>
      </p:sp>
      <p:sp>
        <p:nvSpPr>
          <p:cNvPr id="31" name="TextBox 30"/>
          <p:cNvSpPr txBox="1"/>
          <p:nvPr/>
        </p:nvSpPr>
        <p:spPr>
          <a:xfrm>
            <a:off x="6583680" y="3392424"/>
            <a:ext cx="1234440" cy="274320"/>
          </a:xfrm>
          <a:prstGeom prst="rect">
            <a:avLst/>
          </a:prstGeom>
          <a:noFill/>
        </p:spPr>
        <p:txBody>
          <a:bodyPr wrap="square" lIns="0" rIns="0" tIns="0" bIns="0" anchor="t">
            <a:spAutoFit/>
          </a:bodyPr>
          <a:lstStyle/>
          <a:p>
            <a:pPr algn="r">
              <a:lnSpc>
                <a:spcPct val="112000"/>
              </a:lnSpc>
              <a:spcAft>
                <a:spcPts val="0"/>
              </a:spcAft>
            </a:pPr>
            <a:r>
              <a:rPr sz="1200" b="0">
                <a:solidFill>
                  <a:srgbClr val="F5F5F6"/>
                </a:solidFill>
                <a:latin typeface="Segoe UI Semibold"/>
              </a:rPr>
              <a:t>85 / 100</a:t>
            </a:r>
          </a:p>
        </p:txBody>
      </p:sp>
      <p:cxnSp>
        <p:nvCxnSpPr>
          <p:cNvPr id="32" name="Connector 31"/>
          <p:cNvCxnSpPr/>
          <p:nvPr/>
        </p:nvCxnSpPr>
        <p:spPr>
          <a:xfrm>
            <a:off x="4663440" y="3721608"/>
            <a:ext cx="3154680"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663440" y="3813048"/>
            <a:ext cx="2148840" cy="274320"/>
          </a:xfrm>
          <a:prstGeom prst="rect">
            <a:avLst/>
          </a:prstGeom>
          <a:noFill/>
        </p:spPr>
        <p:txBody>
          <a:bodyPr wrap="square" lIns="0" rIns="0" tIns="0" bIns="0" anchor="t">
            <a:spAutoFit/>
          </a:bodyPr>
          <a:lstStyle/>
          <a:p>
            <a:pPr algn="l">
              <a:lnSpc>
                <a:spcPct val="112000"/>
              </a:lnSpc>
              <a:spcAft>
                <a:spcPts val="0"/>
              </a:spcAft>
            </a:pPr>
            <a:r>
              <a:rPr sz="1100" b="0">
                <a:solidFill>
                  <a:srgbClr val="A8A8B0"/>
                </a:solidFill>
                <a:latin typeface="Segoe UI"/>
              </a:rPr>
              <a:t>Model distress risk</a:t>
            </a:r>
          </a:p>
        </p:txBody>
      </p:sp>
      <p:sp>
        <p:nvSpPr>
          <p:cNvPr id="34" name="TextBox 33"/>
          <p:cNvSpPr txBox="1"/>
          <p:nvPr/>
        </p:nvSpPr>
        <p:spPr>
          <a:xfrm>
            <a:off x="6583680" y="3813048"/>
            <a:ext cx="1234440" cy="274320"/>
          </a:xfrm>
          <a:prstGeom prst="rect">
            <a:avLst/>
          </a:prstGeom>
          <a:noFill/>
        </p:spPr>
        <p:txBody>
          <a:bodyPr wrap="square" lIns="0" rIns="0" tIns="0" bIns="0" anchor="t">
            <a:spAutoFit/>
          </a:bodyPr>
          <a:lstStyle/>
          <a:p>
            <a:pPr algn="r">
              <a:lnSpc>
                <a:spcPct val="112000"/>
              </a:lnSpc>
              <a:spcAft>
                <a:spcPts val="0"/>
              </a:spcAft>
            </a:pPr>
            <a:r>
              <a:rPr sz="1200" b="0">
                <a:solidFill>
                  <a:srgbClr val="F5F5F6"/>
                </a:solidFill>
                <a:latin typeface="Segoe UI Semibold"/>
              </a:rPr>
              <a:t>15.6%</a:t>
            </a:r>
          </a:p>
        </p:txBody>
      </p:sp>
      <p:cxnSp>
        <p:nvCxnSpPr>
          <p:cNvPr id="35" name="Connector 34"/>
          <p:cNvCxnSpPr/>
          <p:nvPr/>
        </p:nvCxnSpPr>
        <p:spPr>
          <a:xfrm>
            <a:off x="4663440" y="4142232"/>
            <a:ext cx="3154680"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663440" y="4233672"/>
            <a:ext cx="2148840" cy="274320"/>
          </a:xfrm>
          <a:prstGeom prst="rect">
            <a:avLst/>
          </a:prstGeom>
          <a:noFill/>
        </p:spPr>
        <p:txBody>
          <a:bodyPr wrap="square" lIns="0" rIns="0" tIns="0" bIns="0" anchor="t">
            <a:spAutoFit/>
          </a:bodyPr>
          <a:lstStyle/>
          <a:p>
            <a:pPr algn="l">
              <a:lnSpc>
                <a:spcPct val="112000"/>
              </a:lnSpc>
              <a:spcAft>
                <a:spcPts val="0"/>
              </a:spcAft>
            </a:pPr>
            <a:r>
              <a:rPr sz="1100" b="0">
                <a:solidFill>
                  <a:srgbClr val="A8A8B0"/>
                </a:solidFill>
                <a:latin typeface="Segoe UI"/>
              </a:rPr>
              <a:t>Intervention threshold</a:t>
            </a:r>
          </a:p>
        </p:txBody>
      </p:sp>
      <p:sp>
        <p:nvSpPr>
          <p:cNvPr id="37" name="TextBox 36"/>
          <p:cNvSpPr txBox="1"/>
          <p:nvPr/>
        </p:nvSpPr>
        <p:spPr>
          <a:xfrm>
            <a:off x="6583680" y="4233672"/>
            <a:ext cx="1234440" cy="274320"/>
          </a:xfrm>
          <a:prstGeom prst="rect">
            <a:avLst/>
          </a:prstGeom>
          <a:noFill/>
        </p:spPr>
        <p:txBody>
          <a:bodyPr wrap="square" lIns="0" rIns="0" tIns="0" bIns="0" anchor="t">
            <a:spAutoFit/>
          </a:bodyPr>
          <a:lstStyle/>
          <a:p>
            <a:pPr algn="r">
              <a:lnSpc>
                <a:spcPct val="112000"/>
              </a:lnSpc>
              <a:spcAft>
                <a:spcPts val="0"/>
              </a:spcAft>
            </a:pPr>
            <a:r>
              <a:rPr sz="1200" b="0">
                <a:solidFill>
                  <a:srgbClr val="F5F5F6"/>
                </a:solidFill>
                <a:latin typeface="Segoe UI Semibold"/>
              </a:rPr>
              <a:t>10%</a:t>
            </a:r>
          </a:p>
        </p:txBody>
      </p:sp>
      <p:cxnSp>
        <p:nvCxnSpPr>
          <p:cNvPr id="38" name="Connector 37"/>
          <p:cNvCxnSpPr/>
          <p:nvPr/>
        </p:nvCxnSpPr>
        <p:spPr>
          <a:xfrm>
            <a:off x="4663440" y="4562856"/>
            <a:ext cx="3154680"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663440" y="4727448"/>
            <a:ext cx="3154680" cy="548640"/>
          </a:xfrm>
          <a:prstGeom prst="rect">
            <a:avLst/>
          </a:prstGeom>
          <a:noFill/>
        </p:spPr>
        <p:txBody>
          <a:bodyPr wrap="square" lIns="0" rIns="0" tIns="0" bIns="0" anchor="t">
            <a:spAutoFit/>
          </a:bodyPr>
          <a:lstStyle/>
          <a:p>
            <a:pPr algn="l">
              <a:lnSpc>
                <a:spcPct val="112000"/>
              </a:lnSpc>
              <a:spcAft>
                <a:spcPts val="0"/>
              </a:spcAft>
            </a:pPr>
            <a:r>
              <a:rPr sz="1100" b="0">
                <a:solidFill>
                  <a:srgbClr val="F5F5F6"/>
                </a:solidFill>
                <a:latin typeface="Segoe UI Semibold"/>
              </a:rPr>
              <a:t>Outcome  </a:t>
            </a:r>
            <a:r>
              <a:rPr sz="1100" b="0">
                <a:solidFill>
                  <a:srgbClr val="A8A8B0"/>
                </a:solidFill>
                <a:latin typeface="Segoe UI"/>
              </a:rPr>
              <a:t>Vehicle loan held back before anything goes wrong.</a:t>
            </a:r>
          </a:p>
        </p:txBody>
      </p:sp>
      <p:sp>
        <p:nvSpPr>
          <p:cNvPr id="40" name="TextBox 39"/>
          <p:cNvSpPr txBox="1"/>
          <p:nvPr/>
        </p:nvSpPr>
        <p:spPr>
          <a:xfrm>
            <a:off x="8321040" y="1645920"/>
            <a:ext cx="3322015" cy="320040"/>
          </a:xfrm>
          <a:prstGeom prst="rect">
            <a:avLst/>
          </a:prstGeom>
          <a:noFill/>
        </p:spPr>
        <p:txBody>
          <a:bodyPr wrap="square" lIns="0" rIns="0" tIns="0" bIns="0" anchor="t">
            <a:spAutoFit/>
          </a:bodyPr>
          <a:lstStyle/>
          <a:p>
            <a:pPr algn="l">
              <a:lnSpc>
                <a:spcPct val="112000"/>
              </a:lnSpc>
              <a:spcAft>
                <a:spcPts val="0"/>
              </a:spcAft>
            </a:pPr>
            <a:r>
              <a:rPr sz="1600" b="0">
                <a:solidFill>
                  <a:srgbClr val="F5F5F6"/>
                </a:solidFill>
                <a:latin typeface="Segoe UI Semibold"/>
              </a:rPr>
              <a:t>Support, not a default flag</a:t>
            </a:r>
          </a:p>
        </p:txBody>
      </p:sp>
      <p:sp>
        <p:nvSpPr>
          <p:cNvPr id="41" name="TextBox 40"/>
          <p:cNvSpPr txBox="1"/>
          <p:nvPr/>
        </p:nvSpPr>
        <p:spPr>
          <a:xfrm>
            <a:off x="8321040" y="2011680"/>
            <a:ext cx="3322015" cy="1188720"/>
          </a:xfrm>
          <a:prstGeom prst="rect">
            <a:avLst/>
          </a:prstGeom>
          <a:noFill/>
        </p:spPr>
        <p:txBody>
          <a:bodyPr wrap="square" lIns="0" rIns="0" tIns="0" bIns="0" anchor="t">
            <a:spAutoFit/>
          </a:bodyPr>
          <a:lstStyle/>
          <a:p>
            <a:pPr algn="l">
              <a:lnSpc>
                <a:spcPct val="118000"/>
              </a:lnSpc>
              <a:spcAft>
                <a:spcPts val="0"/>
              </a:spcAft>
            </a:pPr>
            <a:r>
              <a:rPr sz="1150" b="0">
                <a:solidFill>
                  <a:srgbClr val="A8A8B0"/>
                </a:solidFill>
                <a:latin typeface="Segoe UI"/>
              </a:rPr>
              <a:t>The intervention is a check-in and EMI relief. Never a penalty, never a quiet credit offer, and never an immediate default flag.</a:t>
            </a:r>
          </a:p>
        </p:txBody>
      </p:sp>
      <p:sp>
        <p:nvSpPr>
          <p:cNvPr id="42" name="Rounded Rectangle 41"/>
          <p:cNvSpPr/>
          <p:nvPr/>
        </p:nvSpPr>
        <p:spPr>
          <a:xfrm>
            <a:off x="8321040" y="3063240"/>
            <a:ext cx="3322015" cy="1417320"/>
          </a:xfrm>
          <a:prstGeom prst="roundRect">
            <a:avLst>
              <a:gd name="adj" fmla="val 5000"/>
            </a:avLst>
          </a:prstGeom>
          <a:solidFill>
            <a:srgbClr val="1F1F24"/>
          </a:solidFill>
          <a:ln w="9525">
            <a:solidFill>
              <a:srgbClr val="303037"/>
            </a:solidFill>
          </a:ln>
        </p:spPr>
        <p:txBody>
          <a:bodyPr rtlCol="0" anchor="ctr"/>
          <a:lstStyle/>
          <a:p/>
        </p:txBody>
      </p:sp>
      <p:sp>
        <p:nvSpPr>
          <p:cNvPr id="43" name="TextBox 42"/>
          <p:cNvSpPr txBox="1"/>
          <p:nvPr/>
        </p:nvSpPr>
        <p:spPr>
          <a:xfrm>
            <a:off x="8503919" y="3218688"/>
            <a:ext cx="2956255" cy="1143000"/>
          </a:xfrm>
          <a:prstGeom prst="rect">
            <a:avLst/>
          </a:prstGeom>
          <a:noFill/>
        </p:spPr>
        <p:txBody>
          <a:bodyPr wrap="square" lIns="0" rIns="0" tIns="0" bIns="0" anchor="t">
            <a:spAutoFit/>
          </a:bodyPr>
          <a:lstStyle/>
          <a:p>
            <a:pPr algn="l">
              <a:lnSpc>
                <a:spcPct val="135000"/>
              </a:lnSpc>
              <a:spcAft>
                <a:spcPts val="0"/>
              </a:spcAft>
            </a:pPr>
            <a:r>
              <a:rPr sz="1200" b="0">
                <a:solidFill>
                  <a:srgbClr val="F5F5F6"/>
                </a:solidFill>
                <a:latin typeface="Nirmala UI"/>
                <a:cs typeface="Nirmala UI"/>
              </a:rPr>
              <a:t>DhanSathi: इस माह खर्च ज़्यादा दिखा. कोई नया ऑफ़र नहीं. EMI राहत के लिए 1 दबाएँ. मदद: 1800-XXX.</a:t>
            </a:r>
          </a:p>
        </p:txBody>
      </p:sp>
      <p:sp>
        <p:nvSpPr>
          <p:cNvPr id="44" name="TextBox 43"/>
          <p:cNvSpPr txBox="1"/>
          <p:nvPr/>
        </p:nvSpPr>
        <p:spPr>
          <a:xfrm>
            <a:off x="8321040" y="4572000"/>
            <a:ext cx="3322015" cy="457200"/>
          </a:xfrm>
          <a:prstGeom prst="rect">
            <a:avLst/>
          </a:prstGeom>
          <a:noFill/>
        </p:spPr>
        <p:txBody>
          <a:bodyPr wrap="square" lIns="0" rIns="0" tIns="0" bIns="0" anchor="t">
            <a:spAutoFit/>
          </a:bodyPr>
          <a:lstStyle/>
          <a:p>
            <a:pPr algn="l">
              <a:lnSpc>
                <a:spcPct val="110000"/>
              </a:lnSpc>
              <a:spcAft>
                <a:spcPts val="0"/>
              </a:spcAft>
            </a:pPr>
            <a:r>
              <a:rPr sz="1000" b="0">
                <a:solidFill>
                  <a:srgbClr val="70707A"/>
                </a:solidFill>
                <a:latin typeface="Segoe UI"/>
              </a:rPr>
              <a:t>Sunita's SMS, 95 of 160 characters, no smartphone needed.</a:t>
            </a:r>
          </a:p>
        </p:txBody>
      </p:sp>
      <p:sp>
        <p:nvSpPr>
          <p:cNvPr id="45" name="TextBox 44"/>
          <p:cNvSpPr txBox="1"/>
          <p:nvPr/>
        </p:nvSpPr>
        <p:spPr>
          <a:xfrm>
            <a:off x="8321040" y="5166360"/>
            <a:ext cx="3322015" cy="685800"/>
          </a:xfrm>
          <a:prstGeom prst="rect">
            <a:avLst/>
          </a:prstGeom>
          <a:noFill/>
        </p:spPr>
        <p:txBody>
          <a:bodyPr wrap="square" lIns="0" rIns="0" tIns="0" bIns="0" anchor="t">
            <a:spAutoFit/>
          </a:bodyPr>
          <a:lstStyle/>
          <a:p>
            <a:pPr algn="l">
              <a:lnSpc>
                <a:spcPct val="115000"/>
              </a:lnSpc>
              <a:spcAft>
                <a:spcPts val="0"/>
              </a:spcAft>
            </a:pPr>
            <a:r>
              <a:rPr sz="1050" b="0">
                <a:solidFill>
                  <a:srgbClr val="F5F5F6"/>
                </a:solidFill>
                <a:latin typeface="Segoe UI Semibold"/>
              </a:rPr>
              <a:t>Found in the data, not planted. </a:t>
            </a:r>
            <a:r>
              <a:rPr sz="1050" b="0">
                <a:solidFill>
                  <a:srgbClr val="A8A8B0"/>
                </a:solidFill>
                <a:latin typeface="Segoe UI"/>
              </a:rPr>
              <a:t>Suresh is one of fifteen seed customers; the escalation fell out of the model.</a:t>
            </a:r>
          </a:p>
        </p:txBody>
      </p:sp>
      <p:cxnSp>
        <p:nvCxnSpPr>
          <p:cNvPr id="46" name="Connector 45"/>
          <p:cNvCxnSpPr/>
          <p:nvPr/>
        </p:nvCxnSpPr>
        <p:spPr>
          <a:xfrm>
            <a:off x="548640" y="6400800"/>
            <a:ext cx="11094415"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48640" y="6492240"/>
            <a:ext cx="5486400" cy="22860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a:rPr>
              <a:t>DhanSathi  ·  Explainable banking for Bharat</a:t>
            </a:r>
          </a:p>
        </p:txBody>
      </p:sp>
      <p:sp>
        <p:nvSpPr>
          <p:cNvPr id="48" name="TextBox 47"/>
          <p:cNvSpPr txBox="1"/>
          <p:nvPr/>
        </p:nvSpPr>
        <p:spPr>
          <a:xfrm>
            <a:off x="9814255" y="6492240"/>
            <a:ext cx="1828800" cy="228600"/>
          </a:xfrm>
          <a:prstGeom prst="rect">
            <a:avLst/>
          </a:prstGeom>
          <a:noFill/>
        </p:spPr>
        <p:txBody>
          <a:bodyPr wrap="square" lIns="0" rIns="0" tIns="0" bIns="0" anchor="t">
            <a:spAutoFit/>
          </a:bodyPr>
          <a:lstStyle/>
          <a:p>
            <a:pPr algn="r">
              <a:lnSpc>
                <a:spcPct val="112000"/>
              </a:lnSpc>
              <a:spcAft>
                <a:spcPts val="0"/>
              </a:spcAft>
            </a:pPr>
            <a:r>
              <a:rPr sz="900" b="0">
                <a:solidFill>
                  <a:srgbClr val="70707A"/>
                </a:solidFill>
                <a:latin typeface="Segoe UI"/>
              </a:rPr>
              <a:t>06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Semibold"/>
              </a:rPr>
              <a:t>06 · AI / ML APPROACH  (DELIVERABLE)</a:t>
            </a:r>
          </a:p>
        </p:txBody>
      </p:sp>
      <p:sp>
        <p:nvSpPr>
          <p:cNvPr id="3" name="TextBox 2"/>
          <p:cNvSpPr txBox="1"/>
          <p:nvPr/>
        </p:nvSpPr>
        <p:spPr>
          <a:xfrm>
            <a:off x="548640" y="658368"/>
            <a:ext cx="11094415" cy="1097280"/>
          </a:xfrm>
          <a:prstGeom prst="rect">
            <a:avLst/>
          </a:prstGeom>
          <a:noFill/>
        </p:spPr>
        <p:txBody>
          <a:bodyPr wrap="square" lIns="0" rIns="0" tIns="0" bIns="0" anchor="t">
            <a:spAutoFit/>
          </a:bodyPr>
          <a:lstStyle/>
          <a:p>
            <a:pPr algn="l">
              <a:lnSpc>
                <a:spcPct val="102000"/>
              </a:lnSpc>
              <a:spcAft>
                <a:spcPts val="0"/>
              </a:spcAft>
            </a:pPr>
            <a:r>
              <a:rPr sz="2800" b="0">
                <a:solidFill>
                  <a:srgbClr val="F5F5F6"/>
                </a:solidFill>
                <a:latin typeface="Segoe UI Semibold"/>
              </a:rPr>
              <a:t>Machine learning where it helps. Arithmetic where it has to be exact.</a:t>
            </a:r>
          </a:p>
        </p:txBody>
      </p:sp>
      <p:sp>
        <p:nvSpPr>
          <p:cNvPr id="4" name="Rounded Rectangle 3"/>
          <p:cNvSpPr/>
          <p:nvPr/>
        </p:nvSpPr>
        <p:spPr>
          <a:xfrm>
            <a:off x="548640" y="1645920"/>
            <a:ext cx="3611880" cy="1783080"/>
          </a:xfrm>
          <a:prstGeom prst="roundRect">
            <a:avLst>
              <a:gd name="adj" fmla="val 4000"/>
            </a:avLst>
          </a:prstGeom>
          <a:solidFill>
            <a:srgbClr val="16161A"/>
          </a:solidFill>
          <a:ln w="9525">
            <a:solidFill>
              <a:srgbClr val="303037"/>
            </a:solidFill>
          </a:ln>
        </p:spPr>
        <p:txBody>
          <a:bodyPr rtlCol="0" anchor="ctr"/>
          <a:lstStyle/>
          <a:p/>
        </p:txBody>
      </p:sp>
      <p:sp>
        <p:nvSpPr>
          <p:cNvPr id="5" name="TextBox 4"/>
          <p:cNvSpPr txBox="1"/>
          <p:nvPr/>
        </p:nvSpPr>
        <p:spPr>
          <a:xfrm>
            <a:off x="749808" y="1847088"/>
            <a:ext cx="3209544" cy="502920"/>
          </a:xfrm>
          <a:prstGeom prst="rect">
            <a:avLst/>
          </a:prstGeom>
          <a:noFill/>
        </p:spPr>
        <p:txBody>
          <a:bodyPr wrap="square" lIns="0" rIns="0" tIns="0" bIns="0" anchor="t">
            <a:spAutoFit/>
          </a:bodyPr>
          <a:lstStyle/>
          <a:p>
            <a:pPr algn="l">
              <a:lnSpc>
                <a:spcPct val="105000"/>
              </a:lnSpc>
              <a:spcAft>
                <a:spcPts val="0"/>
              </a:spcAft>
            </a:pPr>
            <a:r>
              <a:rPr sz="1500" b="0">
                <a:solidFill>
                  <a:srgbClr val="F5F5F6"/>
                </a:solidFill>
                <a:latin typeface="Segoe UI Semibold"/>
              </a:rPr>
              <a:t>Distress prediction</a:t>
            </a:r>
          </a:p>
        </p:txBody>
      </p:sp>
      <p:sp>
        <p:nvSpPr>
          <p:cNvPr id="6" name="TextBox 5"/>
          <p:cNvSpPr txBox="1"/>
          <p:nvPr/>
        </p:nvSpPr>
        <p:spPr>
          <a:xfrm>
            <a:off x="749808" y="2173986"/>
            <a:ext cx="3209544" cy="1053845"/>
          </a:xfrm>
          <a:prstGeom prst="rect">
            <a:avLst/>
          </a:prstGeom>
          <a:noFill/>
        </p:spPr>
        <p:txBody>
          <a:bodyPr wrap="square" lIns="0" rIns="0" tIns="0" bIns="0" anchor="t">
            <a:spAutoFit/>
          </a:bodyPr>
          <a:lstStyle/>
          <a:p>
            <a:pPr algn="l">
              <a:lnSpc>
                <a:spcPct val="115000"/>
              </a:lnSpc>
              <a:spcAft>
                <a:spcPts val="0"/>
              </a:spcAft>
            </a:pPr>
            <a:r>
              <a:rPr sz="1100" b="0">
                <a:solidFill>
                  <a:srgbClr val="A8A8B0"/>
                </a:solidFill>
                <a:latin typeface="Segoe UI"/>
              </a:rPr>
              <a:t>L2-regularised logistic regression with monotonic sign constraints: more missed EMIs can never lower risk, by construction. Test AUC 0.72 at a 7.1% base rate — honest, not leaked.</a:t>
            </a:r>
          </a:p>
        </p:txBody>
      </p:sp>
      <p:sp>
        <p:nvSpPr>
          <p:cNvPr id="7" name="Rounded Rectangle 6"/>
          <p:cNvSpPr/>
          <p:nvPr/>
        </p:nvSpPr>
        <p:spPr>
          <a:xfrm>
            <a:off x="4389120" y="1645920"/>
            <a:ext cx="3611880" cy="1783080"/>
          </a:xfrm>
          <a:prstGeom prst="roundRect">
            <a:avLst>
              <a:gd name="adj" fmla="val 4000"/>
            </a:avLst>
          </a:prstGeom>
          <a:solidFill>
            <a:srgbClr val="16161A"/>
          </a:solidFill>
          <a:ln w="9525">
            <a:solidFill>
              <a:srgbClr val="303037"/>
            </a:solidFill>
          </a:ln>
        </p:spPr>
        <p:txBody>
          <a:bodyPr rtlCol="0" anchor="ctr"/>
          <a:lstStyle/>
          <a:p/>
        </p:txBody>
      </p:sp>
      <p:sp>
        <p:nvSpPr>
          <p:cNvPr id="8" name="TextBox 7"/>
          <p:cNvSpPr txBox="1"/>
          <p:nvPr/>
        </p:nvSpPr>
        <p:spPr>
          <a:xfrm>
            <a:off x="4590288" y="1847088"/>
            <a:ext cx="3209544" cy="502920"/>
          </a:xfrm>
          <a:prstGeom prst="rect">
            <a:avLst/>
          </a:prstGeom>
          <a:noFill/>
        </p:spPr>
        <p:txBody>
          <a:bodyPr wrap="square" lIns="0" rIns="0" tIns="0" bIns="0" anchor="t">
            <a:spAutoFit/>
          </a:bodyPr>
          <a:lstStyle/>
          <a:p>
            <a:pPr algn="l">
              <a:lnSpc>
                <a:spcPct val="105000"/>
              </a:lnSpc>
              <a:spcAft>
                <a:spcPts val="0"/>
              </a:spcAft>
            </a:pPr>
            <a:r>
              <a:rPr sz="1500" b="0">
                <a:solidFill>
                  <a:srgbClr val="F5F5F6"/>
                </a:solidFill>
                <a:latin typeface="Segoe UI Semibold"/>
              </a:rPr>
              <a:t>Threshold chosen by cost</a:t>
            </a:r>
          </a:p>
        </p:txBody>
      </p:sp>
      <p:sp>
        <p:nvSpPr>
          <p:cNvPr id="9" name="TextBox 8"/>
          <p:cNvSpPr txBox="1"/>
          <p:nvPr/>
        </p:nvSpPr>
        <p:spPr>
          <a:xfrm>
            <a:off x="4590288" y="2173986"/>
            <a:ext cx="3209544" cy="1053845"/>
          </a:xfrm>
          <a:prstGeom prst="rect">
            <a:avLst/>
          </a:prstGeom>
          <a:noFill/>
        </p:spPr>
        <p:txBody>
          <a:bodyPr wrap="square" lIns="0" rIns="0" tIns="0" bIns="0" anchor="t">
            <a:spAutoFit/>
          </a:bodyPr>
          <a:lstStyle/>
          <a:p>
            <a:pPr algn="l">
              <a:lnSpc>
                <a:spcPct val="115000"/>
              </a:lnSpc>
              <a:spcAft>
                <a:spcPts val="0"/>
              </a:spcAft>
            </a:pPr>
            <a:r>
              <a:rPr sz="1100" b="0">
                <a:solidFill>
                  <a:srgbClr val="A8A8B0"/>
                </a:solidFill>
                <a:latin typeface="Segoe UI"/>
              </a:rPr>
              <a:t>A missed warning costs 10× a false alarm. We minimise total cost with at most 20% of customers flagged, which gives a 10% threshold and 39% recall.</a:t>
            </a:r>
          </a:p>
        </p:txBody>
      </p:sp>
      <p:sp>
        <p:nvSpPr>
          <p:cNvPr id="10" name="Rounded Rectangle 9"/>
          <p:cNvSpPr/>
          <p:nvPr/>
        </p:nvSpPr>
        <p:spPr>
          <a:xfrm>
            <a:off x="548640" y="3657600"/>
            <a:ext cx="3611880" cy="1783080"/>
          </a:xfrm>
          <a:prstGeom prst="roundRect">
            <a:avLst>
              <a:gd name="adj" fmla="val 4000"/>
            </a:avLst>
          </a:prstGeom>
          <a:solidFill>
            <a:srgbClr val="16161A"/>
          </a:solidFill>
          <a:ln w="9525">
            <a:solidFill>
              <a:srgbClr val="303037"/>
            </a:solidFill>
          </a:ln>
        </p:spPr>
        <p:txBody>
          <a:bodyPr rtlCol="0" anchor="ctr"/>
          <a:lstStyle/>
          <a:p/>
        </p:txBody>
      </p:sp>
      <p:sp>
        <p:nvSpPr>
          <p:cNvPr id="11" name="TextBox 10"/>
          <p:cNvSpPr txBox="1"/>
          <p:nvPr/>
        </p:nvSpPr>
        <p:spPr>
          <a:xfrm>
            <a:off x="749808" y="3858768"/>
            <a:ext cx="3209544" cy="502920"/>
          </a:xfrm>
          <a:prstGeom prst="rect">
            <a:avLst/>
          </a:prstGeom>
          <a:noFill/>
        </p:spPr>
        <p:txBody>
          <a:bodyPr wrap="square" lIns="0" rIns="0" tIns="0" bIns="0" anchor="t">
            <a:spAutoFit/>
          </a:bodyPr>
          <a:lstStyle/>
          <a:p>
            <a:pPr algn="l">
              <a:lnSpc>
                <a:spcPct val="105000"/>
              </a:lnSpc>
              <a:spcAft>
                <a:spcPts val="0"/>
              </a:spcAft>
            </a:pPr>
            <a:r>
              <a:rPr sz="1500" b="0">
                <a:solidFill>
                  <a:srgbClr val="F5F5F6"/>
                </a:solidFill>
                <a:latin typeface="Segoe UI Semibold"/>
              </a:rPr>
              <a:t>Behavioural segmentation</a:t>
            </a:r>
          </a:p>
        </p:txBody>
      </p:sp>
      <p:sp>
        <p:nvSpPr>
          <p:cNvPr id="12" name="TextBox 11"/>
          <p:cNvSpPr txBox="1"/>
          <p:nvPr/>
        </p:nvSpPr>
        <p:spPr>
          <a:xfrm>
            <a:off x="749808" y="4185666"/>
            <a:ext cx="3209544" cy="1053846"/>
          </a:xfrm>
          <a:prstGeom prst="rect">
            <a:avLst/>
          </a:prstGeom>
          <a:noFill/>
        </p:spPr>
        <p:txBody>
          <a:bodyPr wrap="square" lIns="0" rIns="0" tIns="0" bIns="0" anchor="t">
            <a:spAutoFit/>
          </a:bodyPr>
          <a:lstStyle/>
          <a:p>
            <a:pPr algn="l">
              <a:lnSpc>
                <a:spcPct val="115000"/>
              </a:lnSpc>
              <a:spcAft>
                <a:spcPts val="0"/>
              </a:spcAft>
            </a:pPr>
            <a:r>
              <a:rPr sz="1100" b="0">
                <a:solidFill>
                  <a:srgbClr val="A8A8B0"/>
                </a:solidFill>
                <a:latin typeface="Segoe UI"/>
              </a:rPr>
              <a:t>k-means, k = 4, over savings, EMI misses, volatility and income regularity: steady earner 25%, under pressure 19%, disciplined saver 26%, variable income 30%.</a:t>
            </a:r>
          </a:p>
        </p:txBody>
      </p:sp>
      <p:sp>
        <p:nvSpPr>
          <p:cNvPr id="13" name="Rounded Rectangle 12"/>
          <p:cNvSpPr/>
          <p:nvPr/>
        </p:nvSpPr>
        <p:spPr>
          <a:xfrm>
            <a:off x="4389120" y="3657600"/>
            <a:ext cx="3611880" cy="1783080"/>
          </a:xfrm>
          <a:prstGeom prst="roundRect">
            <a:avLst>
              <a:gd name="adj" fmla="val 4000"/>
            </a:avLst>
          </a:prstGeom>
          <a:solidFill>
            <a:srgbClr val="16161A"/>
          </a:solidFill>
          <a:ln w="9525">
            <a:solidFill>
              <a:srgbClr val="303037"/>
            </a:solidFill>
          </a:ln>
        </p:spPr>
        <p:txBody>
          <a:bodyPr rtlCol="0" anchor="ctr"/>
          <a:lstStyle/>
          <a:p/>
        </p:txBody>
      </p:sp>
      <p:sp>
        <p:nvSpPr>
          <p:cNvPr id="14" name="TextBox 13"/>
          <p:cNvSpPr txBox="1"/>
          <p:nvPr/>
        </p:nvSpPr>
        <p:spPr>
          <a:xfrm>
            <a:off x="4590288" y="3858768"/>
            <a:ext cx="3209544" cy="502920"/>
          </a:xfrm>
          <a:prstGeom prst="rect">
            <a:avLst/>
          </a:prstGeom>
          <a:noFill/>
        </p:spPr>
        <p:txBody>
          <a:bodyPr wrap="square" lIns="0" rIns="0" tIns="0" bIns="0" anchor="t">
            <a:spAutoFit/>
          </a:bodyPr>
          <a:lstStyle/>
          <a:p>
            <a:pPr algn="l">
              <a:lnSpc>
                <a:spcPct val="105000"/>
              </a:lnSpc>
              <a:spcAft>
                <a:spcPts val="0"/>
              </a:spcAft>
            </a:pPr>
            <a:r>
              <a:rPr sz="1500" b="0">
                <a:solidFill>
                  <a:srgbClr val="F5F5F6"/>
                </a:solidFill>
                <a:latin typeface="Segoe UI Semibold"/>
              </a:rPr>
              <a:t>Vernacular NLP</a:t>
            </a:r>
          </a:p>
        </p:txBody>
      </p:sp>
      <p:sp>
        <p:nvSpPr>
          <p:cNvPr id="15" name="TextBox 14"/>
          <p:cNvSpPr txBox="1"/>
          <p:nvPr/>
        </p:nvSpPr>
        <p:spPr>
          <a:xfrm>
            <a:off x="4590288" y="4185666"/>
            <a:ext cx="3209544" cy="1053846"/>
          </a:xfrm>
          <a:prstGeom prst="rect">
            <a:avLst/>
          </a:prstGeom>
          <a:noFill/>
        </p:spPr>
        <p:txBody>
          <a:bodyPr wrap="square" lIns="0" rIns="0" tIns="0" bIns="0" anchor="t">
            <a:spAutoFit/>
          </a:bodyPr>
          <a:lstStyle/>
          <a:p>
            <a:pPr algn="l">
              <a:lnSpc>
                <a:spcPct val="115000"/>
              </a:lnSpc>
              <a:spcAft>
                <a:spcPts val="0"/>
              </a:spcAft>
            </a:pPr>
            <a:r>
              <a:rPr sz="1100" b="0">
                <a:solidFill>
                  <a:srgbClr val="A8A8B0"/>
                </a:solidFill>
                <a:latin typeface="Segoe UI"/>
              </a:rPr>
              <a:t>LLM narration grounded only in the reason trace and figure-checked by output guardrails. A deterministic topic and injection guard for Hindi, Hinglish and Devanagari.</a:t>
            </a:r>
          </a:p>
        </p:txBody>
      </p:sp>
      <p:pic>
        <p:nvPicPr>
          <p:cNvPr id="16" name="Picture 15" descr="contrib.png"/>
          <p:cNvPicPr>
            <a:picLocks noChangeAspect="1"/>
          </p:cNvPicPr>
          <p:nvPr/>
        </p:nvPicPr>
        <p:blipFill>
          <a:blip r:embed="rId2"/>
          <a:stretch>
            <a:fillRect/>
          </a:stretch>
        </p:blipFill>
        <p:spPr>
          <a:xfrm>
            <a:off x="9150748" y="1645920"/>
            <a:ext cx="1754037" cy="3200400"/>
          </a:xfrm>
          <a:prstGeom prst="rect">
            <a:avLst/>
          </a:prstGeom>
          <a:ln w="9525">
            <a:solidFill>
              <a:srgbClr val="303037"/>
            </a:solidFill>
          </a:ln>
        </p:spPr>
      </p:pic>
      <p:sp>
        <p:nvSpPr>
          <p:cNvPr id="17" name="TextBox 16"/>
          <p:cNvSpPr txBox="1"/>
          <p:nvPr/>
        </p:nvSpPr>
        <p:spPr>
          <a:xfrm>
            <a:off x="8412480" y="4937760"/>
            <a:ext cx="3230575" cy="411480"/>
          </a:xfrm>
          <a:prstGeom prst="rect">
            <a:avLst/>
          </a:prstGeom>
          <a:noFill/>
        </p:spPr>
        <p:txBody>
          <a:bodyPr wrap="square" lIns="0" rIns="0" tIns="0" bIns="0" anchor="t">
            <a:spAutoFit/>
          </a:bodyPr>
          <a:lstStyle/>
          <a:p>
            <a:pPr algn="l">
              <a:lnSpc>
                <a:spcPct val="112000"/>
              </a:lnSpc>
              <a:spcAft>
                <a:spcPts val="0"/>
              </a:spcAft>
            </a:pPr>
            <a:r>
              <a:rPr sz="1000" b="0">
                <a:solidFill>
                  <a:srgbClr val="A8A8B0"/>
                </a:solidFill>
                <a:latin typeface="Segoe UI"/>
              </a:rPr>
              <a:t>Exact per-feature contributions. Additive, so it is arithmetic, not SHAP.</a:t>
            </a:r>
          </a:p>
        </p:txBody>
      </p:sp>
      <p:sp>
        <p:nvSpPr>
          <p:cNvPr id="18" name="Rounded Rectangle 17"/>
          <p:cNvSpPr/>
          <p:nvPr/>
        </p:nvSpPr>
        <p:spPr>
          <a:xfrm>
            <a:off x="548640" y="5623560"/>
            <a:ext cx="11094415" cy="384048"/>
          </a:xfrm>
          <a:prstGeom prst="roundRect">
            <a:avLst>
              <a:gd name="adj" fmla="val 25000"/>
            </a:avLst>
          </a:prstGeom>
          <a:solidFill>
            <a:srgbClr val="1F1F24"/>
          </a:solidFill>
          <a:ln>
            <a:noFill/>
          </a:ln>
        </p:spPr>
        <p:txBody>
          <a:bodyPr rtlCol="0" anchor="ctr"/>
          <a:lstStyle/>
          <a:p/>
        </p:txBody>
      </p:sp>
      <p:sp>
        <p:nvSpPr>
          <p:cNvPr id="19" name="TextBox 18"/>
          <p:cNvSpPr txBox="1"/>
          <p:nvPr/>
        </p:nvSpPr>
        <p:spPr>
          <a:xfrm>
            <a:off x="777240" y="5623560"/>
            <a:ext cx="10637215" cy="384048"/>
          </a:xfrm>
          <a:prstGeom prst="rect">
            <a:avLst/>
          </a:prstGeom>
          <a:noFill/>
        </p:spPr>
        <p:txBody>
          <a:bodyPr wrap="square" lIns="0" rIns="0" tIns="0" bIns="0" anchor="ctr">
            <a:spAutoFit/>
          </a:bodyPr>
          <a:lstStyle/>
          <a:p>
            <a:pPr algn="l">
              <a:lnSpc>
                <a:spcPct val="112000"/>
              </a:lnSpc>
              <a:spcAft>
                <a:spcPts val="0"/>
              </a:spcAft>
            </a:pPr>
            <a:r>
              <a:rPr sz="1050" b="0">
                <a:solidFill>
                  <a:srgbClr val="F5F5F6"/>
                </a:solidFill>
                <a:latin typeface="Segoe UI Semibold"/>
              </a:rPr>
              <a:t>Trained offline, shipped as JSON, inferred in TypeScript.  </a:t>
            </a:r>
            <a:r>
              <a:rPr sz="1050" b="0">
                <a:solidFill>
                  <a:srgbClr val="A8A8B0"/>
                </a:solidFill>
                <a:latin typeface="Segoe UI"/>
              </a:rPr>
              <a:t>No Python or ML runtime in production, so it runs on Vercel's free tier with no cold-start download.</a:t>
            </a:r>
          </a:p>
        </p:txBody>
      </p:sp>
      <p:cxnSp>
        <p:nvCxnSpPr>
          <p:cNvPr id="20" name="Connector 19"/>
          <p:cNvCxnSpPr/>
          <p:nvPr/>
        </p:nvCxnSpPr>
        <p:spPr>
          <a:xfrm>
            <a:off x="548640" y="6400800"/>
            <a:ext cx="11094415"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6492240"/>
            <a:ext cx="5486400" cy="22860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a:rPr>
              <a:t>DhanSathi  ·  Explainable banking for Bharat</a:t>
            </a:r>
          </a:p>
        </p:txBody>
      </p:sp>
      <p:sp>
        <p:nvSpPr>
          <p:cNvPr id="22" name="TextBox 21"/>
          <p:cNvSpPr txBox="1"/>
          <p:nvPr/>
        </p:nvSpPr>
        <p:spPr>
          <a:xfrm>
            <a:off x="9814255" y="6492240"/>
            <a:ext cx="1828800" cy="228600"/>
          </a:xfrm>
          <a:prstGeom prst="rect">
            <a:avLst/>
          </a:prstGeom>
          <a:noFill/>
        </p:spPr>
        <p:txBody>
          <a:bodyPr wrap="square" lIns="0" rIns="0" tIns="0" bIns="0" anchor="t">
            <a:spAutoFit/>
          </a:bodyPr>
          <a:lstStyle/>
          <a:p>
            <a:pPr algn="r">
              <a:lnSpc>
                <a:spcPct val="112000"/>
              </a:lnSpc>
              <a:spcAft>
                <a:spcPts val="0"/>
              </a:spcAft>
            </a:pPr>
            <a:r>
              <a:rPr sz="900" b="0">
                <a:solidFill>
                  <a:srgbClr val="70707A"/>
                </a:solidFill>
                <a:latin typeface="Segoe UI"/>
              </a:rPr>
              <a:t>07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Semibold"/>
              </a:rPr>
              <a:t>07 · EXPLAINABILITY</a:t>
            </a:r>
          </a:p>
        </p:txBody>
      </p:sp>
      <p:sp>
        <p:nvSpPr>
          <p:cNvPr id="3" name="TextBox 2"/>
          <p:cNvSpPr txBox="1"/>
          <p:nvPr/>
        </p:nvSpPr>
        <p:spPr>
          <a:xfrm>
            <a:off x="548640" y="658368"/>
            <a:ext cx="11094415" cy="1097280"/>
          </a:xfrm>
          <a:prstGeom prst="rect">
            <a:avLst/>
          </a:prstGeom>
          <a:noFill/>
        </p:spPr>
        <p:txBody>
          <a:bodyPr wrap="square" lIns="0" rIns="0" tIns="0" bIns="0" anchor="t">
            <a:spAutoFit/>
          </a:bodyPr>
          <a:lstStyle/>
          <a:p>
            <a:pPr algn="l">
              <a:lnSpc>
                <a:spcPct val="102000"/>
              </a:lnSpc>
              <a:spcAft>
                <a:spcPts val="0"/>
              </a:spcAft>
            </a:pPr>
            <a:r>
              <a:rPr sz="3000" b="0">
                <a:solidFill>
                  <a:srgbClr val="F5F5F6"/>
                </a:solidFill>
                <a:latin typeface="Segoe UI Semibold"/>
              </a:rPr>
              <a:t>Every decision tells the customer what would change it.</a:t>
            </a:r>
          </a:p>
        </p:txBody>
      </p:sp>
      <p:pic>
        <p:nvPicPr>
          <p:cNvPr id="4" name="Picture 3" descr="rec_cf.png"/>
          <p:cNvPicPr>
            <a:picLocks noChangeAspect="1"/>
          </p:cNvPicPr>
          <p:nvPr/>
        </p:nvPicPr>
        <p:blipFill>
          <a:blip r:embed="rId2"/>
          <a:stretch>
            <a:fillRect/>
          </a:stretch>
        </p:blipFill>
        <p:spPr>
          <a:xfrm>
            <a:off x="658821" y="1600199"/>
            <a:ext cx="3208637" cy="4343400"/>
          </a:xfrm>
          <a:prstGeom prst="rect">
            <a:avLst/>
          </a:prstGeom>
          <a:ln w="9525">
            <a:solidFill>
              <a:srgbClr val="303037"/>
            </a:solidFill>
          </a:ln>
        </p:spPr>
      </p:pic>
      <p:sp>
        <p:nvSpPr>
          <p:cNvPr id="5" name="TextBox 4"/>
          <p:cNvSpPr txBox="1"/>
          <p:nvPr/>
        </p:nvSpPr>
        <p:spPr>
          <a:xfrm>
            <a:off x="4480559" y="1645920"/>
            <a:ext cx="7162495" cy="292608"/>
          </a:xfrm>
          <a:prstGeom prst="rect">
            <a:avLst/>
          </a:prstGeom>
          <a:noFill/>
        </p:spPr>
        <p:txBody>
          <a:bodyPr wrap="square" lIns="0" rIns="0" tIns="0" bIns="0" anchor="t">
            <a:spAutoFit/>
          </a:bodyPr>
          <a:lstStyle/>
          <a:p>
            <a:pPr algn="l">
              <a:lnSpc>
                <a:spcPct val="112000"/>
              </a:lnSpc>
              <a:spcAft>
                <a:spcPts val="0"/>
              </a:spcAft>
            </a:pPr>
            <a:r>
              <a:rPr sz="1500" b="0">
                <a:solidFill>
                  <a:srgbClr val="F5F5F6"/>
                </a:solidFill>
                <a:latin typeface="Segoe UI Semibold"/>
              </a:rPr>
              <a:t>Reason traces, shown to the customer</a:t>
            </a:r>
          </a:p>
        </p:txBody>
      </p:sp>
      <p:sp>
        <p:nvSpPr>
          <p:cNvPr id="6" name="TextBox 5"/>
          <p:cNvSpPr txBox="1"/>
          <p:nvPr/>
        </p:nvSpPr>
        <p:spPr>
          <a:xfrm>
            <a:off x="4480559" y="1965960"/>
            <a:ext cx="7162495" cy="502920"/>
          </a:xfrm>
          <a:prstGeom prst="rect">
            <a:avLst/>
          </a:prstGeom>
          <a:noFill/>
        </p:spPr>
        <p:txBody>
          <a:bodyPr wrap="square" lIns="0" rIns="0" tIns="0" bIns="0" anchor="t">
            <a:spAutoFit/>
          </a:bodyPr>
          <a:lstStyle/>
          <a:p>
            <a:pPr algn="l">
              <a:lnSpc>
                <a:spcPct val="115000"/>
              </a:lnSpc>
              <a:spcAft>
                <a:spcPts val="0"/>
              </a:spcAft>
            </a:pPr>
            <a:r>
              <a:rPr sz="1150" b="0">
                <a:solidFill>
                  <a:srgbClr val="A8A8B0"/>
                </a:solidFill>
                <a:latin typeface="Segoe UI"/>
              </a:rPr>
              <a:t>Every threshold that fired, in plain language, on the card — not kept in an internal log.</a:t>
            </a:r>
          </a:p>
        </p:txBody>
      </p:sp>
      <p:sp>
        <p:nvSpPr>
          <p:cNvPr id="7" name="TextBox 6"/>
          <p:cNvSpPr txBox="1"/>
          <p:nvPr/>
        </p:nvSpPr>
        <p:spPr>
          <a:xfrm>
            <a:off x="4480559" y="2560320"/>
            <a:ext cx="7162495" cy="292608"/>
          </a:xfrm>
          <a:prstGeom prst="rect">
            <a:avLst/>
          </a:prstGeom>
          <a:noFill/>
        </p:spPr>
        <p:txBody>
          <a:bodyPr wrap="square" lIns="0" rIns="0" tIns="0" bIns="0" anchor="t">
            <a:spAutoFit/>
          </a:bodyPr>
          <a:lstStyle/>
          <a:p>
            <a:pPr algn="l">
              <a:lnSpc>
                <a:spcPct val="112000"/>
              </a:lnSpc>
              <a:spcAft>
                <a:spcPts val="0"/>
              </a:spcAft>
            </a:pPr>
            <a:r>
              <a:rPr sz="1500" b="0">
                <a:solidFill>
                  <a:srgbClr val="F5F5F6"/>
                </a:solidFill>
                <a:latin typeface="Segoe UI Semibold"/>
              </a:rPr>
              <a:t>Exact counterfactuals</a:t>
            </a:r>
          </a:p>
        </p:txBody>
      </p:sp>
      <p:sp>
        <p:nvSpPr>
          <p:cNvPr id="8" name="TextBox 7"/>
          <p:cNvSpPr txBox="1"/>
          <p:nvPr/>
        </p:nvSpPr>
        <p:spPr>
          <a:xfrm>
            <a:off x="4480559" y="2880360"/>
            <a:ext cx="7162495" cy="502920"/>
          </a:xfrm>
          <a:prstGeom prst="rect">
            <a:avLst/>
          </a:prstGeom>
          <a:noFill/>
        </p:spPr>
        <p:txBody>
          <a:bodyPr wrap="square" lIns="0" rIns="0" tIns="0" bIns="0" anchor="t">
            <a:spAutoFit/>
          </a:bodyPr>
          <a:lstStyle/>
          <a:p>
            <a:pPr algn="l">
              <a:lnSpc>
                <a:spcPct val="115000"/>
              </a:lnSpc>
              <a:spcAft>
                <a:spcPts val="0"/>
              </a:spcAft>
            </a:pPr>
            <a:r>
              <a:rPr sz="1150" b="0">
                <a:solidFill>
                  <a:srgbClr val="A8A8B0"/>
                </a:solidFill>
                <a:latin typeface="Segoe UI"/>
              </a:rPr>
              <a:t>Because every decision function is pure, we search the real engine for the smallest change that flips the outcome. True by construction, not estimated.</a:t>
            </a:r>
          </a:p>
        </p:txBody>
      </p:sp>
      <p:sp>
        <p:nvSpPr>
          <p:cNvPr id="9" name="Rounded Rectangle 8"/>
          <p:cNvSpPr/>
          <p:nvPr/>
        </p:nvSpPr>
        <p:spPr>
          <a:xfrm>
            <a:off x="4480559" y="3493008"/>
            <a:ext cx="7162495" cy="868680"/>
          </a:xfrm>
          <a:prstGeom prst="roundRect">
            <a:avLst>
              <a:gd name="adj" fmla="val 6000"/>
            </a:avLst>
          </a:prstGeom>
          <a:solidFill>
            <a:srgbClr val="1F1F24"/>
          </a:solidFill>
          <a:ln w="9525">
            <a:solidFill>
              <a:srgbClr val="303037"/>
            </a:solidFill>
          </a:ln>
        </p:spPr>
        <p:txBody>
          <a:bodyPr rtlCol="0" anchor="ctr"/>
          <a:lstStyle/>
          <a:p/>
        </p:txBody>
      </p:sp>
      <p:sp>
        <p:nvSpPr>
          <p:cNvPr id="10" name="TextBox 9"/>
          <p:cNvSpPr txBox="1"/>
          <p:nvPr/>
        </p:nvSpPr>
        <p:spPr>
          <a:xfrm>
            <a:off x="4709159" y="3493008"/>
            <a:ext cx="6705295" cy="868680"/>
          </a:xfrm>
          <a:prstGeom prst="rect">
            <a:avLst/>
          </a:prstGeom>
          <a:noFill/>
        </p:spPr>
        <p:txBody>
          <a:bodyPr wrap="square" lIns="0" rIns="0" tIns="0" bIns="0" anchor="ctr">
            <a:spAutoFit/>
          </a:bodyPr>
          <a:lstStyle/>
          <a:p>
            <a:pPr algn="l">
              <a:lnSpc>
                <a:spcPct val="115000"/>
              </a:lnSpc>
              <a:spcAft>
                <a:spcPts val="300"/>
              </a:spcAft>
            </a:pPr>
            <a:r>
              <a:rPr sz="1300" b="0">
                <a:solidFill>
                  <a:srgbClr val="F5F5F6"/>
                </a:solidFill>
                <a:latin typeface="Segoe UI Semibold"/>
              </a:rPr>
              <a:t>“If your missed EMIs in 90 days fell to 0 (currently 2), you would see a Systematic Investment Plan instead.”</a:t>
            </a:r>
          </a:p>
          <a:p>
            <a:pPr algn="l">
              <a:lnSpc>
                <a:spcPct val="115000"/>
              </a:lnSpc>
              <a:spcAft>
                <a:spcPts val="300"/>
              </a:spcAft>
            </a:pPr>
            <a:r>
              <a:rPr sz="1000" b="0">
                <a:solidFill>
                  <a:srgbClr val="70707A"/>
                </a:solidFill>
                <a:latin typeface="Segoe UI"/>
              </a:rPr>
              <a:t>What Sunita is told</a:t>
            </a:r>
          </a:p>
        </p:txBody>
      </p:sp>
      <p:sp>
        <p:nvSpPr>
          <p:cNvPr id="11" name="TextBox 10"/>
          <p:cNvSpPr txBox="1"/>
          <p:nvPr/>
        </p:nvSpPr>
        <p:spPr>
          <a:xfrm>
            <a:off x="4480559" y="4526280"/>
            <a:ext cx="3444087" cy="292608"/>
          </a:xfrm>
          <a:prstGeom prst="rect">
            <a:avLst/>
          </a:prstGeom>
          <a:noFill/>
        </p:spPr>
        <p:txBody>
          <a:bodyPr wrap="square" lIns="0" rIns="0" tIns="0" bIns="0" anchor="t">
            <a:spAutoFit/>
          </a:bodyPr>
          <a:lstStyle/>
          <a:p>
            <a:pPr algn="l">
              <a:lnSpc>
                <a:spcPct val="112000"/>
              </a:lnSpc>
              <a:spcAft>
                <a:spcPts val="0"/>
              </a:spcAft>
            </a:pPr>
            <a:r>
              <a:rPr sz="1350" b="0">
                <a:solidFill>
                  <a:srgbClr val="F5F5F6"/>
                </a:solidFill>
                <a:latin typeface="Segoe UI Semibold"/>
              </a:rPr>
              <a:t>“Why was I not offered…?”</a:t>
            </a:r>
          </a:p>
        </p:txBody>
      </p:sp>
      <p:sp>
        <p:nvSpPr>
          <p:cNvPr id="12" name="TextBox 11"/>
          <p:cNvSpPr txBox="1"/>
          <p:nvPr/>
        </p:nvSpPr>
        <p:spPr>
          <a:xfrm>
            <a:off x="4480559" y="4846320"/>
            <a:ext cx="3444087" cy="1005840"/>
          </a:xfrm>
          <a:prstGeom prst="rect">
            <a:avLst/>
          </a:prstGeom>
          <a:noFill/>
        </p:spPr>
        <p:txBody>
          <a:bodyPr wrap="square" lIns="0" rIns="0" tIns="0" bIns="0" anchor="t">
            <a:spAutoFit/>
          </a:bodyPr>
          <a:lstStyle/>
          <a:p>
            <a:pPr algn="l">
              <a:lnSpc>
                <a:spcPct val="115000"/>
              </a:lnSpc>
              <a:spcAft>
                <a:spcPts val="0"/>
              </a:spcAft>
            </a:pPr>
            <a:r>
              <a:rPr sz="1100" b="0">
                <a:solidFill>
                  <a:srgbClr val="A8A8B0"/>
                </a:solidFill>
                <a:latin typeface="Segoe UI"/>
              </a:rPr>
              <a:t>Ask about any product and get the one change that unlocks it, or an honest “no single change gets you there”.</a:t>
            </a:r>
          </a:p>
        </p:txBody>
      </p:sp>
      <p:sp>
        <p:nvSpPr>
          <p:cNvPr id="13" name="TextBox 12"/>
          <p:cNvSpPr txBox="1"/>
          <p:nvPr/>
        </p:nvSpPr>
        <p:spPr>
          <a:xfrm>
            <a:off x="8198967" y="4526280"/>
            <a:ext cx="3444087" cy="292608"/>
          </a:xfrm>
          <a:prstGeom prst="rect">
            <a:avLst/>
          </a:prstGeom>
          <a:noFill/>
        </p:spPr>
        <p:txBody>
          <a:bodyPr wrap="square" lIns="0" rIns="0" tIns="0" bIns="0" anchor="t">
            <a:spAutoFit/>
          </a:bodyPr>
          <a:lstStyle/>
          <a:p>
            <a:pPr algn="l">
              <a:lnSpc>
                <a:spcPct val="112000"/>
              </a:lnSpc>
              <a:spcAft>
                <a:spcPts val="0"/>
              </a:spcAft>
            </a:pPr>
            <a:r>
              <a:rPr sz="1350" b="0">
                <a:solidFill>
                  <a:srgbClr val="F5F5F6"/>
                </a:solidFill>
                <a:latin typeface="Segoe UI Semibold"/>
              </a:rPr>
              <a:t>A decision receipt to keep</a:t>
            </a:r>
          </a:p>
        </p:txBody>
      </p:sp>
      <p:sp>
        <p:nvSpPr>
          <p:cNvPr id="14" name="TextBox 13"/>
          <p:cNvSpPr txBox="1"/>
          <p:nvPr/>
        </p:nvSpPr>
        <p:spPr>
          <a:xfrm>
            <a:off x="8198967" y="4846320"/>
            <a:ext cx="3444087" cy="1005840"/>
          </a:xfrm>
          <a:prstGeom prst="rect">
            <a:avLst/>
          </a:prstGeom>
          <a:noFill/>
        </p:spPr>
        <p:txBody>
          <a:bodyPr wrap="square" lIns="0" rIns="0" tIns="0" bIns="0" anchor="t">
            <a:spAutoFit/>
          </a:bodyPr>
          <a:lstStyle/>
          <a:p>
            <a:pPr algn="l">
              <a:lnSpc>
                <a:spcPct val="115000"/>
              </a:lnSpc>
              <a:spcAft>
                <a:spcPts val="0"/>
              </a:spcAft>
            </a:pPr>
            <a:r>
              <a:rPr sz="1100" b="0">
                <a:solidFill>
                  <a:srgbClr val="A8A8B0"/>
                </a:solidFill>
                <a:latin typeface="Segoe UI"/>
              </a:rPr>
              <a:t>One download with every fact used, the reasons, what would change it and the audit hashes. Ready for an ombudsman.</a:t>
            </a:r>
          </a:p>
        </p:txBody>
      </p:sp>
      <p:cxnSp>
        <p:nvCxnSpPr>
          <p:cNvPr id="15" name="Connector 14"/>
          <p:cNvCxnSpPr/>
          <p:nvPr/>
        </p:nvCxnSpPr>
        <p:spPr>
          <a:xfrm>
            <a:off x="548640" y="6400800"/>
            <a:ext cx="11094415"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492240"/>
            <a:ext cx="5486400" cy="22860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a:rPr>
              <a:t>DhanSathi  ·  Explainable banking for Bharat</a:t>
            </a:r>
          </a:p>
        </p:txBody>
      </p:sp>
      <p:sp>
        <p:nvSpPr>
          <p:cNvPr id="17" name="TextBox 16"/>
          <p:cNvSpPr txBox="1"/>
          <p:nvPr/>
        </p:nvSpPr>
        <p:spPr>
          <a:xfrm>
            <a:off x="9814255" y="6492240"/>
            <a:ext cx="1828800" cy="228600"/>
          </a:xfrm>
          <a:prstGeom prst="rect">
            <a:avLst/>
          </a:prstGeom>
          <a:noFill/>
        </p:spPr>
        <p:txBody>
          <a:bodyPr wrap="square" lIns="0" rIns="0" tIns="0" bIns="0" anchor="t">
            <a:spAutoFit/>
          </a:bodyPr>
          <a:lstStyle/>
          <a:p>
            <a:pPr algn="r">
              <a:lnSpc>
                <a:spcPct val="112000"/>
              </a:lnSpc>
              <a:spcAft>
                <a:spcPts val="0"/>
              </a:spcAft>
            </a:pPr>
            <a:r>
              <a:rPr sz="900" b="0">
                <a:solidFill>
                  <a:srgbClr val="70707A"/>
                </a:solidFill>
                <a:latin typeface="Segoe UI"/>
              </a:rPr>
              <a:t>08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Semibold"/>
              </a:rPr>
              <a:t>08 · RBI COMPLIANCE READINESS</a:t>
            </a:r>
          </a:p>
        </p:txBody>
      </p:sp>
      <p:sp>
        <p:nvSpPr>
          <p:cNvPr id="3" name="TextBox 2"/>
          <p:cNvSpPr txBox="1"/>
          <p:nvPr/>
        </p:nvSpPr>
        <p:spPr>
          <a:xfrm>
            <a:off x="548640" y="658368"/>
            <a:ext cx="11094415" cy="1097280"/>
          </a:xfrm>
          <a:prstGeom prst="rect">
            <a:avLst/>
          </a:prstGeom>
          <a:noFill/>
        </p:spPr>
        <p:txBody>
          <a:bodyPr wrap="square" lIns="0" rIns="0" tIns="0" bIns="0" anchor="t">
            <a:spAutoFit/>
          </a:bodyPr>
          <a:lstStyle/>
          <a:p>
            <a:pPr algn="l">
              <a:lnSpc>
                <a:spcPct val="102000"/>
              </a:lnSpc>
              <a:spcAft>
                <a:spcPts val="0"/>
              </a:spcAft>
            </a:pPr>
            <a:r>
              <a:rPr sz="2800" b="0">
                <a:solidFill>
                  <a:srgbClr val="F5F5F6"/>
                </a:solidFill>
                <a:latin typeface="Segoe UI Semibold"/>
              </a:rPr>
              <a:t>We built the Key Facts Statement that RBI mandated in 2024.</a:t>
            </a:r>
          </a:p>
        </p:txBody>
      </p:sp>
      <p:sp>
        <p:nvSpPr>
          <p:cNvPr id="4" name="Rounded Rectangle 3"/>
          <p:cNvSpPr/>
          <p:nvPr/>
        </p:nvSpPr>
        <p:spPr>
          <a:xfrm>
            <a:off x="548640" y="1645920"/>
            <a:ext cx="2331720" cy="1600200"/>
          </a:xfrm>
          <a:prstGeom prst="roundRect">
            <a:avLst>
              <a:gd name="adj" fmla="val 5000"/>
            </a:avLst>
          </a:prstGeom>
          <a:solidFill>
            <a:srgbClr val="16161A"/>
          </a:solidFill>
          <a:ln w="9525">
            <a:solidFill>
              <a:srgbClr val="303037"/>
            </a:solidFill>
          </a:ln>
        </p:spPr>
        <p:txBody>
          <a:bodyPr rtlCol="0" anchor="ctr"/>
          <a:lstStyle/>
          <a:p/>
        </p:txBody>
      </p:sp>
      <p:sp>
        <p:nvSpPr>
          <p:cNvPr id="5" name="TextBox 4"/>
          <p:cNvSpPr txBox="1"/>
          <p:nvPr/>
        </p:nvSpPr>
        <p:spPr>
          <a:xfrm>
            <a:off x="777240" y="1828800"/>
            <a:ext cx="1920240" cy="274320"/>
          </a:xfrm>
          <a:prstGeom prst="rect">
            <a:avLst/>
          </a:prstGeom>
          <a:noFill/>
        </p:spPr>
        <p:txBody>
          <a:bodyPr wrap="square" lIns="0" rIns="0" tIns="0" bIns="0" anchor="t">
            <a:spAutoFit/>
          </a:bodyPr>
          <a:lstStyle/>
          <a:p>
            <a:pPr algn="l">
              <a:lnSpc>
                <a:spcPct val="112000"/>
              </a:lnSpc>
              <a:spcAft>
                <a:spcPts val="0"/>
              </a:spcAft>
            </a:pPr>
            <a:r>
              <a:rPr sz="1100" b="0">
                <a:solidFill>
                  <a:srgbClr val="A8A8B0"/>
                </a:solidFill>
                <a:latin typeface="Segoe UI"/>
              </a:rPr>
              <a:t>Advertised rate</a:t>
            </a:r>
          </a:p>
        </p:txBody>
      </p:sp>
      <p:sp>
        <p:nvSpPr>
          <p:cNvPr id="6" name="TextBox 5"/>
          <p:cNvSpPr txBox="1"/>
          <p:nvPr/>
        </p:nvSpPr>
        <p:spPr>
          <a:xfrm>
            <a:off x="777240" y="2121408"/>
            <a:ext cx="1920240" cy="731520"/>
          </a:xfrm>
          <a:prstGeom prst="rect">
            <a:avLst/>
          </a:prstGeom>
          <a:noFill/>
        </p:spPr>
        <p:txBody>
          <a:bodyPr wrap="square" lIns="0" rIns="0" tIns="0" bIns="0" anchor="t">
            <a:spAutoFit/>
          </a:bodyPr>
          <a:lstStyle/>
          <a:p>
            <a:pPr algn="l">
              <a:lnSpc>
                <a:spcPct val="112000"/>
              </a:lnSpc>
              <a:spcAft>
                <a:spcPts val="0"/>
              </a:spcAft>
            </a:pPr>
            <a:r>
              <a:rPr sz="4000" b="0">
                <a:solidFill>
                  <a:srgbClr val="F5F5F6"/>
                </a:solidFill>
                <a:latin typeface="Segoe UI Semibold"/>
              </a:rPr>
              <a:t>14.5%</a:t>
            </a:r>
          </a:p>
        </p:txBody>
      </p:sp>
      <p:sp>
        <p:nvSpPr>
          <p:cNvPr id="7" name="TextBox 6"/>
          <p:cNvSpPr txBox="1"/>
          <p:nvPr/>
        </p:nvSpPr>
        <p:spPr>
          <a:xfrm>
            <a:off x="777240" y="2788920"/>
            <a:ext cx="1920240" cy="32004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a:rPr>
              <a:t>per annum, fixed</a:t>
            </a:r>
          </a:p>
        </p:txBody>
      </p:sp>
      <p:sp>
        <p:nvSpPr>
          <p:cNvPr id="8" name="Rounded Rectangle 7"/>
          <p:cNvSpPr/>
          <p:nvPr/>
        </p:nvSpPr>
        <p:spPr>
          <a:xfrm>
            <a:off x="3063240" y="1645920"/>
            <a:ext cx="2331720" cy="1600200"/>
          </a:xfrm>
          <a:prstGeom prst="roundRect">
            <a:avLst>
              <a:gd name="adj" fmla="val 5000"/>
            </a:avLst>
          </a:prstGeom>
          <a:solidFill>
            <a:srgbClr val="F5F5F6"/>
          </a:solidFill>
          <a:ln>
            <a:noFill/>
          </a:ln>
        </p:spPr>
        <p:txBody>
          <a:bodyPr rtlCol="0" anchor="ctr"/>
          <a:lstStyle/>
          <a:p/>
        </p:txBody>
      </p:sp>
      <p:sp>
        <p:nvSpPr>
          <p:cNvPr id="9" name="TextBox 8"/>
          <p:cNvSpPr txBox="1"/>
          <p:nvPr/>
        </p:nvSpPr>
        <p:spPr>
          <a:xfrm>
            <a:off x="3291840" y="1828800"/>
            <a:ext cx="1920240" cy="274320"/>
          </a:xfrm>
          <a:prstGeom prst="rect">
            <a:avLst/>
          </a:prstGeom>
          <a:noFill/>
        </p:spPr>
        <p:txBody>
          <a:bodyPr wrap="square" lIns="0" rIns="0" tIns="0" bIns="0" anchor="t">
            <a:spAutoFit/>
          </a:bodyPr>
          <a:lstStyle/>
          <a:p>
            <a:pPr algn="l">
              <a:lnSpc>
                <a:spcPct val="112000"/>
              </a:lnSpc>
              <a:spcAft>
                <a:spcPts val="0"/>
              </a:spcAft>
            </a:pPr>
            <a:r>
              <a:rPr sz="1100" b="0">
                <a:solidFill>
                  <a:srgbClr val="404046"/>
                </a:solidFill>
                <a:latin typeface="Segoe UI"/>
              </a:rPr>
              <a:t>Actual annual cost (APR)</a:t>
            </a:r>
          </a:p>
        </p:txBody>
      </p:sp>
      <p:sp>
        <p:nvSpPr>
          <p:cNvPr id="10" name="TextBox 9"/>
          <p:cNvSpPr txBox="1"/>
          <p:nvPr/>
        </p:nvSpPr>
        <p:spPr>
          <a:xfrm>
            <a:off x="3291840" y="2121408"/>
            <a:ext cx="1920240" cy="731520"/>
          </a:xfrm>
          <a:prstGeom prst="rect">
            <a:avLst/>
          </a:prstGeom>
          <a:noFill/>
        </p:spPr>
        <p:txBody>
          <a:bodyPr wrap="square" lIns="0" rIns="0" tIns="0" bIns="0" anchor="t">
            <a:spAutoFit/>
          </a:bodyPr>
          <a:lstStyle/>
          <a:p>
            <a:pPr algn="l">
              <a:lnSpc>
                <a:spcPct val="112000"/>
              </a:lnSpc>
              <a:spcAft>
                <a:spcPts val="0"/>
              </a:spcAft>
            </a:pPr>
            <a:r>
              <a:rPr sz="4000" b="0">
                <a:solidFill>
                  <a:srgbClr val="0B0B0C"/>
                </a:solidFill>
                <a:latin typeface="Segoe UI Semibold"/>
              </a:rPr>
              <a:t>18.03%</a:t>
            </a:r>
          </a:p>
        </p:txBody>
      </p:sp>
      <p:sp>
        <p:nvSpPr>
          <p:cNvPr id="11" name="TextBox 10"/>
          <p:cNvSpPr txBox="1"/>
          <p:nvPr/>
        </p:nvSpPr>
        <p:spPr>
          <a:xfrm>
            <a:off x="3291840" y="2788920"/>
            <a:ext cx="1920240" cy="320040"/>
          </a:xfrm>
          <a:prstGeom prst="rect">
            <a:avLst/>
          </a:prstGeom>
          <a:noFill/>
        </p:spPr>
        <p:txBody>
          <a:bodyPr wrap="square" lIns="0" rIns="0" tIns="0" bIns="0" anchor="t">
            <a:spAutoFit/>
          </a:bodyPr>
          <a:lstStyle/>
          <a:p>
            <a:pPr algn="l">
              <a:lnSpc>
                <a:spcPct val="112000"/>
              </a:lnSpc>
              <a:spcAft>
                <a:spcPts val="0"/>
              </a:spcAft>
            </a:pPr>
            <a:r>
              <a:rPr sz="1000" b="0">
                <a:solidFill>
                  <a:srgbClr val="55555C"/>
                </a:solidFill>
                <a:latin typeface="Segoe UI"/>
              </a:rPr>
              <a:t>3.53 points hidden</a:t>
            </a:r>
          </a:p>
        </p:txBody>
      </p:sp>
      <p:sp>
        <p:nvSpPr>
          <p:cNvPr id="12" name="TextBox 11"/>
          <p:cNvSpPr txBox="1"/>
          <p:nvPr/>
        </p:nvSpPr>
        <p:spPr>
          <a:xfrm>
            <a:off x="548640" y="3429000"/>
            <a:ext cx="4846320" cy="1005840"/>
          </a:xfrm>
          <a:prstGeom prst="rect">
            <a:avLst/>
          </a:prstGeom>
          <a:noFill/>
        </p:spPr>
        <p:txBody>
          <a:bodyPr wrap="square" lIns="0" rIns="0" tIns="0" bIns="0" anchor="t">
            <a:spAutoFit/>
          </a:bodyPr>
          <a:lstStyle/>
          <a:p>
            <a:pPr algn="l">
              <a:lnSpc>
                <a:spcPct val="120000"/>
              </a:lnSpc>
              <a:spcAft>
                <a:spcPts val="0"/>
              </a:spcAft>
            </a:pPr>
            <a:r>
              <a:rPr sz="1200" b="0">
                <a:solidFill>
                  <a:srgbClr val="F5F5F6"/>
                </a:solidFill>
                <a:latin typeface="Segoe UI Semibold"/>
              </a:rPr>
              <a:t>₹5,500 of charges come out before the money arrives. </a:t>
            </a:r>
            <a:r>
              <a:rPr sz="1200" b="0">
                <a:solidFill>
                  <a:srgbClr val="A8A8B0"/>
                </a:solidFill>
                <a:latin typeface="Segoe UI"/>
              </a:rPr>
              <a:t>She receives ₹2,53,500 of ₹2,59,000 sanctioned. We compute APR by internal rate of return over what she actually receives, and publish both annualisation conventions.</a:t>
            </a:r>
          </a:p>
        </p:txBody>
      </p:sp>
      <p:pic>
        <p:nvPicPr>
          <p:cNvPr id="13" name="Picture 12" descr="kfs_top.png"/>
          <p:cNvPicPr>
            <a:picLocks noChangeAspect="1"/>
          </p:cNvPicPr>
          <p:nvPr/>
        </p:nvPicPr>
        <p:blipFill>
          <a:blip r:embed="rId2"/>
          <a:stretch>
            <a:fillRect/>
          </a:stretch>
        </p:blipFill>
        <p:spPr>
          <a:xfrm>
            <a:off x="6072334" y="1645920"/>
            <a:ext cx="5304826" cy="2834640"/>
          </a:xfrm>
          <a:prstGeom prst="rect">
            <a:avLst/>
          </a:prstGeom>
          <a:ln w="9525">
            <a:solidFill>
              <a:srgbClr val="303037"/>
            </a:solidFill>
          </a:ln>
        </p:spPr>
      </p:pic>
      <p:sp>
        <p:nvSpPr>
          <p:cNvPr id="14" name="Rounded Rectangle 13"/>
          <p:cNvSpPr/>
          <p:nvPr/>
        </p:nvSpPr>
        <p:spPr>
          <a:xfrm>
            <a:off x="548640" y="4617720"/>
            <a:ext cx="2622727" cy="1325880"/>
          </a:xfrm>
          <a:prstGeom prst="roundRect">
            <a:avLst>
              <a:gd name="adj" fmla="val 4000"/>
            </a:avLst>
          </a:prstGeom>
          <a:solidFill>
            <a:srgbClr val="16161A"/>
          </a:solidFill>
          <a:ln w="9525">
            <a:solidFill>
              <a:srgbClr val="303037"/>
            </a:solidFill>
          </a:ln>
        </p:spPr>
        <p:txBody>
          <a:bodyPr rtlCol="0" anchor="ctr"/>
          <a:lstStyle/>
          <a:p/>
        </p:txBody>
      </p:sp>
      <p:sp>
        <p:nvSpPr>
          <p:cNvPr id="15" name="TextBox 14"/>
          <p:cNvSpPr txBox="1"/>
          <p:nvPr/>
        </p:nvSpPr>
        <p:spPr>
          <a:xfrm>
            <a:off x="749808" y="4818887"/>
            <a:ext cx="2220391" cy="502920"/>
          </a:xfrm>
          <a:prstGeom prst="rect">
            <a:avLst/>
          </a:prstGeom>
          <a:noFill/>
        </p:spPr>
        <p:txBody>
          <a:bodyPr wrap="square" lIns="0" rIns="0" tIns="0" bIns="0" anchor="t">
            <a:spAutoFit/>
          </a:bodyPr>
          <a:lstStyle/>
          <a:p>
            <a:pPr algn="l">
              <a:lnSpc>
                <a:spcPct val="105000"/>
              </a:lnSpc>
              <a:spcAft>
                <a:spcPts val="0"/>
              </a:spcAft>
            </a:pPr>
            <a:r>
              <a:rPr sz="1250" b="0">
                <a:solidFill>
                  <a:srgbClr val="F5F5F6"/>
                </a:solidFill>
                <a:latin typeface="Segoe UI Semibold"/>
              </a:rPr>
              <a:t>The full statement</a:t>
            </a:r>
          </a:p>
        </p:txBody>
      </p:sp>
      <p:sp>
        <p:nvSpPr>
          <p:cNvPr id="16" name="TextBox 15"/>
          <p:cNvSpPr txBox="1"/>
          <p:nvPr/>
        </p:nvSpPr>
        <p:spPr>
          <a:xfrm>
            <a:off x="749808" y="5103495"/>
            <a:ext cx="2220391" cy="638937"/>
          </a:xfrm>
          <a:prstGeom prst="rect">
            <a:avLst/>
          </a:prstGeom>
          <a:noFill/>
        </p:spPr>
        <p:txBody>
          <a:bodyPr wrap="square" lIns="0" rIns="0" tIns="0" bIns="0" anchor="t">
            <a:spAutoFit/>
          </a:bodyPr>
          <a:lstStyle/>
          <a:p>
            <a:pPr algn="l">
              <a:lnSpc>
                <a:spcPct val="115000"/>
              </a:lnSpc>
              <a:spcAft>
                <a:spcPts val="0"/>
              </a:spcAft>
            </a:pPr>
            <a:r>
              <a:rPr sz="1000" b="0">
                <a:solidFill>
                  <a:srgbClr val="A8A8B0"/>
                </a:solidFill>
                <a:latin typeface="Segoe UI"/>
              </a:rPr>
              <a:t>RBI/2024-25/18: Part 1 rows 1–10, Part 2 disclosures, Annex B APR sheet, amortisation schedule.</a:t>
            </a:r>
          </a:p>
        </p:txBody>
      </p:sp>
      <p:sp>
        <p:nvSpPr>
          <p:cNvPr id="17" name="Rounded Rectangle 16"/>
          <p:cNvSpPr/>
          <p:nvPr/>
        </p:nvSpPr>
        <p:spPr>
          <a:xfrm>
            <a:off x="3372535" y="4617720"/>
            <a:ext cx="2622727" cy="1325880"/>
          </a:xfrm>
          <a:prstGeom prst="roundRect">
            <a:avLst>
              <a:gd name="adj" fmla="val 4000"/>
            </a:avLst>
          </a:prstGeom>
          <a:solidFill>
            <a:srgbClr val="16161A"/>
          </a:solidFill>
          <a:ln w="9525">
            <a:solidFill>
              <a:srgbClr val="303037"/>
            </a:solidFill>
          </a:ln>
        </p:spPr>
        <p:txBody>
          <a:bodyPr rtlCol="0" anchor="ctr"/>
          <a:lstStyle/>
          <a:p/>
        </p:txBody>
      </p:sp>
      <p:sp>
        <p:nvSpPr>
          <p:cNvPr id="18" name="TextBox 17"/>
          <p:cNvSpPr txBox="1"/>
          <p:nvPr/>
        </p:nvSpPr>
        <p:spPr>
          <a:xfrm>
            <a:off x="3573703" y="4818887"/>
            <a:ext cx="2220391" cy="502920"/>
          </a:xfrm>
          <a:prstGeom prst="rect">
            <a:avLst/>
          </a:prstGeom>
          <a:noFill/>
        </p:spPr>
        <p:txBody>
          <a:bodyPr wrap="square" lIns="0" rIns="0" tIns="0" bIns="0" anchor="t">
            <a:spAutoFit/>
          </a:bodyPr>
          <a:lstStyle/>
          <a:p>
            <a:pPr algn="l">
              <a:lnSpc>
                <a:spcPct val="105000"/>
              </a:lnSpc>
              <a:spcAft>
                <a:spcPts val="0"/>
              </a:spcAft>
            </a:pPr>
            <a:r>
              <a:rPr sz="1250" b="0">
                <a:solidFill>
                  <a:srgbClr val="F5F5F6"/>
                </a:solidFill>
                <a:latin typeface="Segoe UI Semibold"/>
              </a:rPr>
              <a:t>Cooling-off exit</a:t>
            </a:r>
          </a:p>
        </p:txBody>
      </p:sp>
      <p:sp>
        <p:nvSpPr>
          <p:cNvPr id="19" name="TextBox 18"/>
          <p:cNvSpPr txBox="1"/>
          <p:nvPr/>
        </p:nvSpPr>
        <p:spPr>
          <a:xfrm>
            <a:off x="3573703" y="5103495"/>
            <a:ext cx="2220391" cy="638937"/>
          </a:xfrm>
          <a:prstGeom prst="rect">
            <a:avLst/>
          </a:prstGeom>
          <a:noFill/>
        </p:spPr>
        <p:txBody>
          <a:bodyPr wrap="square" lIns="0" rIns="0" tIns="0" bIns="0" anchor="t">
            <a:spAutoFit/>
          </a:bodyPr>
          <a:lstStyle/>
          <a:p>
            <a:pPr algn="l">
              <a:lnSpc>
                <a:spcPct val="115000"/>
              </a:lnSpc>
              <a:spcAft>
                <a:spcPts val="0"/>
              </a:spcAft>
            </a:pPr>
            <a:r>
              <a:rPr sz="1000" b="0">
                <a:solidFill>
                  <a:srgbClr val="A8A8B0"/>
                </a:solidFill>
                <a:latin typeface="Segoe UI"/>
              </a:rPr>
              <a:t>3 days. Exiting on day one costs ₹127.94 of proportionate APR. Zero penalty, fees refunded.</a:t>
            </a:r>
          </a:p>
        </p:txBody>
      </p:sp>
      <p:sp>
        <p:nvSpPr>
          <p:cNvPr id="20" name="Rounded Rectangle 19"/>
          <p:cNvSpPr/>
          <p:nvPr/>
        </p:nvSpPr>
        <p:spPr>
          <a:xfrm>
            <a:off x="6196431" y="4617720"/>
            <a:ext cx="2622727" cy="1325880"/>
          </a:xfrm>
          <a:prstGeom prst="roundRect">
            <a:avLst>
              <a:gd name="adj" fmla="val 4000"/>
            </a:avLst>
          </a:prstGeom>
          <a:solidFill>
            <a:srgbClr val="16161A"/>
          </a:solidFill>
          <a:ln w="9525">
            <a:solidFill>
              <a:srgbClr val="303037"/>
            </a:solidFill>
          </a:ln>
        </p:spPr>
        <p:txBody>
          <a:bodyPr rtlCol="0" anchor="ctr"/>
          <a:lstStyle/>
          <a:p/>
        </p:txBody>
      </p:sp>
      <p:sp>
        <p:nvSpPr>
          <p:cNvPr id="21" name="TextBox 20"/>
          <p:cNvSpPr txBox="1"/>
          <p:nvPr/>
        </p:nvSpPr>
        <p:spPr>
          <a:xfrm>
            <a:off x="6397599" y="4818887"/>
            <a:ext cx="2220391" cy="502920"/>
          </a:xfrm>
          <a:prstGeom prst="rect">
            <a:avLst/>
          </a:prstGeom>
          <a:noFill/>
        </p:spPr>
        <p:txBody>
          <a:bodyPr wrap="square" lIns="0" rIns="0" tIns="0" bIns="0" anchor="t">
            <a:spAutoFit/>
          </a:bodyPr>
          <a:lstStyle/>
          <a:p>
            <a:pPr algn="l">
              <a:lnSpc>
                <a:spcPct val="105000"/>
              </a:lnSpc>
              <a:spcAft>
                <a:spcPts val="0"/>
              </a:spcAft>
            </a:pPr>
            <a:r>
              <a:rPr sz="1250" b="0">
                <a:solidFill>
                  <a:srgbClr val="F5F5F6"/>
                </a:solidFill>
                <a:latin typeface="Segoe UI Semibold"/>
              </a:rPr>
              <a:t>Sized to repay</a:t>
            </a:r>
          </a:p>
        </p:txBody>
      </p:sp>
      <p:sp>
        <p:nvSpPr>
          <p:cNvPr id="22" name="TextBox 21"/>
          <p:cNvSpPr txBox="1"/>
          <p:nvPr/>
        </p:nvSpPr>
        <p:spPr>
          <a:xfrm>
            <a:off x="6397599" y="5103495"/>
            <a:ext cx="2220391" cy="638937"/>
          </a:xfrm>
          <a:prstGeom prst="rect">
            <a:avLst/>
          </a:prstGeom>
          <a:noFill/>
        </p:spPr>
        <p:txBody>
          <a:bodyPr wrap="square" lIns="0" rIns="0" tIns="0" bIns="0" anchor="t">
            <a:spAutoFit/>
          </a:bodyPr>
          <a:lstStyle/>
          <a:p>
            <a:pPr algn="l">
              <a:lnSpc>
                <a:spcPct val="115000"/>
              </a:lnSpc>
              <a:spcAft>
                <a:spcPts val="0"/>
              </a:spcAft>
            </a:pPr>
            <a:r>
              <a:rPr sz="1000" b="0">
                <a:solidFill>
                  <a:srgbClr val="A8A8B0"/>
                </a:solidFill>
                <a:latin typeface="Segoe UI"/>
              </a:rPr>
              <a:t>Instalment capped at half the observed surplus and 40% of income: ₹12,532 maximum.</a:t>
            </a:r>
          </a:p>
        </p:txBody>
      </p:sp>
      <p:sp>
        <p:nvSpPr>
          <p:cNvPr id="23" name="Rounded Rectangle 22"/>
          <p:cNvSpPr/>
          <p:nvPr/>
        </p:nvSpPr>
        <p:spPr>
          <a:xfrm>
            <a:off x="9020327" y="4617720"/>
            <a:ext cx="2622727" cy="1325880"/>
          </a:xfrm>
          <a:prstGeom prst="roundRect">
            <a:avLst>
              <a:gd name="adj" fmla="val 4000"/>
            </a:avLst>
          </a:prstGeom>
          <a:solidFill>
            <a:srgbClr val="16161A"/>
          </a:solidFill>
          <a:ln w="9525">
            <a:solidFill>
              <a:srgbClr val="303037"/>
            </a:solidFill>
          </a:ln>
        </p:spPr>
        <p:txBody>
          <a:bodyPr rtlCol="0" anchor="ctr"/>
          <a:lstStyle/>
          <a:p/>
        </p:txBody>
      </p:sp>
      <p:sp>
        <p:nvSpPr>
          <p:cNvPr id="24" name="TextBox 23"/>
          <p:cNvSpPr txBox="1"/>
          <p:nvPr/>
        </p:nvSpPr>
        <p:spPr>
          <a:xfrm>
            <a:off x="9221495" y="4818887"/>
            <a:ext cx="2220391" cy="502920"/>
          </a:xfrm>
          <a:prstGeom prst="rect">
            <a:avLst/>
          </a:prstGeom>
          <a:noFill/>
        </p:spPr>
        <p:txBody>
          <a:bodyPr wrap="square" lIns="0" rIns="0" tIns="0" bIns="0" anchor="t">
            <a:spAutoFit/>
          </a:bodyPr>
          <a:lstStyle/>
          <a:p>
            <a:pPr algn="l">
              <a:lnSpc>
                <a:spcPct val="105000"/>
              </a:lnSpc>
              <a:spcAft>
                <a:spcPts val="0"/>
              </a:spcAft>
            </a:pPr>
            <a:r>
              <a:rPr sz="1250" b="0">
                <a:solidFill>
                  <a:srgbClr val="F5F5F6"/>
                </a:solidFill>
                <a:latin typeface="Segoe UI Semibold"/>
              </a:rPr>
              <a:t>Gate before paperwork</a:t>
            </a:r>
          </a:p>
        </p:txBody>
      </p:sp>
      <p:sp>
        <p:nvSpPr>
          <p:cNvPr id="25" name="TextBox 24"/>
          <p:cNvSpPr txBox="1"/>
          <p:nvPr/>
        </p:nvSpPr>
        <p:spPr>
          <a:xfrm>
            <a:off x="9221495" y="5103495"/>
            <a:ext cx="2220391" cy="638937"/>
          </a:xfrm>
          <a:prstGeom prst="rect">
            <a:avLst/>
          </a:prstGeom>
          <a:noFill/>
        </p:spPr>
        <p:txBody>
          <a:bodyPr wrap="square" lIns="0" rIns="0" tIns="0" bIns="0" anchor="t">
            <a:spAutoFit/>
          </a:bodyPr>
          <a:lstStyle/>
          <a:p>
            <a:pPr algn="l">
              <a:lnSpc>
                <a:spcPct val="115000"/>
              </a:lnSpc>
              <a:spcAft>
                <a:spcPts val="0"/>
              </a:spcAft>
            </a:pPr>
            <a:r>
              <a:rPr sz="1000" b="0">
                <a:solidFill>
                  <a:srgbClr val="A8A8B0"/>
                </a:solidFill>
                <a:latin typeface="Segoe UI"/>
              </a:rPr>
              <a:t>A customer under stress cannot reach a loan document. Enforced on the server, not by hiding a button.</a:t>
            </a:r>
          </a:p>
        </p:txBody>
      </p:sp>
      <p:cxnSp>
        <p:nvCxnSpPr>
          <p:cNvPr id="26" name="Connector 25"/>
          <p:cNvCxnSpPr/>
          <p:nvPr/>
        </p:nvCxnSpPr>
        <p:spPr>
          <a:xfrm>
            <a:off x="548640" y="6400800"/>
            <a:ext cx="11094415"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8640" y="6492240"/>
            <a:ext cx="5486400" cy="22860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a:rPr>
              <a:t>DhanSathi  ·  Explainable banking for Bharat</a:t>
            </a:r>
          </a:p>
        </p:txBody>
      </p:sp>
      <p:sp>
        <p:nvSpPr>
          <p:cNvPr id="28" name="TextBox 27"/>
          <p:cNvSpPr txBox="1"/>
          <p:nvPr/>
        </p:nvSpPr>
        <p:spPr>
          <a:xfrm>
            <a:off x="9814255" y="6492240"/>
            <a:ext cx="1828800" cy="228600"/>
          </a:xfrm>
          <a:prstGeom prst="rect">
            <a:avLst/>
          </a:prstGeom>
          <a:noFill/>
        </p:spPr>
        <p:txBody>
          <a:bodyPr wrap="square" lIns="0" rIns="0" tIns="0" bIns="0" anchor="t">
            <a:spAutoFit/>
          </a:bodyPr>
          <a:lstStyle/>
          <a:p>
            <a:pPr algn="r">
              <a:lnSpc>
                <a:spcPct val="112000"/>
              </a:lnSpc>
              <a:spcAft>
                <a:spcPts val="0"/>
              </a:spcAft>
            </a:pPr>
            <a:r>
              <a:rPr sz="900" b="0">
                <a:solidFill>
                  <a:srgbClr val="70707A"/>
                </a:solidFill>
                <a:latin typeface="Segoe UI"/>
              </a:rPr>
              <a:t>09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Semibold"/>
              </a:rPr>
              <a:t>09 · ETHICAL SAFEGUARDS — PRIVACY AND CONSENT  (DELIVERABLE)</a:t>
            </a:r>
          </a:p>
        </p:txBody>
      </p:sp>
      <p:sp>
        <p:nvSpPr>
          <p:cNvPr id="3" name="TextBox 2"/>
          <p:cNvSpPr txBox="1"/>
          <p:nvPr/>
        </p:nvSpPr>
        <p:spPr>
          <a:xfrm>
            <a:off x="548640" y="658368"/>
            <a:ext cx="11094415" cy="1097280"/>
          </a:xfrm>
          <a:prstGeom prst="rect">
            <a:avLst/>
          </a:prstGeom>
          <a:noFill/>
        </p:spPr>
        <p:txBody>
          <a:bodyPr wrap="square" lIns="0" rIns="0" tIns="0" bIns="0" anchor="t">
            <a:spAutoFit/>
          </a:bodyPr>
          <a:lstStyle/>
          <a:p>
            <a:pPr algn="l">
              <a:lnSpc>
                <a:spcPct val="102000"/>
              </a:lnSpc>
              <a:spcAft>
                <a:spcPts val="0"/>
              </a:spcAft>
            </a:pPr>
            <a:r>
              <a:rPr sz="2600" b="0">
                <a:solidFill>
                  <a:srgbClr val="F5F5F6"/>
                </a:solidFill>
                <a:latin typeface="Segoe UI Semibold"/>
              </a:rPr>
              <a:t>Withholding data costs protection. We tell customers that in plain words.</a:t>
            </a:r>
          </a:p>
        </p:txBody>
      </p:sp>
      <p:sp>
        <p:nvSpPr>
          <p:cNvPr id="4" name="Rounded Rectangle 3"/>
          <p:cNvSpPr/>
          <p:nvPr/>
        </p:nvSpPr>
        <p:spPr>
          <a:xfrm>
            <a:off x="548640" y="1645920"/>
            <a:ext cx="3886200" cy="2651760"/>
          </a:xfrm>
          <a:prstGeom prst="roundRect">
            <a:avLst>
              <a:gd name="adj" fmla="val 4000"/>
            </a:avLst>
          </a:prstGeom>
          <a:solidFill>
            <a:srgbClr val="1F1F24"/>
          </a:solidFill>
          <a:ln w="9525">
            <a:solidFill>
              <a:srgbClr val="303037"/>
            </a:solidFill>
          </a:ln>
        </p:spPr>
        <p:txBody>
          <a:bodyPr rtlCol="0" anchor="ctr"/>
          <a:lstStyle/>
          <a:p/>
        </p:txBody>
      </p:sp>
      <p:sp>
        <p:nvSpPr>
          <p:cNvPr id="5" name="TextBox 4"/>
          <p:cNvSpPr txBox="1"/>
          <p:nvPr/>
        </p:nvSpPr>
        <p:spPr>
          <a:xfrm>
            <a:off x="822959" y="1874520"/>
            <a:ext cx="3337560" cy="320040"/>
          </a:xfrm>
          <a:prstGeom prst="rect">
            <a:avLst/>
          </a:prstGeom>
          <a:noFill/>
        </p:spPr>
        <p:txBody>
          <a:bodyPr wrap="square" lIns="0" rIns="0" tIns="0" bIns="0" anchor="t">
            <a:spAutoFit/>
          </a:bodyPr>
          <a:lstStyle/>
          <a:p>
            <a:pPr algn="l">
              <a:lnSpc>
                <a:spcPct val="112000"/>
              </a:lnSpc>
              <a:spcAft>
                <a:spcPts val="0"/>
              </a:spcAft>
            </a:pPr>
            <a:r>
              <a:rPr sz="1500" b="0">
                <a:solidFill>
                  <a:srgbClr val="F5F5F6"/>
                </a:solidFill>
                <a:latin typeface="Segoe UI Semibold"/>
              </a:rPr>
              <a:t>The trade-off nobody else shows</a:t>
            </a:r>
          </a:p>
        </p:txBody>
      </p:sp>
      <p:sp>
        <p:nvSpPr>
          <p:cNvPr id="6" name="TextBox 5"/>
          <p:cNvSpPr txBox="1"/>
          <p:nvPr/>
        </p:nvSpPr>
        <p:spPr>
          <a:xfrm>
            <a:off x="822959" y="2286000"/>
            <a:ext cx="3337560" cy="1920240"/>
          </a:xfrm>
          <a:prstGeom prst="rect">
            <a:avLst/>
          </a:prstGeom>
          <a:noFill/>
        </p:spPr>
        <p:txBody>
          <a:bodyPr wrap="square" lIns="0" rIns="0" tIns="0" bIns="0" anchor="t">
            <a:spAutoFit/>
          </a:bodyPr>
          <a:lstStyle/>
          <a:p>
            <a:pPr algn="l">
              <a:lnSpc>
                <a:spcPct val="122000"/>
              </a:lnSpc>
              <a:spcAft>
                <a:spcPts val="0"/>
              </a:spcAft>
            </a:pPr>
            <a:r>
              <a:rPr sz="1200" b="0">
                <a:solidFill>
                  <a:srgbClr val="A8A8B0"/>
                </a:solidFill>
                <a:latin typeface="Segoe UI"/>
              </a:rPr>
              <a:t>Switch off spend categories for Sunita and her two missed EMIs become invisible — we cannot tell an EMI from a grocery bill. The wellness gate cannot fire, confidence drops, and the card says why. The same data that lets a bank sell to you is what lets it notice you are in trouble.</a:t>
            </a:r>
          </a:p>
        </p:txBody>
      </p:sp>
      <p:sp>
        <p:nvSpPr>
          <p:cNvPr id="7" name="TextBox 6"/>
          <p:cNvSpPr txBox="1"/>
          <p:nvPr/>
        </p:nvSpPr>
        <p:spPr>
          <a:xfrm>
            <a:off x="548640" y="4480560"/>
            <a:ext cx="3886200" cy="1371600"/>
          </a:xfrm>
          <a:prstGeom prst="rect">
            <a:avLst/>
          </a:prstGeom>
          <a:noFill/>
        </p:spPr>
        <p:txBody>
          <a:bodyPr wrap="square" lIns="0" rIns="0" tIns="0" bIns="0" anchor="t">
            <a:spAutoFit/>
          </a:bodyPr>
          <a:lstStyle/>
          <a:p>
            <a:pPr algn="l">
              <a:lnSpc>
                <a:spcPct val="118000"/>
              </a:lnSpc>
              <a:spcAft>
                <a:spcPts val="800"/>
              </a:spcAft>
            </a:pPr>
            <a:r>
              <a:rPr sz="1150" b="0">
                <a:solidFill>
                  <a:srgbClr val="F5F5F6"/>
                </a:solidFill>
                <a:latin typeface="Segoe UI Semibold"/>
              </a:rPr>
              <a:t>No raw transactions reach the LLM. </a:t>
            </a:r>
            <a:r>
              <a:rPr sz="1150" b="0">
                <a:solidFill>
                  <a:srgbClr val="A8A8B0"/>
                </a:solidFill>
                <a:latin typeface="Segoe UI"/>
              </a:rPr>
              <a:t>It only ever sees derived reasons.</a:t>
            </a:r>
          </a:p>
          <a:p>
            <a:pPr algn="l">
              <a:lnSpc>
                <a:spcPct val="118000"/>
              </a:lnSpc>
              <a:spcAft>
                <a:spcPts val="800"/>
              </a:spcAft>
            </a:pPr>
            <a:r>
              <a:rPr sz="1150" b="0">
                <a:solidFill>
                  <a:srgbClr val="F5F5F6"/>
                </a:solidFill>
                <a:latin typeface="Segoe UI Semibold"/>
              </a:rPr>
              <a:t>PII screened on the way out. </a:t>
            </a:r>
            <a:r>
              <a:rPr sz="1150" b="0">
                <a:solidFill>
                  <a:srgbClr val="A8A8B0"/>
                </a:solidFill>
                <a:latin typeface="Segoe UI"/>
              </a:rPr>
              <a:t>Aadhaar, PAN and phone patterns are blocked before a reply is shown.</a:t>
            </a:r>
          </a:p>
        </p:txBody>
      </p:sp>
      <p:sp>
        <p:nvSpPr>
          <p:cNvPr id="8" name="Rounded Rectangle 7"/>
          <p:cNvSpPr/>
          <p:nvPr/>
        </p:nvSpPr>
        <p:spPr>
          <a:xfrm>
            <a:off x="4754879" y="1645920"/>
            <a:ext cx="3329787" cy="1325880"/>
          </a:xfrm>
          <a:prstGeom prst="roundRect">
            <a:avLst>
              <a:gd name="adj" fmla="val 4000"/>
            </a:avLst>
          </a:prstGeom>
          <a:solidFill>
            <a:srgbClr val="16161A"/>
          </a:solidFill>
          <a:ln w="9525">
            <a:solidFill>
              <a:srgbClr val="303037"/>
            </a:solidFill>
          </a:ln>
        </p:spPr>
        <p:txBody>
          <a:bodyPr rtlCol="0" anchor="ctr"/>
          <a:lstStyle/>
          <a:p/>
        </p:txBody>
      </p:sp>
      <p:sp>
        <p:nvSpPr>
          <p:cNvPr id="9" name="TextBox 8"/>
          <p:cNvSpPr txBox="1"/>
          <p:nvPr/>
        </p:nvSpPr>
        <p:spPr>
          <a:xfrm>
            <a:off x="4956047" y="1847088"/>
            <a:ext cx="2927451" cy="502920"/>
          </a:xfrm>
          <a:prstGeom prst="rect">
            <a:avLst/>
          </a:prstGeom>
          <a:noFill/>
        </p:spPr>
        <p:txBody>
          <a:bodyPr wrap="square" lIns="0" rIns="0" tIns="0" bIns="0" anchor="t">
            <a:spAutoFit/>
          </a:bodyPr>
          <a:lstStyle/>
          <a:p>
            <a:pPr algn="l">
              <a:lnSpc>
                <a:spcPct val="105000"/>
              </a:lnSpc>
              <a:spcAft>
                <a:spcPts val="0"/>
              </a:spcAft>
            </a:pPr>
            <a:r>
              <a:rPr sz="1350" b="0">
                <a:solidFill>
                  <a:srgbClr val="F5F5F6"/>
                </a:solidFill>
                <a:latin typeface="Segoe UI Semibold"/>
              </a:rPr>
              <a:t>DPDP-style consent</a:t>
            </a:r>
          </a:p>
        </p:txBody>
      </p:sp>
      <p:sp>
        <p:nvSpPr>
          <p:cNvPr id="10" name="TextBox 9"/>
          <p:cNvSpPr txBox="1"/>
          <p:nvPr/>
        </p:nvSpPr>
        <p:spPr>
          <a:xfrm>
            <a:off x="4956047" y="2148611"/>
            <a:ext cx="2927451" cy="622020"/>
          </a:xfrm>
          <a:prstGeom prst="rect">
            <a:avLst/>
          </a:prstGeom>
          <a:noFill/>
        </p:spPr>
        <p:txBody>
          <a:bodyPr wrap="square" lIns="0" rIns="0" tIns="0" bIns="0" anchor="t">
            <a:spAutoFit/>
          </a:bodyPr>
          <a:lstStyle/>
          <a:p>
            <a:pPr algn="l">
              <a:lnSpc>
                <a:spcPct val="115000"/>
              </a:lnSpc>
              <a:spcAft>
                <a:spcPts val="0"/>
              </a:spcAft>
            </a:pPr>
            <a:r>
              <a:rPr sz="1050" b="0">
                <a:solidFill>
                  <a:srgbClr val="A8A8B0"/>
                </a:solidFill>
                <a:latin typeface="Segoe UI"/>
              </a:rPr>
              <a:t>Three separate scopes, each stating its purpose and what is lost without it. Withdrawing is one tap.</a:t>
            </a:r>
          </a:p>
        </p:txBody>
      </p:sp>
      <p:sp>
        <p:nvSpPr>
          <p:cNvPr id="11" name="Rounded Rectangle 10"/>
          <p:cNvSpPr/>
          <p:nvPr/>
        </p:nvSpPr>
        <p:spPr>
          <a:xfrm>
            <a:off x="8313267" y="1645920"/>
            <a:ext cx="3329787" cy="1325880"/>
          </a:xfrm>
          <a:prstGeom prst="roundRect">
            <a:avLst>
              <a:gd name="adj" fmla="val 4000"/>
            </a:avLst>
          </a:prstGeom>
          <a:solidFill>
            <a:srgbClr val="16161A"/>
          </a:solidFill>
          <a:ln w="9525">
            <a:solidFill>
              <a:srgbClr val="303037"/>
            </a:solidFill>
          </a:ln>
        </p:spPr>
        <p:txBody>
          <a:bodyPr rtlCol="0" anchor="ctr"/>
          <a:lstStyle/>
          <a:p/>
        </p:txBody>
      </p:sp>
      <p:sp>
        <p:nvSpPr>
          <p:cNvPr id="12" name="TextBox 11"/>
          <p:cNvSpPr txBox="1"/>
          <p:nvPr/>
        </p:nvSpPr>
        <p:spPr>
          <a:xfrm>
            <a:off x="8514435" y="1847088"/>
            <a:ext cx="2927451" cy="502920"/>
          </a:xfrm>
          <a:prstGeom prst="rect">
            <a:avLst/>
          </a:prstGeom>
          <a:noFill/>
        </p:spPr>
        <p:txBody>
          <a:bodyPr wrap="square" lIns="0" rIns="0" tIns="0" bIns="0" anchor="t">
            <a:spAutoFit/>
          </a:bodyPr>
          <a:lstStyle/>
          <a:p>
            <a:pPr algn="l">
              <a:lnSpc>
                <a:spcPct val="105000"/>
              </a:lnSpc>
              <a:spcAft>
                <a:spcPts val="0"/>
              </a:spcAft>
            </a:pPr>
            <a:r>
              <a:rPr sz="1350" b="0">
                <a:solidFill>
                  <a:srgbClr val="F5F5F6"/>
                </a:solidFill>
                <a:latin typeface="Segoe UI Semibold"/>
              </a:rPr>
              <a:t>Append-only consent ledger</a:t>
            </a:r>
          </a:p>
        </p:txBody>
      </p:sp>
      <p:sp>
        <p:nvSpPr>
          <p:cNvPr id="13" name="TextBox 12"/>
          <p:cNvSpPr txBox="1"/>
          <p:nvPr/>
        </p:nvSpPr>
        <p:spPr>
          <a:xfrm>
            <a:off x="8514435" y="2148611"/>
            <a:ext cx="2927451" cy="622020"/>
          </a:xfrm>
          <a:prstGeom prst="rect">
            <a:avLst/>
          </a:prstGeom>
          <a:noFill/>
        </p:spPr>
        <p:txBody>
          <a:bodyPr wrap="square" lIns="0" rIns="0" tIns="0" bIns="0" anchor="t">
            <a:spAutoFit/>
          </a:bodyPr>
          <a:lstStyle/>
          <a:p>
            <a:pPr algn="l">
              <a:lnSpc>
                <a:spcPct val="115000"/>
              </a:lnSpc>
              <a:spcAft>
                <a:spcPts val="0"/>
              </a:spcAft>
            </a:pPr>
            <a:r>
              <a:rPr sz="1050" b="0">
                <a:solidFill>
                  <a:srgbClr val="A8A8B0"/>
                </a:solidFill>
                <a:latin typeface="Segoe UI"/>
              </a:rPr>
              <a:t>Every grant and withdrawal is a timestamped row with its purpose, so “what had they consented to when we decided?” has an answer.</a:t>
            </a:r>
          </a:p>
        </p:txBody>
      </p:sp>
      <p:sp>
        <p:nvSpPr>
          <p:cNvPr id="14" name="Rounded Rectangle 13"/>
          <p:cNvSpPr/>
          <p:nvPr/>
        </p:nvSpPr>
        <p:spPr>
          <a:xfrm>
            <a:off x="4754879" y="3127248"/>
            <a:ext cx="3329787" cy="1325880"/>
          </a:xfrm>
          <a:prstGeom prst="roundRect">
            <a:avLst>
              <a:gd name="adj" fmla="val 4000"/>
            </a:avLst>
          </a:prstGeom>
          <a:solidFill>
            <a:srgbClr val="16161A"/>
          </a:solidFill>
          <a:ln w="9525">
            <a:solidFill>
              <a:srgbClr val="303037"/>
            </a:solidFill>
          </a:ln>
        </p:spPr>
        <p:txBody>
          <a:bodyPr rtlCol="0" anchor="ctr"/>
          <a:lstStyle/>
          <a:p/>
        </p:txBody>
      </p:sp>
      <p:sp>
        <p:nvSpPr>
          <p:cNvPr id="15" name="TextBox 14"/>
          <p:cNvSpPr txBox="1"/>
          <p:nvPr/>
        </p:nvSpPr>
        <p:spPr>
          <a:xfrm>
            <a:off x="4956047" y="3328416"/>
            <a:ext cx="2927451" cy="502920"/>
          </a:xfrm>
          <a:prstGeom prst="rect">
            <a:avLst/>
          </a:prstGeom>
          <a:noFill/>
        </p:spPr>
        <p:txBody>
          <a:bodyPr wrap="square" lIns="0" rIns="0" tIns="0" bIns="0" anchor="t">
            <a:spAutoFit/>
          </a:bodyPr>
          <a:lstStyle/>
          <a:p>
            <a:pPr algn="l">
              <a:lnSpc>
                <a:spcPct val="105000"/>
              </a:lnSpc>
              <a:spcAft>
                <a:spcPts val="0"/>
              </a:spcAft>
            </a:pPr>
            <a:r>
              <a:rPr sz="1350" b="0">
                <a:solidFill>
                  <a:srgbClr val="F5F5F6"/>
                </a:solidFill>
                <a:latin typeface="Segoe UI Semibold"/>
              </a:rPr>
              <a:t>Tamper-evident audit</a:t>
            </a:r>
          </a:p>
        </p:txBody>
      </p:sp>
      <p:sp>
        <p:nvSpPr>
          <p:cNvPr id="16" name="TextBox 15"/>
          <p:cNvSpPr txBox="1"/>
          <p:nvPr/>
        </p:nvSpPr>
        <p:spPr>
          <a:xfrm>
            <a:off x="4956047" y="3629939"/>
            <a:ext cx="2927451" cy="622020"/>
          </a:xfrm>
          <a:prstGeom prst="rect">
            <a:avLst/>
          </a:prstGeom>
          <a:noFill/>
        </p:spPr>
        <p:txBody>
          <a:bodyPr wrap="square" lIns="0" rIns="0" tIns="0" bIns="0" anchor="t">
            <a:spAutoFit/>
          </a:bodyPr>
          <a:lstStyle/>
          <a:p>
            <a:pPr algn="l">
              <a:lnSpc>
                <a:spcPct val="115000"/>
              </a:lnSpc>
              <a:spcAft>
                <a:spcPts val="0"/>
              </a:spcAft>
            </a:pPr>
            <a:r>
              <a:rPr sz="1050" b="0">
                <a:solidFill>
                  <a:srgbClr val="A8A8B0"/>
                </a:solidFill>
                <a:latin typeface="Segoe UI"/>
              </a:rPr>
              <a:t>Each record carries the SHA-256 of the one before. Our tests alter a stored row and verification fails.</a:t>
            </a:r>
          </a:p>
        </p:txBody>
      </p:sp>
      <p:sp>
        <p:nvSpPr>
          <p:cNvPr id="17" name="Rounded Rectangle 16"/>
          <p:cNvSpPr/>
          <p:nvPr/>
        </p:nvSpPr>
        <p:spPr>
          <a:xfrm>
            <a:off x="8313267" y="3127248"/>
            <a:ext cx="3329787" cy="1325880"/>
          </a:xfrm>
          <a:prstGeom prst="roundRect">
            <a:avLst>
              <a:gd name="adj" fmla="val 4000"/>
            </a:avLst>
          </a:prstGeom>
          <a:solidFill>
            <a:srgbClr val="16161A"/>
          </a:solidFill>
          <a:ln w="9525">
            <a:solidFill>
              <a:srgbClr val="303037"/>
            </a:solidFill>
          </a:ln>
        </p:spPr>
        <p:txBody>
          <a:bodyPr rtlCol="0" anchor="ctr"/>
          <a:lstStyle/>
          <a:p/>
        </p:txBody>
      </p:sp>
      <p:sp>
        <p:nvSpPr>
          <p:cNvPr id="18" name="TextBox 17"/>
          <p:cNvSpPr txBox="1"/>
          <p:nvPr/>
        </p:nvSpPr>
        <p:spPr>
          <a:xfrm>
            <a:off x="8514435" y="3328416"/>
            <a:ext cx="2927451" cy="502920"/>
          </a:xfrm>
          <a:prstGeom prst="rect">
            <a:avLst/>
          </a:prstGeom>
          <a:noFill/>
        </p:spPr>
        <p:txBody>
          <a:bodyPr wrap="square" lIns="0" rIns="0" tIns="0" bIns="0" anchor="t">
            <a:spAutoFit/>
          </a:bodyPr>
          <a:lstStyle/>
          <a:p>
            <a:pPr algn="l">
              <a:lnSpc>
                <a:spcPct val="105000"/>
              </a:lnSpc>
              <a:spcAft>
                <a:spcPts val="0"/>
              </a:spcAft>
            </a:pPr>
            <a:r>
              <a:rPr sz="1350" b="0">
                <a:solidFill>
                  <a:srgbClr val="F5F5F6"/>
                </a:solidFill>
                <a:latin typeface="Segoe UI Semibold"/>
              </a:rPr>
              <a:t>Localisation, verified live</a:t>
            </a:r>
          </a:p>
        </p:txBody>
      </p:sp>
      <p:sp>
        <p:nvSpPr>
          <p:cNvPr id="19" name="TextBox 18"/>
          <p:cNvSpPr txBox="1"/>
          <p:nvPr/>
        </p:nvSpPr>
        <p:spPr>
          <a:xfrm>
            <a:off x="8514435" y="3629939"/>
            <a:ext cx="2927451" cy="622020"/>
          </a:xfrm>
          <a:prstGeom prst="rect">
            <a:avLst/>
          </a:prstGeom>
          <a:noFill/>
        </p:spPr>
        <p:txBody>
          <a:bodyPr wrap="square" lIns="0" rIns="0" tIns="0" bIns="0" anchor="t">
            <a:spAutoFit/>
          </a:bodyPr>
          <a:lstStyle/>
          <a:p>
            <a:pPr algn="l">
              <a:lnSpc>
                <a:spcPct val="115000"/>
              </a:lnSpc>
              <a:spcAft>
                <a:spcPts val="0"/>
              </a:spcAft>
            </a:pPr>
            <a:r>
              <a:rPr sz="1050" b="0">
                <a:solidFill>
                  <a:srgbClr val="A8A8B0"/>
                </a:solidFill>
                <a:latin typeface="Segoe UI"/>
              </a:rPr>
              <a:t>Postgres in Mumbai, ap-south-1. The compliance page reads the region off the running connection.</a:t>
            </a:r>
          </a:p>
        </p:txBody>
      </p:sp>
      <p:pic>
        <p:nvPicPr>
          <p:cNvPr id="20" name="Picture 19" descr="residency.png"/>
          <p:cNvPicPr>
            <a:picLocks noChangeAspect="1"/>
          </p:cNvPicPr>
          <p:nvPr/>
        </p:nvPicPr>
        <p:blipFill>
          <a:blip r:embed="rId2"/>
          <a:stretch>
            <a:fillRect/>
          </a:stretch>
        </p:blipFill>
        <p:spPr>
          <a:xfrm>
            <a:off x="5301462" y="4709160"/>
            <a:ext cx="5795010" cy="1234440"/>
          </a:xfrm>
          <a:prstGeom prst="rect">
            <a:avLst/>
          </a:prstGeom>
          <a:ln w="9525">
            <a:solidFill>
              <a:srgbClr val="303037"/>
            </a:solidFill>
          </a:ln>
        </p:spPr>
      </p:pic>
      <p:cxnSp>
        <p:nvCxnSpPr>
          <p:cNvPr id="21" name="Connector 20"/>
          <p:cNvCxnSpPr/>
          <p:nvPr/>
        </p:nvCxnSpPr>
        <p:spPr>
          <a:xfrm>
            <a:off x="548640" y="6400800"/>
            <a:ext cx="11094415"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6492240"/>
            <a:ext cx="5486400" cy="22860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a:rPr>
              <a:t>DhanSathi  ·  Explainable banking for Bharat</a:t>
            </a:r>
          </a:p>
        </p:txBody>
      </p:sp>
      <p:sp>
        <p:nvSpPr>
          <p:cNvPr id="23" name="TextBox 22"/>
          <p:cNvSpPr txBox="1"/>
          <p:nvPr/>
        </p:nvSpPr>
        <p:spPr>
          <a:xfrm>
            <a:off x="9814255" y="6492240"/>
            <a:ext cx="1828800" cy="228600"/>
          </a:xfrm>
          <a:prstGeom prst="rect">
            <a:avLst/>
          </a:prstGeom>
          <a:noFill/>
        </p:spPr>
        <p:txBody>
          <a:bodyPr wrap="square" lIns="0" rIns="0" tIns="0" bIns="0" anchor="t">
            <a:spAutoFit/>
          </a:bodyPr>
          <a:lstStyle/>
          <a:p>
            <a:pPr algn="r">
              <a:lnSpc>
                <a:spcPct val="112000"/>
              </a:lnSpc>
              <a:spcAft>
                <a:spcPts val="0"/>
              </a:spcAft>
            </a:pPr>
            <a:r>
              <a:rPr sz="900" b="0">
                <a:solidFill>
                  <a:srgbClr val="70707A"/>
                </a:solidFill>
                <a:latin typeface="Segoe UI"/>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Semibold"/>
              </a:rPr>
              <a:t>10 · ETHICAL SAFEGUARDS — BIAS AND PREDATORY NUDGING  (DELIVERABLE)</a:t>
            </a:r>
          </a:p>
        </p:txBody>
      </p:sp>
      <p:sp>
        <p:nvSpPr>
          <p:cNvPr id="3" name="TextBox 2"/>
          <p:cNvSpPr txBox="1"/>
          <p:nvPr/>
        </p:nvSpPr>
        <p:spPr>
          <a:xfrm>
            <a:off x="548640" y="658368"/>
            <a:ext cx="11094415" cy="1097280"/>
          </a:xfrm>
          <a:prstGeom prst="rect">
            <a:avLst/>
          </a:prstGeom>
          <a:noFill/>
        </p:spPr>
        <p:txBody>
          <a:bodyPr wrap="square" lIns="0" rIns="0" tIns="0" bIns="0" anchor="t">
            <a:spAutoFit/>
          </a:bodyPr>
          <a:lstStyle/>
          <a:p>
            <a:pPr algn="l">
              <a:lnSpc>
                <a:spcPct val="102000"/>
              </a:lnSpc>
              <a:spcAft>
                <a:spcPts val="0"/>
              </a:spcAft>
            </a:pPr>
            <a:r>
              <a:rPr sz="2800" b="0">
                <a:solidFill>
                  <a:srgbClr val="F5F5F6"/>
                </a:solidFill>
                <a:latin typeface="Segoe UI Semibold"/>
              </a:rPr>
              <a:t>We ran the fairness audit, and published the result that fails.</a:t>
            </a:r>
          </a:p>
        </p:txBody>
      </p:sp>
      <p:sp>
        <p:nvSpPr>
          <p:cNvPr id="4" name="TextBox 3"/>
          <p:cNvSpPr txBox="1"/>
          <p:nvPr/>
        </p:nvSpPr>
        <p:spPr>
          <a:xfrm>
            <a:off x="548640" y="1645920"/>
            <a:ext cx="6492240" cy="457200"/>
          </a:xfrm>
          <a:prstGeom prst="rect">
            <a:avLst/>
          </a:prstGeom>
          <a:noFill/>
        </p:spPr>
        <p:txBody>
          <a:bodyPr wrap="square" lIns="0" rIns="0" tIns="0" bIns="0" anchor="t">
            <a:spAutoFit/>
          </a:bodyPr>
          <a:lstStyle/>
          <a:p>
            <a:pPr algn="l">
              <a:lnSpc>
                <a:spcPct val="115000"/>
              </a:lnSpc>
              <a:spcAft>
                <a:spcPts val="0"/>
              </a:spcAft>
            </a:pPr>
            <a:r>
              <a:rPr sz="1200" b="0">
                <a:solidFill>
                  <a:srgbClr val="A8A8B0"/>
                </a:solidFill>
                <a:latin typeface="Segoe UI"/>
              </a:rPr>
              <a:t>Four-fifths rule, 6,000 customers through the full pipeline: signals, recommendation, model and wellness gate.</a:t>
            </a:r>
          </a:p>
        </p:txBody>
      </p:sp>
      <p:sp>
        <p:nvSpPr>
          <p:cNvPr id="5" name="Rectangle 4"/>
          <p:cNvSpPr/>
          <p:nvPr/>
        </p:nvSpPr>
        <p:spPr>
          <a:xfrm>
            <a:off x="548640" y="2240280"/>
            <a:ext cx="6492240" cy="384048"/>
          </a:xfrm>
          <a:prstGeom prst="rect">
            <a:avLst/>
          </a:prstGeom>
          <a:solidFill>
            <a:srgbClr val="1F1F24"/>
          </a:solidFill>
          <a:ln w="9525">
            <a:solidFill>
              <a:srgbClr val="303037"/>
            </a:solidFill>
          </a:ln>
        </p:spPr>
        <p:txBody>
          <a:bodyPr rtlCol="0" anchor="ctr"/>
          <a:lstStyle/>
          <a:p/>
        </p:txBody>
      </p:sp>
      <p:sp>
        <p:nvSpPr>
          <p:cNvPr id="6" name="TextBox 5"/>
          <p:cNvSpPr txBox="1"/>
          <p:nvPr/>
        </p:nvSpPr>
        <p:spPr>
          <a:xfrm>
            <a:off x="777240" y="2240280"/>
            <a:ext cx="2743200" cy="384048"/>
          </a:xfrm>
          <a:prstGeom prst="rect">
            <a:avLst/>
          </a:prstGeom>
          <a:noFill/>
        </p:spPr>
        <p:txBody>
          <a:bodyPr wrap="square" lIns="0" rIns="0" tIns="0" bIns="0" anchor="ctr">
            <a:spAutoFit/>
          </a:bodyPr>
          <a:lstStyle/>
          <a:p>
            <a:pPr algn="l">
              <a:lnSpc>
                <a:spcPct val="112000"/>
              </a:lnSpc>
              <a:spcAft>
                <a:spcPts val="0"/>
              </a:spcAft>
            </a:pPr>
            <a:r>
              <a:rPr sz="1000" b="0">
                <a:solidFill>
                  <a:srgbClr val="70707A"/>
                </a:solidFill>
                <a:latin typeface="Segoe UI Semibold"/>
              </a:rPr>
              <a:t>ATTRIBUTE</a:t>
            </a:r>
          </a:p>
        </p:txBody>
      </p:sp>
      <p:sp>
        <p:nvSpPr>
          <p:cNvPr id="7" name="TextBox 6"/>
          <p:cNvSpPr txBox="1"/>
          <p:nvPr/>
        </p:nvSpPr>
        <p:spPr>
          <a:xfrm>
            <a:off x="3474720" y="2240280"/>
            <a:ext cx="1645920" cy="384048"/>
          </a:xfrm>
          <a:prstGeom prst="rect">
            <a:avLst/>
          </a:prstGeom>
          <a:noFill/>
        </p:spPr>
        <p:txBody>
          <a:bodyPr wrap="square" lIns="0" rIns="0" tIns="0" bIns="0" anchor="ctr">
            <a:spAutoFit/>
          </a:bodyPr>
          <a:lstStyle/>
          <a:p>
            <a:pPr algn="l">
              <a:lnSpc>
                <a:spcPct val="112000"/>
              </a:lnSpc>
              <a:spcAft>
                <a:spcPts val="0"/>
              </a:spcAft>
            </a:pPr>
            <a:r>
              <a:rPr sz="1000" b="0">
                <a:solidFill>
                  <a:srgbClr val="70707A"/>
                </a:solidFill>
                <a:latin typeface="Segoe UI Semibold"/>
              </a:rPr>
              <a:t>IMPACT RATIO</a:t>
            </a:r>
          </a:p>
        </p:txBody>
      </p:sp>
      <p:sp>
        <p:nvSpPr>
          <p:cNvPr id="8" name="TextBox 7"/>
          <p:cNvSpPr txBox="1"/>
          <p:nvPr/>
        </p:nvSpPr>
        <p:spPr>
          <a:xfrm>
            <a:off x="5303520" y="2240280"/>
            <a:ext cx="1554480" cy="384048"/>
          </a:xfrm>
          <a:prstGeom prst="rect">
            <a:avLst/>
          </a:prstGeom>
          <a:noFill/>
        </p:spPr>
        <p:txBody>
          <a:bodyPr wrap="square" lIns="0" rIns="0" tIns="0" bIns="0" anchor="ctr">
            <a:spAutoFit/>
          </a:bodyPr>
          <a:lstStyle/>
          <a:p>
            <a:pPr algn="l">
              <a:lnSpc>
                <a:spcPct val="112000"/>
              </a:lnSpc>
              <a:spcAft>
                <a:spcPts val="0"/>
              </a:spcAft>
            </a:pPr>
            <a:r>
              <a:rPr sz="1000" b="0">
                <a:solidFill>
                  <a:srgbClr val="70707A"/>
                </a:solidFill>
                <a:latin typeface="Segoe UI Semibold"/>
              </a:rPr>
              <a:t>RESULT</a:t>
            </a:r>
          </a:p>
        </p:txBody>
      </p:sp>
      <p:sp>
        <p:nvSpPr>
          <p:cNvPr id="9" name="Rectangle 8"/>
          <p:cNvSpPr/>
          <p:nvPr/>
        </p:nvSpPr>
        <p:spPr>
          <a:xfrm>
            <a:off x="548640" y="2624328"/>
            <a:ext cx="6492240" cy="548640"/>
          </a:xfrm>
          <a:prstGeom prst="rect">
            <a:avLst/>
          </a:prstGeom>
          <a:solidFill>
            <a:srgbClr val="16161A"/>
          </a:solidFill>
          <a:ln w="9525">
            <a:solidFill>
              <a:srgbClr val="303037"/>
            </a:solidFill>
          </a:ln>
        </p:spPr>
        <p:txBody>
          <a:bodyPr rtlCol="0" anchor="ctr"/>
          <a:lstStyle/>
          <a:p/>
        </p:txBody>
      </p:sp>
      <p:sp>
        <p:nvSpPr>
          <p:cNvPr id="10" name="TextBox 9"/>
          <p:cNvSpPr txBox="1"/>
          <p:nvPr/>
        </p:nvSpPr>
        <p:spPr>
          <a:xfrm>
            <a:off x="777240" y="2624328"/>
            <a:ext cx="2743200" cy="548640"/>
          </a:xfrm>
          <a:prstGeom prst="rect">
            <a:avLst/>
          </a:prstGeom>
          <a:noFill/>
        </p:spPr>
        <p:txBody>
          <a:bodyPr wrap="square" lIns="0" rIns="0" tIns="0" bIns="0" anchor="ctr">
            <a:spAutoFit/>
          </a:bodyPr>
          <a:lstStyle/>
          <a:p>
            <a:pPr algn="l">
              <a:lnSpc>
                <a:spcPct val="112000"/>
              </a:lnSpc>
              <a:spcAft>
                <a:spcPts val="0"/>
              </a:spcAft>
            </a:pPr>
            <a:r>
              <a:rPr sz="1400" b="0">
                <a:solidFill>
                  <a:srgbClr val="F5F5F6"/>
                </a:solidFill>
                <a:latin typeface="Segoe UI Semibold"/>
              </a:rPr>
              <a:t>Gender</a:t>
            </a:r>
          </a:p>
        </p:txBody>
      </p:sp>
      <p:sp>
        <p:nvSpPr>
          <p:cNvPr id="11" name="TextBox 10"/>
          <p:cNvSpPr txBox="1"/>
          <p:nvPr/>
        </p:nvSpPr>
        <p:spPr>
          <a:xfrm>
            <a:off x="3474720" y="2624328"/>
            <a:ext cx="1645920" cy="548640"/>
          </a:xfrm>
          <a:prstGeom prst="rect">
            <a:avLst/>
          </a:prstGeom>
          <a:noFill/>
        </p:spPr>
        <p:txBody>
          <a:bodyPr wrap="square" lIns="0" rIns="0" tIns="0" bIns="0" anchor="ctr">
            <a:spAutoFit/>
          </a:bodyPr>
          <a:lstStyle/>
          <a:p>
            <a:pPr algn="l">
              <a:lnSpc>
                <a:spcPct val="112000"/>
              </a:lnSpc>
              <a:spcAft>
                <a:spcPts val="0"/>
              </a:spcAft>
            </a:pPr>
            <a:r>
              <a:rPr sz="1400" b="0">
                <a:solidFill>
                  <a:srgbClr val="F5F5F6"/>
                </a:solidFill>
                <a:latin typeface="Segoe UI Semibold"/>
              </a:rPr>
              <a:t>0.98</a:t>
            </a:r>
          </a:p>
        </p:txBody>
      </p:sp>
      <p:sp>
        <p:nvSpPr>
          <p:cNvPr id="12" name="Rounded Rectangle 11"/>
          <p:cNvSpPr/>
          <p:nvPr/>
        </p:nvSpPr>
        <p:spPr>
          <a:xfrm>
            <a:off x="5303520" y="2775204"/>
            <a:ext cx="596188" cy="246888"/>
          </a:xfrm>
          <a:prstGeom prst="roundRect">
            <a:avLst>
              <a:gd name="adj" fmla="val 18000"/>
            </a:avLst>
          </a:prstGeom>
          <a:noFill/>
          <a:ln w="9525">
            <a:solidFill>
              <a:srgbClr val="4A4A52"/>
            </a:solidFill>
          </a:ln>
        </p:spPr>
        <p:txBody>
          <a:bodyPr rtlCol="0" anchor="ctr"/>
          <a:lstStyle/>
          <a:p/>
        </p:txBody>
      </p:sp>
      <p:sp>
        <p:nvSpPr>
          <p:cNvPr id="13" name="TextBox 12"/>
          <p:cNvSpPr txBox="1"/>
          <p:nvPr/>
        </p:nvSpPr>
        <p:spPr>
          <a:xfrm>
            <a:off x="5303520" y="2775204"/>
            <a:ext cx="596188" cy="246888"/>
          </a:xfrm>
          <a:prstGeom prst="rect">
            <a:avLst/>
          </a:prstGeom>
          <a:noFill/>
        </p:spPr>
        <p:txBody>
          <a:bodyPr wrap="square" lIns="0" rIns="0" tIns="0" bIns="0" anchor="ctr">
            <a:spAutoFit/>
          </a:bodyPr>
          <a:lstStyle/>
          <a:p>
            <a:pPr algn="ctr">
              <a:lnSpc>
                <a:spcPct val="112000"/>
              </a:lnSpc>
              <a:spcAft>
                <a:spcPts val="0"/>
              </a:spcAft>
            </a:pPr>
            <a:r>
              <a:rPr sz="1000" b="0">
                <a:solidFill>
                  <a:srgbClr val="F5F5F6"/>
                </a:solidFill>
                <a:latin typeface="Segoe UI Semibold"/>
              </a:rPr>
              <a:t>PASS</a:t>
            </a:r>
          </a:p>
        </p:txBody>
      </p:sp>
      <p:sp>
        <p:nvSpPr>
          <p:cNvPr id="14" name="Rectangle 13"/>
          <p:cNvSpPr/>
          <p:nvPr/>
        </p:nvSpPr>
        <p:spPr>
          <a:xfrm>
            <a:off x="548640" y="3172968"/>
            <a:ext cx="6492240" cy="548640"/>
          </a:xfrm>
          <a:prstGeom prst="rect">
            <a:avLst/>
          </a:prstGeom>
          <a:solidFill>
            <a:srgbClr val="16161A"/>
          </a:solidFill>
          <a:ln w="9525">
            <a:solidFill>
              <a:srgbClr val="303037"/>
            </a:solidFill>
          </a:ln>
        </p:spPr>
        <p:txBody>
          <a:bodyPr rtlCol="0" anchor="ctr"/>
          <a:lstStyle/>
          <a:p/>
        </p:txBody>
      </p:sp>
      <p:sp>
        <p:nvSpPr>
          <p:cNvPr id="15" name="TextBox 14"/>
          <p:cNvSpPr txBox="1"/>
          <p:nvPr/>
        </p:nvSpPr>
        <p:spPr>
          <a:xfrm>
            <a:off x="777240" y="3172968"/>
            <a:ext cx="2743200" cy="548640"/>
          </a:xfrm>
          <a:prstGeom prst="rect">
            <a:avLst/>
          </a:prstGeom>
          <a:noFill/>
        </p:spPr>
        <p:txBody>
          <a:bodyPr wrap="square" lIns="0" rIns="0" tIns="0" bIns="0" anchor="ctr">
            <a:spAutoFit/>
          </a:bodyPr>
          <a:lstStyle/>
          <a:p>
            <a:pPr algn="l">
              <a:lnSpc>
                <a:spcPct val="112000"/>
              </a:lnSpc>
              <a:spcAft>
                <a:spcPts val="0"/>
              </a:spcAft>
            </a:pPr>
            <a:r>
              <a:rPr sz="1400" b="0">
                <a:solidFill>
                  <a:srgbClr val="F5F5F6"/>
                </a:solidFill>
                <a:latin typeface="Segoe UI Semibold"/>
              </a:rPr>
              <a:t>City tier</a:t>
            </a:r>
          </a:p>
        </p:txBody>
      </p:sp>
      <p:sp>
        <p:nvSpPr>
          <p:cNvPr id="16" name="TextBox 15"/>
          <p:cNvSpPr txBox="1"/>
          <p:nvPr/>
        </p:nvSpPr>
        <p:spPr>
          <a:xfrm>
            <a:off x="3474720" y="3172968"/>
            <a:ext cx="1645920" cy="548640"/>
          </a:xfrm>
          <a:prstGeom prst="rect">
            <a:avLst/>
          </a:prstGeom>
          <a:noFill/>
        </p:spPr>
        <p:txBody>
          <a:bodyPr wrap="square" lIns="0" rIns="0" tIns="0" bIns="0" anchor="ctr">
            <a:spAutoFit/>
          </a:bodyPr>
          <a:lstStyle/>
          <a:p>
            <a:pPr algn="l">
              <a:lnSpc>
                <a:spcPct val="112000"/>
              </a:lnSpc>
              <a:spcAft>
                <a:spcPts val="0"/>
              </a:spcAft>
            </a:pPr>
            <a:r>
              <a:rPr sz="1400" b="0">
                <a:solidFill>
                  <a:srgbClr val="F5F5F6"/>
                </a:solidFill>
                <a:latin typeface="Segoe UI Semibold"/>
              </a:rPr>
              <a:t>0.92</a:t>
            </a:r>
          </a:p>
        </p:txBody>
      </p:sp>
      <p:sp>
        <p:nvSpPr>
          <p:cNvPr id="17" name="Rounded Rectangle 16"/>
          <p:cNvSpPr/>
          <p:nvPr/>
        </p:nvSpPr>
        <p:spPr>
          <a:xfrm>
            <a:off x="5303520" y="3323844"/>
            <a:ext cx="596188" cy="246888"/>
          </a:xfrm>
          <a:prstGeom prst="roundRect">
            <a:avLst>
              <a:gd name="adj" fmla="val 18000"/>
            </a:avLst>
          </a:prstGeom>
          <a:noFill/>
          <a:ln w="9525">
            <a:solidFill>
              <a:srgbClr val="4A4A52"/>
            </a:solidFill>
          </a:ln>
        </p:spPr>
        <p:txBody>
          <a:bodyPr rtlCol="0" anchor="ctr"/>
          <a:lstStyle/>
          <a:p/>
        </p:txBody>
      </p:sp>
      <p:sp>
        <p:nvSpPr>
          <p:cNvPr id="18" name="TextBox 17"/>
          <p:cNvSpPr txBox="1"/>
          <p:nvPr/>
        </p:nvSpPr>
        <p:spPr>
          <a:xfrm>
            <a:off x="5303520" y="3323844"/>
            <a:ext cx="596188" cy="246888"/>
          </a:xfrm>
          <a:prstGeom prst="rect">
            <a:avLst/>
          </a:prstGeom>
          <a:noFill/>
        </p:spPr>
        <p:txBody>
          <a:bodyPr wrap="square" lIns="0" rIns="0" tIns="0" bIns="0" anchor="ctr">
            <a:spAutoFit/>
          </a:bodyPr>
          <a:lstStyle/>
          <a:p>
            <a:pPr algn="ctr">
              <a:lnSpc>
                <a:spcPct val="112000"/>
              </a:lnSpc>
              <a:spcAft>
                <a:spcPts val="0"/>
              </a:spcAft>
            </a:pPr>
            <a:r>
              <a:rPr sz="1000" b="0">
                <a:solidFill>
                  <a:srgbClr val="F5F5F6"/>
                </a:solidFill>
                <a:latin typeface="Segoe UI Semibold"/>
              </a:rPr>
              <a:t>PASS</a:t>
            </a:r>
          </a:p>
        </p:txBody>
      </p:sp>
      <p:sp>
        <p:nvSpPr>
          <p:cNvPr id="19" name="Rectangle 18"/>
          <p:cNvSpPr/>
          <p:nvPr/>
        </p:nvSpPr>
        <p:spPr>
          <a:xfrm>
            <a:off x="548640" y="3721608"/>
            <a:ext cx="6492240" cy="548640"/>
          </a:xfrm>
          <a:prstGeom prst="rect">
            <a:avLst/>
          </a:prstGeom>
          <a:solidFill>
            <a:srgbClr val="16161A"/>
          </a:solidFill>
          <a:ln w="9525">
            <a:solidFill>
              <a:srgbClr val="303037"/>
            </a:solidFill>
          </a:ln>
        </p:spPr>
        <p:txBody>
          <a:bodyPr rtlCol="0" anchor="ctr"/>
          <a:lstStyle/>
          <a:p/>
        </p:txBody>
      </p:sp>
      <p:sp>
        <p:nvSpPr>
          <p:cNvPr id="20" name="TextBox 19"/>
          <p:cNvSpPr txBox="1"/>
          <p:nvPr/>
        </p:nvSpPr>
        <p:spPr>
          <a:xfrm>
            <a:off x="777240" y="3721608"/>
            <a:ext cx="2743200" cy="548640"/>
          </a:xfrm>
          <a:prstGeom prst="rect">
            <a:avLst/>
          </a:prstGeom>
          <a:noFill/>
        </p:spPr>
        <p:txBody>
          <a:bodyPr wrap="square" lIns="0" rIns="0" tIns="0" bIns="0" anchor="ctr">
            <a:spAutoFit/>
          </a:bodyPr>
          <a:lstStyle/>
          <a:p>
            <a:pPr algn="l">
              <a:lnSpc>
                <a:spcPct val="112000"/>
              </a:lnSpc>
              <a:spcAft>
                <a:spcPts val="0"/>
              </a:spcAft>
            </a:pPr>
            <a:r>
              <a:rPr sz="1400" b="0">
                <a:solidFill>
                  <a:srgbClr val="F5F5F6"/>
                </a:solidFill>
                <a:latin typeface="Segoe UI Semibold"/>
              </a:rPr>
              <a:t>Income type</a:t>
            </a:r>
          </a:p>
        </p:txBody>
      </p:sp>
      <p:sp>
        <p:nvSpPr>
          <p:cNvPr id="21" name="TextBox 20"/>
          <p:cNvSpPr txBox="1"/>
          <p:nvPr/>
        </p:nvSpPr>
        <p:spPr>
          <a:xfrm>
            <a:off x="3474720" y="3721608"/>
            <a:ext cx="1645920" cy="548640"/>
          </a:xfrm>
          <a:prstGeom prst="rect">
            <a:avLst/>
          </a:prstGeom>
          <a:noFill/>
        </p:spPr>
        <p:txBody>
          <a:bodyPr wrap="square" lIns="0" rIns="0" tIns="0" bIns="0" anchor="ctr">
            <a:spAutoFit/>
          </a:bodyPr>
          <a:lstStyle/>
          <a:p>
            <a:pPr algn="l">
              <a:lnSpc>
                <a:spcPct val="112000"/>
              </a:lnSpc>
              <a:spcAft>
                <a:spcPts val="0"/>
              </a:spcAft>
            </a:pPr>
            <a:r>
              <a:rPr sz="1400" b="0">
                <a:solidFill>
                  <a:srgbClr val="F5F5F6"/>
                </a:solidFill>
                <a:latin typeface="Segoe UI Semibold"/>
              </a:rPr>
              <a:t>0.65</a:t>
            </a:r>
          </a:p>
        </p:txBody>
      </p:sp>
      <p:sp>
        <p:nvSpPr>
          <p:cNvPr id="22" name="Rounded Rectangle 21"/>
          <p:cNvSpPr/>
          <p:nvPr/>
        </p:nvSpPr>
        <p:spPr>
          <a:xfrm>
            <a:off x="5303520" y="3872484"/>
            <a:ext cx="837590" cy="246888"/>
          </a:xfrm>
          <a:prstGeom prst="roundRect">
            <a:avLst>
              <a:gd name="adj" fmla="val 18000"/>
            </a:avLst>
          </a:prstGeom>
          <a:solidFill>
            <a:srgbClr val="F5F5F6"/>
          </a:solidFill>
          <a:ln>
            <a:noFill/>
          </a:ln>
        </p:spPr>
        <p:txBody>
          <a:bodyPr rtlCol="0" anchor="ctr"/>
          <a:lstStyle/>
          <a:p/>
        </p:txBody>
      </p:sp>
      <p:sp>
        <p:nvSpPr>
          <p:cNvPr id="23" name="TextBox 22"/>
          <p:cNvSpPr txBox="1"/>
          <p:nvPr/>
        </p:nvSpPr>
        <p:spPr>
          <a:xfrm>
            <a:off x="5303520" y="3872484"/>
            <a:ext cx="837590" cy="246888"/>
          </a:xfrm>
          <a:prstGeom prst="rect">
            <a:avLst/>
          </a:prstGeom>
          <a:noFill/>
        </p:spPr>
        <p:txBody>
          <a:bodyPr wrap="square" lIns="0" rIns="0" tIns="0" bIns="0" anchor="ctr">
            <a:spAutoFit/>
          </a:bodyPr>
          <a:lstStyle/>
          <a:p>
            <a:pPr algn="ctr">
              <a:lnSpc>
                <a:spcPct val="112000"/>
              </a:lnSpc>
              <a:spcAft>
                <a:spcPts val="0"/>
              </a:spcAft>
            </a:pPr>
            <a:r>
              <a:rPr sz="1000" b="0">
                <a:solidFill>
                  <a:srgbClr val="0B0B0C"/>
                </a:solidFill>
                <a:latin typeface="Segoe UI Semibold"/>
              </a:rPr>
              <a:t>FLAGGED</a:t>
            </a:r>
          </a:p>
        </p:txBody>
      </p:sp>
      <p:sp>
        <p:nvSpPr>
          <p:cNvPr id="24" name="TextBox 23"/>
          <p:cNvSpPr txBox="1"/>
          <p:nvPr/>
        </p:nvSpPr>
        <p:spPr>
          <a:xfrm>
            <a:off x="548640" y="4498848"/>
            <a:ext cx="6492240" cy="1463040"/>
          </a:xfrm>
          <a:prstGeom prst="rect">
            <a:avLst/>
          </a:prstGeom>
          <a:noFill/>
        </p:spPr>
        <p:txBody>
          <a:bodyPr wrap="square" lIns="0" rIns="0" tIns="0" bIns="0" anchor="t">
            <a:spAutoFit/>
          </a:bodyPr>
          <a:lstStyle/>
          <a:p>
            <a:pPr algn="l">
              <a:lnSpc>
                <a:spcPct val="120000"/>
              </a:lnSpc>
              <a:spcAft>
                <a:spcPts val="0"/>
              </a:spcAft>
            </a:pPr>
            <a:r>
              <a:rPr sz="1150" b="0">
                <a:solidFill>
                  <a:srgbClr val="F5F5F6"/>
                </a:solidFill>
                <a:latin typeface="Segoe UI Semibold"/>
              </a:rPr>
              <a:t>Why income type fails, and why we show it. </a:t>
            </a:r>
            <a:r>
              <a:rPr sz="1150" b="0">
                <a:solidFill>
                  <a:srgbClr val="A8A8B0"/>
                </a:solidFill>
                <a:latin typeface="Segoe UI"/>
              </a:rPr>
              <a:t>The gate withholds offers from gig workers far more often: 37% versus 2.5% for salaried customers. The gap is in offers withheld, not support denied, and it falls on the people most harmed by badly timed credit. We would rather defend that number than hide it.</a:t>
            </a:r>
          </a:p>
        </p:txBody>
      </p:sp>
      <p:sp>
        <p:nvSpPr>
          <p:cNvPr id="25" name="Rounded Rectangle 24"/>
          <p:cNvSpPr/>
          <p:nvPr/>
        </p:nvSpPr>
        <p:spPr>
          <a:xfrm>
            <a:off x="7498079" y="1645920"/>
            <a:ext cx="4144975" cy="1828800"/>
          </a:xfrm>
          <a:prstGeom prst="roundRect">
            <a:avLst>
              <a:gd name="adj" fmla="val 5000"/>
            </a:avLst>
          </a:prstGeom>
          <a:solidFill>
            <a:srgbClr val="16161A"/>
          </a:solidFill>
          <a:ln w="9525">
            <a:solidFill>
              <a:srgbClr val="303037"/>
            </a:solidFill>
          </a:ln>
        </p:spPr>
        <p:txBody>
          <a:bodyPr rtlCol="0" anchor="ctr"/>
          <a:lstStyle/>
          <a:p/>
        </p:txBody>
      </p:sp>
      <p:sp>
        <p:nvSpPr>
          <p:cNvPr id="26" name="TextBox 25"/>
          <p:cNvSpPr txBox="1"/>
          <p:nvPr/>
        </p:nvSpPr>
        <p:spPr>
          <a:xfrm>
            <a:off x="7772400" y="1810511"/>
            <a:ext cx="3596335" cy="914400"/>
          </a:xfrm>
          <a:prstGeom prst="rect">
            <a:avLst/>
          </a:prstGeom>
          <a:noFill/>
        </p:spPr>
        <p:txBody>
          <a:bodyPr wrap="square" lIns="0" rIns="0" tIns="0" bIns="0" anchor="t">
            <a:spAutoFit/>
          </a:bodyPr>
          <a:lstStyle/>
          <a:p>
            <a:pPr algn="l">
              <a:lnSpc>
                <a:spcPct val="112000"/>
              </a:lnSpc>
              <a:spcAft>
                <a:spcPts val="0"/>
              </a:spcAft>
            </a:pPr>
            <a:r>
              <a:rPr sz="5400" b="0">
                <a:solidFill>
                  <a:srgbClr val="F5F5F6"/>
                </a:solidFill>
                <a:latin typeface="Segoe UI Semibold"/>
              </a:rPr>
              <a:t>1,052</a:t>
            </a:r>
          </a:p>
        </p:txBody>
      </p:sp>
      <p:sp>
        <p:nvSpPr>
          <p:cNvPr id="27" name="TextBox 26"/>
          <p:cNvSpPr txBox="1"/>
          <p:nvPr/>
        </p:nvSpPr>
        <p:spPr>
          <a:xfrm>
            <a:off x="7772400" y="2743200"/>
            <a:ext cx="3596335" cy="640080"/>
          </a:xfrm>
          <a:prstGeom prst="rect">
            <a:avLst/>
          </a:prstGeom>
          <a:noFill/>
        </p:spPr>
        <p:txBody>
          <a:bodyPr wrap="square" lIns="0" rIns="0" tIns="0" bIns="0" anchor="t">
            <a:spAutoFit/>
          </a:bodyPr>
          <a:lstStyle/>
          <a:p>
            <a:pPr algn="l">
              <a:lnSpc>
                <a:spcPct val="115000"/>
              </a:lnSpc>
              <a:spcAft>
                <a:spcPts val="0"/>
              </a:spcAft>
            </a:pPr>
            <a:r>
              <a:rPr sz="1150" b="0">
                <a:solidFill>
                  <a:srgbClr val="A8A8B0"/>
                </a:solidFill>
                <a:latin typeface="Segoe UI"/>
              </a:rPr>
              <a:t>offers deliberately withheld from under-pressure customers — 17.5% of the modelled base</a:t>
            </a:r>
          </a:p>
        </p:txBody>
      </p:sp>
      <p:sp>
        <p:nvSpPr>
          <p:cNvPr id="28" name="Rectangle 27"/>
          <p:cNvSpPr/>
          <p:nvPr/>
        </p:nvSpPr>
        <p:spPr>
          <a:xfrm>
            <a:off x="7498079" y="3767328"/>
            <a:ext cx="73152" cy="73152"/>
          </a:xfrm>
          <a:prstGeom prst="rect">
            <a:avLst/>
          </a:prstGeom>
          <a:solidFill>
            <a:srgbClr val="F5F5F6"/>
          </a:solidFill>
          <a:ln>
            <a:noFill/>
          </a:ln>
        </p:spPr>
        <p:txBody>
          <a:bodyPr rtlCol="0" anchor="ctr"/>
          <a:lstStyle/>
          <a:p/>
        </p:txBody>
      </p:sp>
      <p:sp>
        <p:nvSpPr>
          <p:cNvPr id="29" name="TextBox 28"/>
          <p:cNvSpPr txBox="1"/>
          <p:nvPr/>
        </p:nvSpPr>
        <p:spPr>
          <a:xfrm>
            <a:off x="7726679" y="3703319"/>
            <a:ext cx="3916375" cy="548640"/>
          </a:xfrm>
          <a:prstGeom prst="rect">
            <a:avLst/>
          </a:prstGeom>
          <a:noFill/>
        </p:spPr>
        <p:txBody>
          <a:bodyPr wrap="square" lIns="0" rIns="0" tIns="0" bIns="0" anchor="t">
            <a:spAutoFit/>
          </a:bodyPr>
          <a:lstStyle/>
          <a:p>
            <a:pPr algn="l">
              <a:lnSpc>
                <a:spcPct val="112000"/>
              </a:lnSpc>
              <a:spcAft>
                <a:spcPts val="0"/>
              </a:spcAft>
            </a:pPr>
            <a:r>
              <a:rPr sz="1100" b="0">
                <a:solidFill>
                  <a:srgbClr val="F5F5F6"/>
                </a:solidFill>
                <a:latin typeface="Segoe UI"/>
              </a:rPr>
              <a:t>Protected attributes are never model features; they exist only to measure outcomes.</a:t>
            </a:r>
          </a:p>
        </p:txBody>
      </p:sp>
      <p:sp>
        <p:nvSpPr>
          <p:cNvPr id="30" name="Rectangle 29"/>
          <p:cNvSpPr/>
          <p:nvPr/>
        </p:nvSpPr>
        <p:spPr>
          <a:xfrm>
            <a:off x="7498079" y="4370832"/>
            <a:ext cx="73152" cy="73152"/>
          </a:xfrm>
          <a:prstGeom prst="rect">
            <a:avLst/>
          </a:prstGeom>
          <a:solidFill>
            <a:srgbClr val="F5F5F6"/>
          </a:solidFill>
          <a:ln>
            <a:noFill/>
          </a:ln>
        </p:spPr>
        <p:txBody>
          <a:bodyPr rtlCol="0" anchor="ctr"/>
          <a:lstStyle/>
          <a:p/>
        </p:txBody>
      </p:sp>
      <p:sp>
        <p:nvSpPr>
          <p:cNvPr id="31" name="TextBox 30"/>
          <p:cNvSpPr txBox="1"/>
          <p:nvPr/>
        </p:nvSpPr>
        <p:spPr>
          <a:xfrm>
            <a:off x="7726679" y="4306824"/>
            <a:ext cx="3916375" cy="548640"/>
          </a:xfrm>
          <a:prstGeom prst="rect">
            <a:avLst/>
          </a:prstGeom>
          <a:noFill/>
        </p:spPr>
        <p:txBody>
          <a:bodyPr wrap="square" lIns="0" rIns="0" tIns="0" bIns="0" anchor="t">
            <a:spAutoFit/>
          </a:bodyPr>
          <a:lstStyle/>
          <a:p>
            <a:pPr algn="l">
              <a:lnSpc>
                <a:spcPct val="112000"/>
              </a:lnSpc>
              <a:spcAft>
                <a:spcPts val="0"/>
              </a:spcAft>
            </a:pPr>
            <a:r>
              <a:rPr sz="1100" b="0">
                <a:solidFill>
                  <a:srgbClr val="F5F5F6"/>
                </a:solidFill>
                <a:latin typeface="Segoe UI"/>
              </a:rPr>
              <a:t>Monotonic constraints hold for every subgroup: more missed EMIs raises risk for everyone.</a:t>
            </a:r>
          </a:p>
        </p:txBody>
      </p:sp>
      <p:sp>
        <p:nvSpPr>
          <p:cNvPr id="32" name="Rectangle 31"/>
          <p:cNvSpPr/>
          <p:nvPr/>
        </p:nvSpPr>
        <p:spPr>
          <a:xfrm>
            <a:off x="7498079" y="4974336"/>
            <a:ext cx="73152" cy="73152"/>
          </a:xfrm>
          <a:prstGeom prst="rect">
            <a:avLst/>
          </a:prstGeom>
          <a:solidFill>
            <a:srgbClr val="F5F5F6"/>
          </a:solidFill>
          <a:ln>
            <a:noFill/>
          </a:ln>
        </p:spPr>
        <p:txBody>
          <a:bodyPr rtlCol="0" anchor="ctr"/>
          <a:lstStyle/>
          <a:p/>
        </p:txBody>
      </p:sp>
      <p:sp>
        <p:nvSpPr>
          <p:cNvPr id="33" name="TextBox 32"/>
          <p:cNvSpPr txBox="1"/>
          <p:nvPr/>
        </p:nvSpPr>
        <p:spPr>
          <a:xfrm>
            <a:off x="7726679" y="4910328"/>
            <a:ext cx="3916375" cy="548640"/>
          </a:xfrm>
          <a:prstGeom prst="rect">
            <a:avLst/>
          </a:prstGeom>
          <a:noFill/>
        </p:spPr>
        <p:txBody>
          <a:bodyPr wrap="square" lIns="0" rIns="0" tIns="0" bIns="0" anchor="t">
            <a:spAutoFit/>
          </a:bodyPr>
          <a:lstStyle/>
          <a:p>
            <a:pPr algn="l">
              <a:lnSpc>
                <a:spcPct val="112000"/>
              </a:lnSpc>
              <a:spcAft>
                <a:spcPts val="0"/>
              </a:spcAft>
            </a:pPr>
            <a:r>
              <a:rPr sz="1100" b="0">
                <a:solidFill>
                  <a:srgbClr val="F5F5F6"/>
                </a:solidFill>
                <a:latin typeface="Segoe UI"/>
              </a:rPr>
              <a:t>No risk-based pricing on the distress model.</a:t>
            </a:r>
          </a:p>
        </p:txBody>
      </p:sp>
      <p:sp>
        <p:nvSpPr>
          <p:cNvPr id="34" name="Rectangle 33"/>
          <p:cNvSpPr/>
          <p:nvPr/>
        </p:nvSpPr>
        <p:spPr>
          <a:xfrm>
            <a:off x="7498079" y="5376672"/>
            <a:ext cx="73152" cy="73152"/>
          </a:xfrm>
          <a:prstGeom prst="rect">
            <a:avLst/>
          </a:prstGeom>
          <a:solidFill>
            <a:srgbClr val="F5F5F6"/>
          </a:solidFill>
          <a:ln>
            <a:noFill/>
          </a:ln>
        </p:spPr>
        <p:txBody>
          <a:bodyPr rtlCol="0" anchor="ctr"/>
          <a:lstStyle/>
          <a:p/>
        </p:txBody>
      </p:sp>
      <p:sp>
        <p:nvSpPr>
          <p:cNvPr id="35" name="TextBox 34"/>
          <p:cNvSpPr txBox="1"/>
          <p:nvPr/>
        </p:nvSpPr>
        <p:spPr>
          <a:xfrm>
            <a:off x="7726679" y="5312664"/>
            <a:ext cx="3916375" cy="548640"/>
          </a:xfrm>
          <a:prstGeom prst="rect">
            <a:avLst/>
          </a:prstGeom>
          <a:noFill/>
        </p:spPr>
        <p:txBody>
          <a:bodyPr wrap="square" lIns="0" rIns="0" tIns="0" bIns="0" anchor="t">
            <a:spAutoFit/>
          </a:bodyPr>
          <a:lstStyle/>
          <a:p>
            <a:pPr algn="l">
              <a:lnSpc>
                <a:spcPct val="112000"/>
              </a:lnSpc>
              <a:spcAft>
                <a:spcPts val="0"/>
              </a:spcAft>
            </a:pPr>
            <a:r>
              <a:rPr sz="1100" b="0">
                <a:solidFill>
                  <a:srgbClr val="F5F5F6"/>
                </a:solidFill>
                <a:latin typeface="Segoe UI"/>
              </a:rPr>
              <a:t>Every outcome is contestable through its counterfactual.</a:t>
            </a:r>
          </a:p>
        </p:txBody>
      </p:sp>
      <p:cxnSp>
        <p:nvCxnSpPr>
          <p:cNvPr id="36" name="Connector 35"/>
          <p:cNvCxnSpPr/>
          <p:nvPr/>
        </p:nvCxnSpPr>
        <p:spPr>
          <a:xfrm>
            <a:off x="548640" y="6400800"/>
            <a:ext cx="11094415"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6492240"/>
            <a:ext cx="5486400" cy="22860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a:rPr>
              <a:t>DhanSathi  ·  Explainable banking for Bharat</a:t>
            </a:r>
          </a:p>
        </p:txBody>
      </p:sp>
      <p:sp>
        <p:nvSpPr>
          <p:cNvPr id="38" name="TextBox 37"/>
          <p:cNvSpPr txBox="1"/>
          <p:nvPr/>
        </p:nvSpPr>
        <p:spPr>
          <a:xfrm>
            <a:off x="9814255" y="6492240"/>
            <a:ext cx="1828800" cy="228600"/>
          </a:xfrm>
          <a:prstGeom prst="rect">
            <a:avLst/>
          </a:prstGeom>
          <a:noFill/>
        </p:spPr>
        <p:txBody>
          <a:bodyPr wrap="square" lIns="0" rIns="0" tIns="0" bIns="0" anchor="t">
            <a:spAutoFit/>
          </a:bodyPr>
          <a:lstStyle/>
          <a:p>
            <a:pPr algn="r">
              <a:lnSpc>
                <a:spcPct val="112000"/>
              </a:lnSpc>
              <a:spcAft>
                <a:spcPts val="0"/>
              </a:spcAft>
            </a:pPr>
            <a:r>
              <a:rPr sz="900" b="0">
                <a:solidFill>
                  <a:srgbClr val="70707A"/>
                </a:solidFill>
                <a:latin typeface="Segoe UI"/>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Semibold"/>
              </a:rPr>
              <a:t>11 · USABILITY FOR VERNACULAR-FIRST USERS</a:t>
            </a:r>
          </a:p>
        </p:txBody>
      </p:sp>
      <p:sp>
        <p:nvSpPr>
          <p:cNvPr id="3" name="TextBox 2"/>
          <p:cNvSpPr txBox="1"/>
          <p:nvPr/>
        </p:nvSpPr>
        <p:spPr>
          <a:xfrm>
            <a:off x="548640" y="658368"/>
            <a:ext cx="11094415" cy="1097280"/>
          </a:xfrm>
          <a:prstGeom prst="rect">
            <a:avLst/>
          </a:prstGeom>
          <a:noFill/>
        </p:spPr>
        <p:txBody>
          <a:bodyPr wrap="square" lIns="0" rIns="0" tIns="0" bIns="0" anchor="t">
            <a:spAutoFit/>
          </a:bodyPr>
          <a:lstStyle/>
          <a:p>
            <a:pPr algn="l">
              <a:lnSpc>
                <a:spcPct val="102000"/>
              </a:lnSpc>
              <a:spcAft>
                <a:spcPts val="0"/>
              </a:spcAft>
            </a:pPr>
            <a:r>
              <a:rPr sz="2800" b="0">
                <a:solidFill>
                  <a:srgbClr val="F5F5F6"/>
                </a:solidFill>
                <a:latin typeface="Segoe UI Semibold"/>
              </a:rPr>
              <a:t>Built for a feature phone as much as a smartphone.</a:t>
            </a:r>
          </a:p>
        </p:txBody>
      </p:sp>
      <p:sp>
        <p:nvSpPr>
          <p:cNvPr id="4" name="Rounded Rectangle 3"/>
          <p:cNvSpPr/>
          <p:nvPr/>
        </p:nvSpPr>
        <p:spPr>
          <a:xfrm>
            <a:off x="548640" y="1645920"/>
            <a:ext cx="3515258" cy="3566160"/>
          </a:xfrm>
          <a:prstGeom prst="roundRect">
            <a:avLst>
              <a:gd name="adj" fmla="val 4000"/>
            </a:avLst>
          </a:prstGeom>
          <a:solidFill>
            <a:srgbClr val="16161A"/>
          </a:solidFill>
          <a:ln w="9525">
            <a:solidFill>
              <a:srgbClr val="303037"/>
            </a:solidFill>
          </a:ln>
        </p:spPr>
        <p:txBody>
          <a:bodyPr rtlCol="0" anchor="ctr"/>
          <a:lstStyle/>
          <a:p/>
        </p:txBody>
      </p:sp>
      <p:sp>
        <p:nvSpPr>
          <p:cNvPr id="5" name="TextBox 4"/>
          <p:cNvSpPr txBox="1"/>
          <p:nvPr/>
        </p:nvSpPr>
        <p:spPr>
          <a:xfrm>
            <a:off x="777240" y="1847088"/>
            <a:ext cx="3058058" cy="320040"/>
          </a:xfrm>
          <a:prstGeom prst="rect">
            <a:avLst/>
          </a:prstGeom>
          <a:noFill/>
        </p:spPr>
        <p:txBody>
          <a:bodyPr wrap="square" lIns="0" rIns="0" tIns="0" bIns="0" anchor="t">
            <a:spAutoFit/>
          </a:bodyPr>
          <a:lstStyle/>
          <a:p>
            <a:pPr algn="l">
              <a:lnSpc>
                <a:spcPct val="112000"/>
              </a:lnSpc>
              <a:spcAft>
                <a:spcPts val="0"/>
              </a:spcAft>
            </a:pPr>
            <a:r>
              <a:rPr sz="1600" b="0">
                <a:solidFill>
                  <a:srgbClr val="F5F5F6"/>
                </a:solidFill>
                <a:latin typeface="Segoe UI Semibold"/>
              </a:rPr>
              <a:t>Chat and voice</a:t>
            </a:r>
          </a:p>
        </p:txBody>
      </p:sp>
      <p:sp>
        <p:nvSpPr>
          <p:cNvPr id="6" name="TextBox 5"/>
          <p:cNvSpPr txBox="1"/>
          <p:nvPr/>
        </p:nvSpPr>
        <p:spPr>
          <a:xfrm>
            <a:off x="777240" y="2212848"/>
            <a:ext cx="3058058" cy="1097280"/>
          </a:xfrm>
          <a:prstGeom prst="rect">
            <a:avLst/>
          </a:prstGeom>
          <a:noFill/>
        </p:spPr>
        <p:txBody>
          <a:bodyPr wrap="square" lIns="0" rIns="0" tIns="0" bIns="0" anchor="t">
            <a:spAutoFit/>
          </a:bodyPr>
          <a:lstStyle/>
          <a:p>
            <a:pPr algn="l">
              <a:lnSpc>
                <a:spcPct val="118000"/>
              </a:lnSpc>
              <a:spcAft>
                <a:spcPts val="0"/>
              </a:spcAft>
            </a:pPr>
            <a:r>
              <a:rPr sz="1100" b="0">
                <a:solidFill>
                  <a:srgbClr val="A8A8B0"/>
                </a:solidFill>
                <a:latin typeface="Segoe UI"/>
              </a:rPr>
              <a:t>Hindi, Hinglish and Devanagari are first-class. Speak instead of typing. Answers use the customer's own numbers in everyday words.</a:t>
            </a:r>
          </a:p>
        </p:txBody>
      </p:sp>
      <p:sp>
        <p:nvSpPr>
          <p:cNvPr id="7" name="Rounded Rectangle 6"/>
          <p:cNvSpPr/>
          <p:nvPr/>
        </p:nvSpPr>
        <p:spPr>
          <a:xfrm>
            <a:off x="777240" y="3246120"/>
            <a:ext cx="3058058" cy="457200"/>
          </a:xfrm>
          <a:prstGeom prst="roundRect">
            <a:avLst>
              <a:gd name="adj" fmla="val 20000"/>
            </a:avLst>
          </a:prstGeom>
          <a:solidFill>
            <a:srgbClr val="F5F5F6"/>
          </a:solidFill>
          <a:ln>
            <a:noFill/>
          </a:ln>
        </p:spPr>
        <p:txBody>
          <a:bodyPr rtlCol="0" anchor="ctr"/>
          <a:lstStyle/>
          <a:p/>
        </p:txBody>
      </p:sp>
      <p:sp>
        <p:nvSpPr>
          <p:cNvPr id="8" name="TextBox 7"/>
          <p:cNvSpPr txBox="1"/>
          <p:nvPr/>
        </p:nvSpPr>
        <p:spPr>
          <a:xfrm>
            <a:off x="914400" y="3246120"/>
            <a:ext cx="2783738" cy="457200"/>
          </a:xfrm>
          <a:prstGeom prst="rect">
            <a:avLst/>
          </a:prstGeom>
          <a:noFill/>
        </p:spPr>
        <p:txBody>
          <a:bodyPr wrap="square" lIns="0" rIns="0" tIns="0" bIns="0" anchor="ctr">
            <a:spAutoFit/>
          </a:bodyPr>
          <a:lstStyle/>
          <a:p>
            <a:pPr algn="r">
              <a:lnSpc>
                <a:spcPct val="112000"/>
              </a:lnSpc>
              <a:spcAft>
                <a:spcPts val="0"/>
              </a:spcAft>
            </a:pPr>
            <a:r>
              <a:rPr sz="1100" b="0">
                <a:solidFill>
                  <a:srgbClr val="0B0B0C"/>
                </a:solidFill>
                <a:latin typeface="Segoe UI"/>
              </a:rPr>
              <a:t>who won the cricket match</a:t>
            </a:r>
          </a:p>
        </p:txBody>
      </p:sp>
      <p:sp>
        <p:nvSpPr>
          <p:cNvPr id="9" name="Rounded Rectangle 8"/>
          <p:cNvSpPr/>
          <p:nvPr/>
        </p:nvSpPr>
        <p:spPr>
          <a:xfrm>
            <a:off x="777240" y="3822192"/>
            <a:ext cx="3058058" cy="1143000"/>
          </a:xfrm>
          <a:prstGeom prst="roundRect">
            <a:avLst>
              <a:gd name="adj" fmla="val 8000"/>
            </a:avLst>
          </a:prstGeom>
          <a:solidFill>
            <a:srgbClr val="1F1F24"/>
          </a:solidFill>
          <a:ln w="9525">
            <a:solidFill>
              <a:srgbClr val="303037"/>
            </a:solidFill>
            <a:prstDash val="dash"/>
          </a:ln>
        </p:spPr>
        <p:txBody>
          <a:bodyPr rtlCol="0" anchor="ctr"/>
          <a:lstStyle/>
          <a:p/>
        </p:txBody>
      </p:sp>
      <p:sp>
        <p:nvSpPr>
          <p:cNvPr id="10" name="TextBox 9"/>
          <p:cNvSpPr txBox="1"/>
          <p:nvPr/>
        </p:nvSpPr>
        <p:spPr>
          <a:xfrm>
            <a:off x="932688" y="3931920"/>
            <a:ext cx="2747162" cy="960120"/>
          </a:xfrm>
          <a:prstGeom prst="rect">
            <a:avLst/>
          </a:prstGeom>
          <a:noFill/>
        </p:spPr>
        <p:txBody>
          <a:bodyPr wrap="square" lIns="0" rIns="0" tIns="0" bIns="0" anchor="t">
            <a:spAutoFit/>
          </a:bodyPr>
          <a:lstStyle/>
          <a:p>
            <a:pPr algn="l">
              <a:lnSpc>
                <a:spcPct val="115000"/>
              </a:lnSpc>
              <a:spcAft>
                <a:spcPts val="0"/>
              </a:spcAft>
            </a:pPr>
            <a:r>
              <a:rPr sz="1000" b="0">
                <a:solidFill>
                  <a:srgbClr val="F5F5F6"/>
                </a:solidFill>
                <a:latin typeface="Segoe UI"/>
              </a:rPr>
              <a:t>I can only help with banking and your personal finances, so I can't answer questions about sports. Try asking me: “why was this product recommended?”</a:t>
            </a:r>
          </a:p>
        </p:txBody>
      </p:sp>
      <p:sp>
        <p:nvSpPr>
          <p:cNvPr id="11" name="Rounded Rectangle 10"/>
          <p:cNvSpPr/>
          <p:nvPr/>
        </p:nvSpPr>
        <p:spPr>
          <a:xfrm>
            <a:off x="4338218" y="1645920"/>
            <a:ext cx="3515258" cy="3566160"/>
          </a:xfrm>
          <a:prstGeom prst="roundRect">
            <a:avLst>
              <a:gd name="adj" fmla="val 4000"/>
            </a:avLst>
          </a:prstGeom>
          <a:solidFill>
            <a:srgbClr val="16161A"/>
          </a:solidFill>
          <a:ln w="9525">
            <a:solidFill>
              <a:srgbClr val="303037"/>
            </a:solidFill>
          </a:ln>
        </p:spPr>
        <p:txBody>
          <a:bodyPr rtlCol="0" anchor="ctr"/>
          <a:lstStyle/>
          <a:p/>
        </p:txBody>
      </p:sp>
      <p:sp>
        <p:nvSpPr>
          <p:cNvPr id="12" name="TextBox 11"/>
          <p:cNvSpPr txBox="1"/>
          <p:nvPr/>
        </p:nvSpPr>
        <p:spPr>
          <a:xfrm>
            <a:off x="4566818" y="1847088"/>
            <a:ext cx="3058058" cy="320040"/>
          </a:xfrm>
          <a:prstGeom prst="rect">
            <a:avLst/>
          </a:prstGeom>
          <a:noFill/>
        </p:spPr>
        <p:txBody>
          <a:bodyPr wrap="square" lIns="0" rIns="0" tIns="0" bIns="0" anchor="t">
            <a:spAutoFit/>
          </a:bodyPr>
          <a:lstStyle/>
          <a:p>
            <a:pPr algn="l">
              <a:lnSpc>
                <a:spcPct val="112000"/>
              </a:lnSpc>
              <a:spcAft>
                <a:spcPts val="0"/>
              </a:spcAft>
            </a:pPr>
            <a:r>
              <a:rPr sz="1600" b="0">
                <a:solidFill>
                  <a:srgbClr val="F5F5F6"/>
                </a:solidFill>
                <a:latin typeface="Segoe UI Semibold"/>
              </a:rPr>
              <a:t>SMS</a:t>
            </a:r>
          </a:p>
        </p:txBody>
      </p:sp>
      <p:sp>
        <p:nvSpPr>
          <p:cNvPr id="13" name="TextBox 12"/>
          <p:cNvSpPr txBox="1"/>
          <p:nvPr/>
        </p:nvSpPr>
        <p:spPr>
          <a:xfrm>
            <a:off x="4566818" y="2212848"/>
            <a:ext cx="3058058" cy="914400"/>
          </a:xfrm>
          <a:prstGeom prst="rect">
            <a:avLst/>
          </a:prstGeom>
          <a:noFill/>
        </p:spPr>
        <p:txBody>
          <a:bodyPr wrap="square" lIns="0" rIns="0" tIns="0" bIns="0" anchor="t">
            <a:spAutoFit/>
          </a:bodyPr>
          <a:lstStyle/>
          <a:p>
            <a:pPr algn="l">
              <a:lnSpc>
                <a:spcPct val="118000"/>
              </a:lnSpc>
              <a:spcAft>
                <a:spcPts val="0"/>
              </a:spcAft>
            </a:pPr>
            <a:r>
              <a:rPr sz="1100" b="0">
                <a:solidFill>
                  <a:srgbClr val="A8A8B0"/>
                </a:solidFill>
                <a:latin typeface="Segoe UI"/>
              </a:rPr>
              <a:t>Every persona's decision fits one 160-character message in both languages. Asserted in the test suite, not hoped for.</a:t>
            </a:r>
          </a:p>
        </p:txBody>
      </p:sp>
      <p:sp>
        <p:nvSpPr>
          <p:cNvPr id="14" name="Rounded Rectangle 13"/>
          <p:cNvSpPr/>
          <p:nvPr/>
        </p:nvSpPr>
        <p:spPr>
          <a:xfrm>
            <a:off x="4566818" y="3246120"/>
            <a:ext cx="3058058" cy="1280160"/>
          </a:xfrm>
          <a:prstGeom prst="roundRect">
            <a:avLst>
              <a:gd name="adj" fmla="val 6000"/>
            </a:avLst>
          </a:prstGeom>
          <a:solidFill>
            <a:srgbClr val="1F1F24"/>
          </a:solidFill>
          <a:ln w="9525">
            <a:solidFill>
              <a:srgbClr val="303037"/>
            </a:solidFill>
          </a:ln>
        </p:spPr>
        <p:txBody>
          <a:bodyPr rtlCol="0" anchor="ctr"/>
          <a:lstStyle/>
          <a:p/>
        </p:txBody>
      </p:sp>
      <p:sp>
        <p:nvSpPr>
          <p:cNvPr id="15" name="TextBox 14"/>
          <p:cNvSpPr txBox="1"/>
          <p:nvPr/>
        </p:nvSpPr>
        <p:spPr>
          <a:xfrm>
            <a:off x="4722266" y="3383280"/>
            <a:ext cx="2747162" cy="1051560"/>
          </a:xfrm>
          <a:prstGeom prst="rect">
            <a:avLst/>
          </a:prstGeom>
          <a:noFill/>
        </p:spPr>
        <p:txBody>
          <a:bodyPr wrap="square" lIns="0" rIns="0" tIns="0" bIns="0" anchor="t">
            <a:spAutoFit/>
          </a:bodyPr>
          <a:lstStyle/>
          <a:p>
            <a:pPr algn="l">
              <a:lnSpc>
                <a:spcPct val="135000"/>
              </a:lnSpc>
              <a:spcAft>
                <a:spcPts val="0"/>
              </a:spcAft>
            </a:pPr>
            <a:r>
              <a:rPr sz="1200" b="0">
                <a:solidFill>
                  <a:srgbClr val="F5F5F6"/>
                </a:solidFill>
                <a:latin typeface="Nirmala UI"/>
                <a:cs typeface="Nirmala UI"/>
              </a:rPr>
              <a:t>DhanSathi: बचत दर 56%. आपके लिए SIP सही रहेगा. जानकारी हेतु 1 दबाएँ. रोकने हेतु STOP.</a:t>
            </a:r>
          </a:p>
        </p:txBody>
      </p:sp>
      <p:sp>
        <p:nvSpPr>
          <p:cNvPr id="16" name="TextBox 15"/>
          <p:cNvSpPr txBox="1"/>
          <p:nvPr/>
        </p:nvSpPr>
        <p:spPr>
          <a:xfrm>
            <a:off x="4566818" y="4663440"/>
            <a:ext cx="3058058" cy="36576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a:rPr>
              <a:t>Priya's decision, as an SMS</a:t>
            </a:r>
          </a:p>
        </p:txBody>
      </p:sp>
      <p:sp>
        <p:nvSpPr>
          <p:cNvPr id="17" name="Rounded Rectangle 16"/>
          <p:cNvSpPr/>
          <p:nvPr/>
        </p:nvSpPr>
        <p:spPr>
          <a:xfrm>
            <a:off x="8127796" y="1645920"/>
            <a:ext cx="3515258" cy="3566160"/>
          </a:xfrm>
          <a:prstGeom prst="roundRect">
            <a:avLst>
              <a:gd name="adj" fmla="val 4000"/>
            </a:avLst>
          </a:prstGeom>
          <a:solidFill>
            <a:srgbClr val="16161A"/>
          </a:solidFill>
          <a:ln w="9525">
            <a:solidFill>
              <a:srgbClr val="303037"/>
            </a:solidFill>
          </a:ln>
        </p:spPr>
        <p:txBody>
          <a:bodyPr rtlCol="0" anchor="ctr"/>
          <a:lstStyle/>
          <a:p/>
        </p:txBody>
      </p:sp>
      <p:sp>
        <p:nvSpPr>
          <p:cNvPr id="18" name="TextBox 17"/>
          <p:cNvSpPr txBox="1"/>
          <p:nvPr/>
        </p:nvSpPr>
        <p:spPr>
          <a:xfrm>
            <a:off x="8356396" y="1847088"/>
            <a:ext cx="3058058" cy="320040"/>
          </a:xfrm>
          <a:prstGeom prst="rect">
            <a:avLst/>
          </a:prstGeom>
          <a:noFill/>
        </p:spPr>
        <p:txBody>
          <a:bodyPr wrap="square" lIns="0" rIns="0" tIns="0" bIns="0" anchor="t">
            <a:spAutoFit/>
          </a:bodyPr>
          <a:lstStyle/>
          <a:p>
            <a:pPr algn="l">
              <a:lnSpc>
                <a:spcPct val="112000"/>
              </a:lnSpc>
              <a:spcAft>
                <a:spcPts val="0"/>
              </a:spcAft>
            </a:pPr>
            <a:r>
              <a:rPr sz="1600" b="0">
                <a:solidFill>
                  <a:srgbClr val="F5F5F6"/>
                </a:solidFill>
                <a:latin typeface="Segoe UI Semibold"/>
              </a:rPr>
              <a:t>IVR, on a missed call</a:t>
            </a:r>
          </a:p>
        </p:txBody>
      </p:sp>
      <p:sp>
        <p:nvSpPr>
          <p:cNvPr id="19" name="TextBox 18"/>
          <p:cNvSpPr txBox="1"/>
          <p:nvPr/>
        </p:nvSpPr>
        <p:spPr>
          <a:xfrm>
            <a:off x="8356396" y="2212848"/>
            <a:ext cx="3058058" cy="914400"/>
          </a:xfrm>
          <a:prstGeom prst="rect">
            <a:avLst/>
          </a:prstGeom>
          <a:noFill/>
        </p:spPr>
        <p:txBody>
          <a:bodyPr wrap="square" lIns="0" rIns="0" tIns="0" bIns="0" anchor="t">
            <a:spAutoFit/>
          </a:bodyPr>
          <a:lstStyle/>
          <a:p>
            <a:pPr algn="l">
              <a:lnSpc>
                <a:spcPct val="118000"/>
              </a:lnSpc>
              <a:spcAft>
                <a:spcPts val="0"/>
              </a:spcAft>
            </a:pPr>
            <a:r>
              <a:rPr sz="1100" b="0">
                <a:solidFill>
                  <a:srgbClr val="A8A8B0"/>
                </a:solidFill>
                <a:latin typeface="Segoe UI"/>
              </a:rPr>
              <a:t>No smartphone and no data connection. The bank calls back and reads the same decision aloud.</a:t>
            </a:r>
          </a:p>
        </p:txBody>
      </p:sp>
      <p:sp>
        <p:nvSpPr>
          <p:cNvPr id="20" name="TextBox 19"/>
          <p:cNvSpPr txBox="1"/>
          <p:nvPr/>
        </p:nvSpPr>
        <p:spPr>
          <a:xfrm>
            <a:off x="8356396" y="3246120"/>
            <a:ext cx="274320" cy="45720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Consolas"/>
              </a:rPr>
              <a:t>1</a:t>
            </a:r>
          </a:p>
        </p:txBody>
      </p:sp>
      <p:sp>
        <p:nvSpPr>
          <p:cNvPr id="21" name="TextBox 20"/>
          <p:cNvSpPr txBox="1"/>
          <p:nvPr/>
        </p:nvSpPr>
        <p:spPr>
          <a:xfrm>
            <a:off x="8630716" y="3246120"/>
            <a:ext cx="2783738" cy="457200"/>
          </a:xfrm>
          <a:prstGeom prst="rect">
            <a:avLst/>
          </a:prstGeom>
          <a:noFill/>
        </p:spPr>
        <p:txBody>
          <a:bodyPr wrap="square" lIns="0" rIns="0" tIns="0" bIns="0" anchor="t">
            <a:spAutoFit/>
          </a:bodyPr>
          <a:lstStyle/>
          <a:p>
            <a:pPr algn="l">
              <a:lnSpc>
                <a:spcPct val="112000"/>
              </a:lnSpc>
              <a:spcAft>
                <a:spcPts val="0"/>
              </a:spcAft>
            </a:pPr>
            <a:r>
              <a:rPr sz="1050" b="0">
                <a:solidFill>
                  <a:srgbClr val="F5F5F6"/>
                </a:solidFill>
                <a:latin typeface="Segoe UI"/>
              </a:rPr>
              <a:t>Namaste, this is a call from DhanSathi.</a:t>
            </a:r>
          </a:p>
        </p:txBody>
      </p:sp>
      <p:sp>
        <p:nvSpPr>
          <p:cNvPr id="22" name="TextBox 21"/>
          <p:cNvSpPr txBox="1"/>
          <p:nvPr/>
        </p:nvSpPr>
        <p:spPr>
          <a:xfrm>
            <a:off x="8356396" y="3703319"/>
            <a:ext cx="274320" cy="45720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Consolas"/>
              </a:rPr>
              <a:t>2</a:t>
            </a:r>
          </a:p>
        </p:txBody>
      </p:sp>
      <p:sp>
        <p:nvSpPr>
          <p:cNvPr id="23" name="TextBox 22"/>
          <p:cNvSpPr txBox="1"/>
          <p:nvPr/>
        </p:nvSpPr>
        <p:spPr>
          <a:xfrm>
            <a:off x="8630716" y="3703319"/>
            <a:ext cx="2783738" cy="457200"/>
          </a:xfrm>
          <a:prstGeom prst="rect">
            <a:avLst/>
          </a:prstGeom>
          <a:noFill/>
        </p:spPr>
        <p:txBody>
          <a:bodyPr wrap="square" lIns="0" rIns="0" tIns="0" bIns="0" anchor="t">
            <a:spAutoFit/>
          </a:bodyPr>
          <a:lstStyle/>
          <a:p>
            <a:pPr algn="l">
              <a:lnSpc>
                <a:spcPct val="112000"/>
              </a:lnSpc>
              <a:spcAft>
                <a:spcPts val="0"/>
              </a:spcAft>
            </a:pPr>
            <a:r>
              <a:rPr sz="1050" b="0">
                <a:solidFill>
                  <a:srgbClr val="F5F5F6"/>
                </a:solidFill>
                <a:latin typeface="Segoe UI"/>
              </a:rPr>
              <a:t>Based on your account, Systematic Investment Plan suits you.</a:t>
            </a:r>
          </a:p>
        </p:txBody>
      </p:sp>
      <p:sp>
        <p:nvSpPr>
          <p:cNvPr id="24" name="TextBox 23"/>
          <p:cNvSpPr txBox="1"/>
          <p:nvPr/>
        </p:nvSpPr>
        <p:spPr>
          <a:xfrm>
            <a:off x="8356396" y="4160520"/>
            <a:ext cx="274320" cy="45720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Consolas"/>
              </a:rPr>
              <a:t>3</a:t>
            </a:r>
          </a:p>
        </p:txBody>
      </p:sp>
      <p:sp>
        <p:nvSpPr>
          <p:cNvPr id="25" name="TextBox 24"/>
          <p:cNvSpPr txBox="1"/>
          <p:nvPr/>
        </p:nvSpPr>
        <p:spPr>
          <a:xfrm>
            <a:off x="8630716" y="4160520"/>
            <a:ext cx="2783738" cy="457200"/>
          </a:xfrm>
          <a:prstGeom prst="rect">
            <a:avLst/>
          </a:prstGeom>
          <a:noFill/>
        </p:spPr>
        <p:txBody>
          <a:bodyPr wrap="square" lIns="0" rIns="0" tIns="0" bIns="0" anchor="t">
            <a:spAutoFit/>
          </a:bodyPr>
          <a:lstStyle/>
          <a:p>
            <a:pPr algn="l">
              <a:lnSpc>
                <a:spcPct val="112000"/>
              </a:lnSpc>
              <a:spcAft>
                <a:spcPts val="0"/>
              </a:spcAft>
            </a:pPr>
            <a:r>
              <a:rPr sz="1050" b="0">
                <a:solidFill>
                  <a:srgbClr val="F5F5F6"/>
                </a:solidFill>
                <a:latin typeface="Segoe UI"/>
              </a:rPr>
              <a:t>Your savings rate is 56 percent.</a:t>
            </a:r>
          </a:p>
        </p:txBody>
      </p:sp>
      <p:sp>
        <p:nvSpPr>
          <p:cNvPr id="26" name="TextBox 25"/>
          <p:cNvSpPr txBox="1"/>
          <p:nvPr/>
        </p:nvSpPr>
        <p:spPr>
          <a:xfrm>
            <a:off x="8356396" y="4617720"/>
            <a:ext cx="274320" cy="45720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Consolas"/>
              </a:rPr>
              <a:t>4</a:t>
            </a:r>
          </a:p>
        </p:txBody>
      </p:sp>
      <p:sp>
        <p:nvSpPr>
          <p:cNvPr id="27" name="TextBox 26"/>
          <p:cNvSpPr txBox="1"/>
          <p:nvPr/>
        </p:nvSpPr>
        <p:spPr>
          <a:xfrm>
            <a:off x="8630716" y="4617720"/>
            <a:ext cx="2783738" cy="457200"/>
          </a:xfrm>
          <a:prstGeom prst="rect">
            <a:avLst/>
          </a:prstGeom>
          <a:noFill/>
        </p:spPr>
        <p:txBody>
          <a:bodyPr wrap="square" lIns="0" rIns="0" tIns="0" bIns="0" anchor="t">
            <a:spAutoFit/>
          </a:bodyPr>
          <a:lstStyle/>
          <a:p>
            <a:pPr algn="l">
              <a:lnSpc>
                <a:spcPct val="112000"/>
              </a:lnSpc>
              <a:spcAft>
                <a:spcPts val="0"/>
              </a:spcAft>
            </a:pPr>
            <a:r>
              <a:rPr sz="1050" b="0">
                <a:solidFill>
                  <a:srgbClr val="F5F5F6"/>
                </a:solidFill>
                <a:latin typeface="Segoe UI"/>
              </a:rPr>
              <a:t>Press 1 to hear the reasons. Press 2 to speak to a representative.</a:t>
            </a:r>
          </a:p>
        </p:txBody>
      </p:sp>
      <p:sp>
        <p:nvSpPr>
          <p:cNvPr id="28" name="Rounded Rectangle 27"/>
          <p:cNvSpPr/>
          <p:nvPr/>
        </p:nvSpPr>
        <p:spPr>
          <a:xfrm>
            <a:off x="548640" y="5394960"/>
            <a:ext cx="11094415" cy="502920"/>
          </a:xfrm>
          <a:prstGeom prst="roundRect">
            <a:avLst>
              <a:gd name="adj" fmla="val 20000"/>
            </a:avLst>
          </a:prstGeom>
          <a:noFill/>
          <a:ln w="9525">
            <a:solidFill>
              <a:srgbClr val="303037"/>
            </a:solidFill>
          </a:ln>
        </p:spPr>
        <p:txBody>
          <a:bodyPr rtlCol="0" anchor="ctr"/>
          <a:lstStyle/>
          <a:p/>
        </p:txBody>
      </p:sp>
      <p:sp>
        <p:nvSpPr>
          <p:cNvPr id="29" name="TextBox 28"/>
          <p:cNvSpPr txBox="1"/>
          <p:nvPr/>
        </p:nvSpPr>
        <p:spPr>
          <a:xfrm>
            <a:off x="822959" y="5394960"/>
            <a:ext cx="10545775" cy="502920"/>
          </a:xfrm>
          <a:prstGeom prst="rect">
            <a:avLst/>
          </a:prstGeom>
          <a:noFill/>
        </p:spPr>
        <p:txBody>
          <a:bodyPr wrap="square" lIns="0" rIns="0" tIns="0" bIns="0" anchor="ctr">
            <a:spAutoFit/>
          </a:bodyPr>
          <a:lstStyle/>
          <a:p>
            <a:pPr algn="l">
              <a:lnSpc>
                <a:spcPct val="112000"/>
              </a:lnSpc>
              <a:spcAft>
                <a:spcPts val="0"/>
              </a:spcAft>
            </a:pPr>
            <a:r>
              <a:rPr sz="1050" b="0">
                <a:solidFill>
                  <a:srgbClr val="F5F5F6"/>
                </a:solidFill>
                <a:latin typeface="Segoe UI Semibold"/>
              </a:rPr>
              <a:t>Also  </a:t>
            </a:r>
            <a:r>
              <a:rPr sz="1050" b="0">
                <a:solidFill>
                  <a:srgbClr val="A8A8B0"/>
                </a:solidFill>
                <a:latin typeface="Segoe UI"/>
              </a:rPr>
              <a:t>high-contrast neutral interface in light and dark · consent written as a purpose, not legalese · refusals explain themselves and suggest what to ask instead</a:t>
            </a:r>
          </a:p>
        </p:txBody>
      </p:sp>
      <p:cxnSp>
        <p:nvCxnSpPr>
          <p:cNvPr id="30" name="Connector 29"/>
          <p:cNvCxnSpPr/>
          <p:nvPr/>
        </p:nvCxnSpPr>
        <p:spPr>
          <a:xfrm>
            <a:off x="548640" y="6400800"/>
            <a:ext cx="11094415"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 y="6492240"/>
            <a:ext cx="5486400" cy="22860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a:rPr>
              <a:t>DhanSathi  ·  Explainable banking for Bharat</a:t>
            </a:r>
          </a:p>
        </p:txBody>
      </p:sp>
      <p:sp>
        <p:nvSpPr>
          <p:cNvPr id="32" name="TextBox 31"/>
          <p:cNvSpPr txBox="1"/>
          <p:nvPr/>
        </p:nvSpPr>
        <p:spPr>
          <a:xfrm>
            <a:off x="9814255" y="6492240"/>
            <a:ext cx="1828800" cy="228600"/>
          </a:xfrm>
          <a:prstGeom prst="rect">
            <a:avLst/>
          </a:prstGeom>
          <a:noFill/>
        </p:spPr>
        <p:txBody>
          <a:bodyPr wrap="square" lIns="0" rIns="0" tIns="0" bIns="0" anchor="t">
            <a:spAutoFit/>
          </a:bodyPr>
          <a:lstStyle/>
          <a:p>
            <a:pPr algn="r">
              <a:lnSpc>
                <a:spcPct val="112000"/>
              </a:lnSpc>
              <a:spcAft>
                <a:spcPts val="0"/>
              </a:spcAft>
            </a:pPr>
            <a:r>
              <a:rPr sz="900" b="0">
                <a:solidFill>
                  <a:srgbClr val="70707A"/>
                </a:solidFill>
                <a:latin typeface="Segoe UI"/>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Semibold"/>
              </a:rPr>
              <a:t>12 · TECHNICAL FEASIBILITY AND SCALABILITY</a:t>
            </a:r>
          </a:p>
        </p:txBody>
      </p:sp>
      <p:sp>
        <p:nvSpPr>
          <p:cNvPr id="3" name="TextBox 2"/>
          <p:cNvSpPr txBox="1"/>
          <p:nvPr/>
        </p:nvSpPr>
        <p:spPr>
          <a:xfrm>
            <a:off x="548640" y="658368"/>
            <a:ext cx="11094415" cy="1097280"/>
          </a:xfrm>
          <a:prstGeom prst="rect">
            <a:avLst/>
          </a:prstGeom>
          <a:noFill/>
        </p:spPr>
        <p:txBody>
          <a:bodyPr wrap="square" lIns="0" rIns="0" tIns="0" bIns="0" anchor="t">
            <a:spAutoFit/>
          </a:bodyPr>
          <a:lstStyle/>
          <a:p>
            <a:pPr algn="l">
              <a:lnSpc>
                <a:spcPct val="102000"/>
              </a:lnSpc>
              <a:spcAft>
                <a:spcPts val="0"/>
              </a:spcAft>
            </a:pPr>
            <a:r>
              <a:rPr sz="2800" b="0">
                <a:solidFill>
                  <a:srgbClr val="F5F5F6"/>
                </a:solidFill>
                <a:latin typeface="Segoe UI Semibold"/>
              </a:rPr>
              <a:t>Built to survive a live demo, and a real bank's infrastructure.</a:t>
            </a:r>
          </a:p>
        </p:txBody>
      </p:sp>
      <p:sp>
        <p:nvSpPr>
          <p:cNvPr id="4" name="Rounded Rectangle 3"/>
          <p:cNvSpPr/>
          <p:nvPr/>
        </p:nvSpPr>
        <p:spPr>
          <a:xfrm>
            <a:off x="548640" y="1645920"/>
            <a:ext cx="2602153" cy="1463040"/>
          </a:xfrm>
          <a:prstGeom prst="roundRect">
            <a:avLst>
              <a:gd name="adj" fmla="val 5000"/>
            </a:avLst>
          </a:prstGeom>
          <a:solidFill>
            <a:srgbClr val="16161A"/>
          </a:solidFill>
          <a:ln w="9525">
            <a:solidFill>
              <a:srgbClr val="303037"/>
            </a:solidFill>
          </a:ln>
        </p:spPr>
        <p:txBody>
          <a:bodyPr rtlCol="0" anchor="ctr"/>
          <a:lstStyle/>
          <a:p/>
        </p:txBody>
      </p:sp>
      <p:sp>
        <p:nvSpPr>
          <p:cNvPr id="5" name="TextBox 4"/>
          <p:cNvSpPr txBox="1"/>
          <p:nvPr/>
        </p:nvSpPr>
        <p:spPr>
          <a:xfrm>
            <a:off x="777240" y="1755648"/>
            <a:ext cx="2144953" cy="685800"/>
          </a:xfrm>
          <a:prstGeom prst="rect">
            <a:avLst/>
          </a:prstGeom>
          <a:noFill/>
        </p:spPr>
        <p:txBody>
          <a:bodyPr wrap="square" lIns="0" rIns="0" tIns="0" bIns="0" anchor="t">
            <a:spAutoFit/>
          </a:bodyPr>
          <a:lstStyle/>
          <a:p>
            <a:pPr algn="l">
              <a:lnSpc>
                <a:spcPct val="112000"/>
              </a:lnSpc>
              <a:spcAft>
                <a:spcPts val="0"/>
              </a:spcAft>
            </a:pPr>
            <a:r>
              <a:rPr sz="4000" b="0">
                <a:solidFill>
                  <a:srgbClr val="F5F5F6"/>
                </a:solidFill>
                <a:latin typeface="Segoe UI Semibold"/>
              </a:rPr>
              <a:t>160</a:t>
            </a:r>
          </a:p>
        </p:txBody>
      </p:sp>
      <p:sp>
        <p:nvSpPr>
          <p:cNvPr id="6" name="TextBox 5"/>
          <p:cNvSpPr txBox="1"/>
          <p:nvPr/>
        </p:nvSpPr>
        <p:spPr>
          <a:xfrm>
            <a:off x="777240" y="2450592"/>
            <a:ext cx="2144953" cy="640080"/>
          </a:xfrm>
          <a:prstGeom prst="rect">
            <a:avLst/>
          </a:prstGeom>
          <a:noFill/>
        </p:spPr>
        <p:txBody>
          <a:bodyPr wrap="square" lIns="0" rIns="0" tIns="0" bIns="0" anchor="t">
            <a:spAutoFit/>
          </a:bodyPr>
          <a:lstStyle/>
          <a:p>
            <a:pPr algn="l">
              <a:lnSpc>
                <a:spcPct val="112000"/>
              </a:lnSpc>
              <a:spcAft>
                <a:spcPts val="0"/>
              </a:spcAft>
            </a:pPr>
            <a:r>
              <a:rPr sz="1050" b="0">
                <a:solidFill>
                  <a:srgbClr val="A8A8B0"/>
                </a:solidFill>
                <a:latin typeface="Segoe UI"/>
              </a:rPr>
              <a:t>automated assertions across 7 suites, including 26 against the live database</a:t>
            </a:r>
          </a:p>
        </p:txBody>
      </p:sp>
      <p:sp>
        <p:nvSpPr>
          <p:cNvPr id="7" name="Rounded Rectangle 6"/>
          <p:cNvSpPr/>
          <p:nvPr/>
        </p:nvSpPr>
        <p:spPr>
          <a:xfrm>
            <a:off x="3379393" y="1645920"/>
            <a:ext cx="2602153" cy="1463040"/>
          </a:xfrm>
          <a:prstGeom prst="roundRect">
            <a:avLst>
              <a:gd name="adj" fmla="val 5000"/>
            </a:avLst>
          </a:prstGeom>
          <a:solidFill>
            <a:srgbClr val="16161A"/>
          </a:solidFill>
          <a:ln w="9525">
            <a:solidFill>
              <a:srgbClr val="303037"/>
            </a:solidFill>
          </a:ln>
        </p:spPr>
        <p:txBody>
          <a:bodyPr rtlCol="0" anchor="ctr"/>
          <a:lstStyle/>
          <a:p/>
        </p:txBody>
      </p:sp>
      <p:sp>
        <p:nvSpPr>
          <p:cNvPr id="8" name="TextBox 7"/>
          <p:cNvSpPr txBox="1"/>
          <p:nvPr/>
        </p:nvSpPr>
        <p:spPr>
          <a:xfrm>
            <a:off x="3607993" y="1755648"/>
            <a:ext cx="2144953" cy="685800"/>
          </a:xfrm>
          <a:prstGeom prst="rect">
            <a:avLst/>
          </a:prstGeom>
          <a:noFill/>
        </p:spPr>
        <p:txBody>
          <a:bodyPr wrap="square" lIns="0" rIns="0" tIns="0" bIns="0" anchor="t">
            <a:spAutoFit/>
          </a:bodyPr>
          <a:lstStyle/>
          <a:p>
            <a:pPr algn="l">
              <a:lnSpc>
                <a:spcPct val="112000"/>
              </a:lnSpc>
              <a:spcAft>
                <a:spcPts val="0"/>
              </a:spcAft>
            </a:pPr>
            <a:r>
              <a:rPr sz="4000" b="0">
                <a:solidFill>
                  <a:srgbClr val="F5F5F6"/>
                </a:solidFill>
                <a:latin typeface="Segoe UI Semibold"/>
              </a:rPr>
              <a:t>34</a:t>
            </a:r>
          </a:p>
        </p:txBody>
      </p:sp>
      <p:sp>
        <p:nvSpPr>
          <p:cNvPr id="9" name="TextBox 8"/>
          <p:cNvSpPr txBox="1"/>
          <p:nvPr/>
        </p:nvSpPr>
        <p:spPr>
          <a:xfrm>
            <a:off x="3607993" y="2450592"/>
            <a:ext cx="2144953" cy="640080"/>
          </a:xfrm>
          <a:prstGeom prst="rect">
            <a:avLst/>
          </a:prstGeom>
          <a:noFill/>
        </p:spPr>
        <p:txBody>
          <a:bodyPr wrap="square" lIns="0" rIns="0" tIns="0" bIns="0" anchor="t">
            <a:spAutoFit/>
          </a:bodyPr>
          <a:lstStyle/>
          <a:p>
            <a:pPr algn="l">
              <a:lnSpc>
                <a:spcPct val="112000"/>
              </a:lnSpc>
              <a:spcAft>
                <a:spcPts val="0"/>
              </a:spcAft>
            </a:pPr>
            <a:r>
              <a:rPr sz="1050" b="0">
                <a:solidFill>
                  <a:srgbClr val="A8A8B0"/>
                </a:solidFill>
                <a:latin typeface="Segoe UI"/>
              </a:rPr>
              <a:t>architecture decisions recorded, each with alternatives and consequences</a:t>
            </a:r>
          </a:p>
        </p:txBody>
      </p:sp>
      <p:sp>
        <p:nvSpPr>
          <p:cNvPr id="10" name="Rounded Rectangle 9"/>
          <p:cNvSpPr/>
          <p:nvPr/>
        </p:nvSpPr>
        <p:spPr>
          <a:xfrm>
            <a:off x="6210147" y="1645920"/>
            <a:ext cx="2602153" cy="1463040"/>
          </a:xfrm>
          <a:prstGeom prst="roundRect">
            <a:avLst>
              <a:gd name="adj" fmla="val 5000"/>
            </a:avLst>
          </a:prstGeom>
          <a:solidFill>
            <a:srgbClr val="16161A"/>
          </a:solidFill>
          <a:ln w="9525">
            <a:solidFill>
              <a:srgbClr val="303037"/>
            </a:solidFill>
          </a:ln>
        </p:spPr>
        <p:txBody>
          <a:bodyPr rtlCol="0" anchor="ctr"/>
          <a:lstStyle/>
          <a:p/>
        </p:txBody>
      </p:sp>
      <p:sp>
        <p:nvSpPr>
          <p:cNvPr id="11" name="TextBox 10"/>
          <p:cNvSpPr txBox="1"/>
          <p:nvPr/>
        </p:nvSpPr>
        <p:spPr>
          <a:xfrm>
            <a:off x="6438747" y="1755648"/>
            <a:ext cx="2144953" cy="685800"/>
          </a:xfrm>
          <a:prstGeom prst="rect">
            <a:avLst/>
          </a:prstGeom>
          <a:noFill/>
        </p:spPr>
        <p:txBody>
          <a:bodyPr wrap="square" lIns="0" rIns="0" tIns="0" bIns="0" anchor="t">
            <a:spAutoFit/>
          </a:bodyPr>
          <a:lstStyle/>
          <a:p>
            <a:pPr algn="l">
              <a:lnSpc>
                <a:spcPct val="112000"/>
              </a:lnSpc>
              <a:spcAft>
                <a:spcPts val="0"/>
              </a:spcAft>
            </a:pPr>
            <a:r>
              <a:rPr sz="4000" b="0">
                <a:solidFill>
                  <a:srgbClr val="F5F5F6"/>
                </a:solidFill>
                <a:latin typeface="Segoe UI Semibold"/>
              </a:rPr>
              <a:t>0</a:t>
            </a:r>
          </a:p>
        </p:txBody>
      </p:sp>
      <p:sp>
        <p:nvSpPr>
          <p:cNvPr id="12" name="TextBox 11"/>
          <p:cNvSpPr txBox="1"/>
          <p:nvPr/>
        </p:nvSpPr>
        <p:spPr>
          <a:xfrm>
            <a:off x="6438747" y="2450592"/>
            <a:ext cx="2144953" cy="640080"/>
          </a:xfrm>
          <a:prstGeom prst="rect">
            <a:avLst/>
          </a:prstGeom>
          <a:noFill/>
        </p:spPr>
        <p:txBody>
          <a:bodyPr wrap="square" lIns="0" rIns="0" tIns="0" bIns="0" anchor="t">
            <a:spAutoFit/>
          </a:bodyPr>
          <a:lstStyle/>
          <a:p>
            <a:pPr algn="l">
              <a:lnSpc>
                <a:spcPct val="112000"/>
              </a:lnSpc>
              <a:spcAft>
                <a:spcPts val="0"/>
              </a:spcAft>
            </a:pPr>
            <a:r>
              <a:rPr sz="1050" b="0">
                <a:solidFill>
                  <a:srgbClr val="A8A8B0"/>
                </a:solidFill>
                <a:latin typeface="Segoe UI"/>
              </a:rPr>
              <a:t>API keys or databases required to run the full product</a:t>
            </a:r>
          </a:p>
        </p:txBody>
      </p:sp>
      <p:sp>
        <p:nvSpPr>
          <p:cNvPr id="13" name="Rounded Rectangle 12"/>
          <p:cNvSpPr/>
          <p:nvPr/>
        </p:nvSpPr>
        <p:spPr>
          <a:xfrm>
            <a:off x="9040901" y="1645920"/>
            <a:ext cx="2602153" cy="1463040"/>
          </a:xfrm>
          <a:prstGeom prst="roundRect">
            <a:avLst>
              <a:gd name="adj" fmla="val 5000"/>
            </a:avLst>
          </a:prstGeom>
          <a:solidFill>
            <a:srgbClr val="16161A"/>
          </a:solidFill>
          <a:ln w="9525">
            <a:solidFill>
              <a:srgbClr val="303037"/>
            </a:solidFill>
          </a:ln>
        </p:spPr>
        <p:txBody>
          <a:bodyPr rtlCol="0" anchor="ctr"/>
          <a:lstStyle/>
          <a:p/>
        </p:txBody>
      </p:sp>
      <p:sp>
        <p:nvSpPr>
          <p:cNvPr id="14" name="TextBox 13"/>
          <p:cNvSpPr txBox="1"/>
          <p:nvPr/>
        </p:nvSpPr>
        <p:spPr>
          <a:xfrm>
            <a:off x="9269501" y="1755648"/>
            <a:ext cx="2144953" cy="685800"/>
          </a:xfrm>
          <a:prstGeom prst="rect">
            <a:avLst/>
          </a:prstGeom>
          <a:noFill/>
        </p:spPr>
        <p:txBody>
          <a:bodyPr wrap="square" lIns="0" rIns="0" tIns="0" bIns="0" anchor="t">
            <a:spAutoFit/>
          </a:bodyPr>
          <a:lstStyle/>
          <a:p>
            <a:pPr algn="l">
              <a:lnSpc>
                <a:spcPct val="112000"/>
              </a:lnSpc>
              <a:spcAft>
                <a:spcPts val="0"/>
              </a:spcAft>
            </a:pPr>
            <a:r>
              <a:rPr sz="4000" b="0">
                <a:solidFill>
                  <a:srgbClr val="F5F5F6"/>
                </a:solidFill>
                <a:latin typeface="Segoe UI Semibold"/>
              </a:rPr>
              <a:t>12</a:t>
            </a:r>
          </a:p>
        </p:txBody>
      </p:sp>
      <p:sp>
        <p:nvSpPr>
          <p:cNvPr id="15" name="TextBox 14"/>
          <p:cNvSpPr txBox="1"/>
          <p:nvPr/>
        </p:nvSpPr>
        <p:spPr>
          <a:xfrm>
            <a:off x="9269501" y="2450592"/>
            <a:ext cx="2144953" cy="640080"/>
          </a:xfrm>
          <a:prstGeom prst="rect">
            <a:avLst/>
          </a:prstGeom>
          <a:noFill/>
        </p:spPr>
        <p:txBody>
          <a:bodyPr wrap="square" lIns="0" rIns="0" tIns="0" bIns="0" anchor="t">
            <a:spAutoFit/>
          </a:bodyPr>
          <a:lstStyle/>
          <a:p>
            <a:pPr algn="l">
              <a:lnSpc>
                <a:spcPct val="112000"/>
              </a:lnSpc>
              <a:spcAft>
                <a:spcPts val="0"/>
              </a:spcAft>
            </a:pPr>
            <a:r>
              <a:rPr sz="1050" b="0">
                <a:solidFill>
                  <a:srgbClr val="A8A8B0"/>
                </a:solidFill>
                <a:latin typeface="Segoe UI"/>
              </a:rPr>
              <a:t>API routes behind one async boundary; every decision is a pure function</a:t>
            </a:r>
          </a:p>
        </p:txBody>
      </p:sp>
      <p:sp>
        <p:nvSpPr>
          <p:cNvPr id="16" name="TextBox 15"/>
          <p:cNvSpPr txBox="1"/>
          <p:nvPr/>
        </p:nvSpPr>
        <p:spPr>
          <a:xfrm>
            <a:off x="548640" y="3364992"/>
            <a:ext cx="5364327" cy="320040"/>
          </a:xfrm>
          <a:prstGeom prst="rect">
            <a:avLst/>
          </a:prstGeom>
          <a:noFill/>
        </p:spPr>
        <p:txBody>
          <a:bodyPr wrap="square" lIns="0" rIns="0" tIns="0" bIns="0" anchor="t">
            <a:spAutoFit/>
          </a:bodyPr>
          <a:lstStyle/>
          <a:p>
            <a:pPr algn="l">
              <a:lnSpc>
                <a:spcPct val="112000"/>
              </a:lnSpc>
              <a:spcAft>
                <a:spcPts val="0"/>
              </a:spcAft>
            </a:pPr>
            <a:r>
              <a:rPr sz="1600" b="0">
                <a:solidFill>
                  <a:srgbClr val="F5F5F6"/>
                </a:solidFill>
                <a:latin typeface="Segoe UI Semibold"/>
              </a:rPr>
              <a:t>Scales with the bank</a:t>
            </a:r>
          </a:p>
        </p:txBody>
      </p:sp>
      <p:sp>
        <p:nvSpPr>
          <p:cNvPr id="17" name="TextBox 16"/>
          <p:cNvSpPr txBox="1"/>
          <p:nvPr/>
        </p:nvSpPr>
        <p:spPr>
          <a:xfrm>
            <a:off x="548640" y="3794760"/>
            <a:ext cx="5364327" cy="502920"/>
          </a:xfrm>
          <a:prstGeom prst="rect">
            <a:avLst/>
          </a:prstGeom>
          <a:noFill/>
        </p:spPr>
        <p:txBody>
          <a:bodyPr wrap="square" lIns="0" rIns="0" tIns="0" bIns="0" anchor="t">
            <a:spAutoFit/>
          </a:bodyPr>
          <a:lstStyle/>
          <a:p>
            <a:pPr algn="l">
              <a:lnSpc>
                <a:spcPct val="112000"/>
              </a:lnSpc>
              <a:spcAft>
                <a:spcPts val="0"/>
              </a:spcAft>
            </a:pPr>
            <a:r>
              <a:rPr sz="1150" b="0">
                <a:solidFill>
                  <a:srgbClr val="F5F5F6"/>
                </a:solidFill>
                <a:latin typeface="Segoe UI Semibold"/>
              </a:rPr>
              <a:t>One async boundary. </a:t>
            </a:r>
            <a:r>
              <a:rPr sz="1150" b="0">
                <a:solidFill>
                  <a:srgbClr val="A8A8B0"/>
                </a:solidFill>
                <a:latin typeface="Segoe UI"/>
              </a:rPr>
              <a:t>Data loads once; every decision after that is a pure, stateless function that scales horizontally.</a:t>
            </a:r>
          </a:p>
        </p:txBody>
      </p:sp>
      <p:sp>
        <p:nvSpPr>
          <p:cNvPr id="18" name="TextBox 17"/>
          <p:cNvSpPr txBox="1"/>
          <p:nvPr/>
        </p:nvSpPr>
        <p:spPr>
          <a:xfrm>
            <a:off x="548640" y="4343400"/>
            <a:ext cx="5364327" cy="502920"/>
          </a:xfrm>
          <a:prstGeom prst="rect">
            <a:avLst/>
          </a:prstGeom>
          <a:noFill/>
        </p:spPr>
        <p:txBody>
          <a:bodyPr wrap="square" lIns="0" rIns="0" tIns="0" bIns="0" anchor="t">
            <a:spAutoFit/>
          </a:bodyPr>
          <a:lstStyle/>
          <a:p>
            <a:pPr algn="l">
              <a:lnSpc>
                <a:spcPct val="112000"/>
              </a:lnSpc>
              <a:spcAft>
                <a:spcPts val="0"/>
              </a:spcAft>
            </a:pPr>
            <a:r>
              <a:rPr sz="1150" b="0">
                <a:solidFill>
                  <a:srgbClr val="F5F5F6"/>
                </a:solidFill>
                <a:latin typeface="Segoe UI Semibold"/>
              </a:rPr>
              <a:t>Dataset-agnostic. </a:t>
            </a:r>
            <a:r>
              <a:rPr sz="1150" b="0">
                <a:solidFill>
                  <a:srgbClr val="A8A8B0"/>
                </a:solidFill>
                <a:latin typeface="Segoe UI"/>
              </a:rPr>
              <a:t>Swap one loader to train on a real ledger. Nothing downstream changes.</a:t>
            </a:r>
          </a:p>
        </p:txBody>
      </p:sp>
      <p:sp>
        <p:nvSpPr>
          <p:cNvPr id="19" name="TextBox 18"/>
          <p:cNvSpPr txBox="1"/>
          <p:nvPr/>
        </p:nvSpPr>
        <p:spPr>
          <a:xfrm>
            <a:off x="548640" y="4892039"/>
            <a:ext cx="5364327" cy="502920"/>
          </a:xfrm>
          <a:prstGeom prst="rect">
            <a:avLst/>
          </a:prstGeom>
          <a:noFill/>
        </p:spPr>
        <p:txBody>
          <a:bodyPr wrap="square" lIns="0" rIns="0" tIns="0" bIns="0" anchor="t">
            <a:spAutoFit/>
          </a:bodyPr>
          <a:lstStyle/>
          <a:p>
            <a:pPr algn="l">
              <a:lnSpc>
                <a:spcPct val="112000"/>
              </a:lnSpc>
              <a:spcAft>
                <a:spcPts val="0"/>
              </a:spcAft>
            </a:pPr>
            <a:r>
              <a:rPr sz="1150" b="0">
                <a:solidFill>
                  <a:srgbClr val="F5F5F6"/>
                </a:solidFill>
                <a:latin typeface="Segoe UI Semibold"/>
              </a:rPr>
              <a:t>Channel-agnostic. </a:t>
            </a:r>
            <a:r>
              <a:rPr sz="1150" b="0">
                <a:solidFill>
                  <a:srgbClr val="A8A8B0"/>
                </a:solidFill>
                <a:latin typeface="Segoe UI"/>
              </a:rPr>
              <a:t>App, chat, SMS, IVR and Key Facts Statement from a single decision.</a:t>
            </a:r>
          </a:p>
        </p:txBody>
      </p:sp>
      <p:sp>
        <p:nvSpPr>
          <p:cNvPr id="20" name="TextBox 19"/>
          <p:cNvSpPr txBox="1"/>
          <p:nvPr/>
        </p:nvSpPr>
        <p:spPr>
          <a:xfrm>
            <a:off x="548640" y="5440679"/>
            <a:ext cx="5364327" cy="502920"/>
          </a:xfrm>
          <a:prstGeom prst="rect">
            <a:avLst/>
          </a:prstGeom>
          <a:noFill/>
        </p:spPr>
        <p:txBody>
          <a:bodyPr wrap="square" lIns="0" rIns="0" tIns="0" bIns="0" anchor="t">
            <a:spAutoFit/>
          </a:bodyPr>
          <a:lstStyle/>
          <a:p>
            <a:pPr algn="l">
              <a:lnSpc>
                <a:spcPct val="112000"/>
              </a:lnSpc>
              <a:spcAft>
                <a:spcPts val="0"/>
              </a:spcAft>
            </a:pPr>
            <a:r>
              <a:rPr sz="1150" b="0">
                <a:solidFill>
                  <a:srgbClr val="F5F5F6"/>
                </a:solidFill>
                <a:latin typeface="Segoe UI Semibold"/>
              </a:rPr>
              <a:t>No ML runtime. </a:t>
            </a:r>
            <a:r>
              <a:rPr sz="1150" b="0">
                <a:solidFill>
                  <a:srgbClr val="A8A8B0"/>
                </a:solidFill>
                <a:latin typeface="Segoe UI"/>
              </a:rPr>
              <a:t>Weights are JSON; inference is a dot product in TypeScript.</a:t>
            </a:r>
          </a:p>
        </p:txBody>
      </p:sp>
      <p:sp>
        <p:nvSpPr>
          <p:cNvPr id="21" name="TextBox 20"/>
          <p:cNvSpPr txBox="1"/>
          <p:nvPr/>
        </p:nvSpPr>
        <p:spPr>
          <a:xfrm>
            <a:off x="6278727" y="3364992"/>
            <a:ext cx="5364327" cy="320040"/>
          </a:xfrm>
          <a:prstGeom prst="rect">
            <a:avLst/>
          </a:prstGeom>
          <a:noFill/>
        </p:spPr>
        <p:txBody>
          <a:bodyPr wrap="square" lIns="0" rIns="0" tIns="0" bIns="0" anchor="t">
            <a:spAutoFit/>
          </a:bodyPr>
          <a:lstStyle/>
          <a:p>
            <a:pPr algn="l">
              <a:lnSpc>
                <a:spcPct val="112000"/>
              </a:lnSpc>
              <a:spcAft>
                <a:spcPts val="0"/>
              </a:spcAft>
            </a:pPr>
            <a:r>
              <a:rPr sz="1600" b="0">
                <a:solidFill>
                  <a:srgbClr val="F5F5F6"/>
                </a:solidFill>
                <a:latin typeface="Segoe UI Semibold"/>
              </a:rPr>
              <a:t>Fails safely</a:t>
            </a:r>
          </a:p>
        </p:txBody>
      </p:sp>
      <p:sp>
        <p:nvSpPr>
          <p:cNvPr id="22" name="TextBox 21"/>
          <p:cNvSpPr txBox="1"/>
          <p:nvPr/>
        </p:nvSpPr>
        <p:spPr>
          <a:xfrm>
            <a:off x="6278727" y="3794760"/>
            <a:ext cx="5364327" cy="502920"/>
          </a:xfrm>
          <a:prstGeom prst="rect">
            <a:avLst/>
          </a:prstGeom>
          <a:noFill/>
        </p:spPr>
        <p:txBody>
          <a:bodyPr wrap="square" lIns="0" rIns="0" tIns="0" bIns="0" anchor="t">
            <a:spAutoFit/>
          </a:bodyPr>
          <a:lstStyle/>
          <a:p>
            <a:pPr algn="l">
              <a:lnSpc>
                <a:spcPct val="112000"/>
              </a:lnSpc>
              <a:spcAft>
                <a:spcPts val="0"/>
              </a:spcAft>
            </a:pPr>
            <a:r>
              <a:rPr sz="1150" b="0">
                <a:solidFill>
                  <a:srgbClr val="F5F5F6"/>
                </a:solidFill>
                <a:latin typeface="Segoe UI Semibold"/>
              </a:rPr>
              <a:t>LLM down or out of quota. </a:t>
            </a:r>
            <a:r>
              <a:rPr sz="1150" b="0">
                <a:solidFill>
                  <a:srgbClr val="A8A8B0"/>
                </a:solidFill>
                <a:latin typeface="Segoe UI"/>
              </a:rPr>
              <a:t>Grounded templates take over, and the UI labels which one spoke.</a:t>
            </a:r>
          </a:p>
        </p:txBody>
      </p:sp>
      <p:sp>
        <p:nvSpPr>
          <p:cNvPr id="23" name="TextBox 22"/>
          <p:cNvSpPr txBox="1"/>
          <p:nvPr/>
        </p:nvSpPr>
        <p:spPr>
          <a:xfrm>
            <a:off x="6278727" y="4343400"/>
            <a:ext cx="5364327" cy="502920"/>
          </a:xfrm>
          <a:prstGeom prst="rect">
            <a:avLst/>
          </a:prstGeom>
          <a:noFill/>
        </p:spPr>
        <p:txBody>
          <a:bodyPr wrap="square" lIns="0" rIns="0" tIns="0" bIns="0" anchor="t">
            <a:spAutoFit/>
          </a:bodyPr>
          <a:lstStyle/>
          <a:p>
            <a:pPr algn="l">
              <a:lnSpc>
                <a:spcPct val="112000"/>
              </a:lnSpc>
              <a:spcAft>
                <a:spcPts val="0"/>
              </a:spcAft>
            </a:pPr>
            <a:r>
              <a:rPr sz="1150" b="0">
                <a:solidFill>
                  <a:srgbClr val="F5F5F6"/>
                </a:solidFill>
                <a:latin typeface="Segoe UI Semibold"/>
              </a:rPr>
              <a:t>Database unreachable. </a:t>
            </a:r>
            <a:r>
              <a:rPr sz="1150" b="0">
                <a:solidFill>
                  <a:srgbClr val="A8A8B0"/>
                </a:solidFill>
                <a:latin typeface="Segoe UI"/>
              </a:rPr>
              <a:t>Bundled seed after a hard timeout. Never a hung screen or a 500.</a:t>
            </a:r>
          </a:p>
        </p:txBody>
      </p:sp>
      <p:sp>
        <p:nvSpPr>
          <p:cNvPr id="24" name="TextBox 23"/>
          <p:cNvSpPr txBox="1"/>
          <p:nvPr/>
        </p:nvSpPr>
        <p:spPr>
          <a:xfrm>
            <a:off x="6278727" y="4892039"/>
            <a:ext cx="5364327" cy="502920"/>
          </a:xfrm>
          <a:prstGeom prst="rect">
            <a:avLst/>
          </a:prstGeom>
          <a:noFill/>
        </p:spPr>
        <p:txBody>
          <a:bodyPr wrap="square" lIns="0" rIns="0" tIns="0" bIns="0" anchor="t">
            <a:spAutoFit/>
          </a:bodyPr>
          <a:lstStyle/>
          <a:p>
            <a:pPr algn="l">
              <a:lnSpc>
                <a:spcPct val="112000"/>
              </a:lnSpc>
              <a:spcAft>
                <a:spcPts val="0"/>
              </a:spcAft>
            </a:pPr>
            <a:r>
              <a:rPr sz="1150" b="0">
                <a:solidFill>
                  <a:srgbClr val="F5F5F6"/>
                </a:solidFill>
                <a:latin typeface="Segoe UI Semibold"/>
              </a:rPr>
              <a:t>Retries cannot fork the ledger. </a:t>
            </a:r>
            <a:r>
              <a:rPr sz="1150" b="0">
                <a:solidFill>
                  <a:srgbClr val="A8A8B0"/>
                </a:solidFill>
                <a:latin typeface="Segoe UI"/>
              </a:rPr>
              <a:t>Audit writes are idempotent on the record hash.</a:t>
            </a:r>
          </a:p>
        </p:txBody>
      </p:sp>
      <p:sp>
        <p:nvSpPr>
          <p:cNvPr id="25" name="TextBox 24"/>
          <p:cNvSpPr txBox="1"/>
          <p:nvPr/>
        </p:nvSpPr>
        <p:spPr>
          <a:xfrm>
            <a:off x="6278727" y="5440679"/>
            <a:ext cx="5364327" cy="502920"/>
          </a:xfrm>
          <a:prstGeom prst="rect">
            <a:avLst/>
          </a:prstGeom>
          <a:noFill/>
        </p:spPr>
        <p:txBody>
          <a:bodyPr wrap="square" lIns="0" rIns="0" tIns="0" bIns="0" anchor="t">
            <a:spAutoFit/>
          </a:bodyPr>
          <a:lstStyle/>
          <a:p>
            <a:pPr algn="l">
              <a:lnSpc>
                <a:spcPct val="112000"/>
              </a:lnSpc>
              <a:spcAft>
                <a:spcPts val="0"/>
              </a:spcAft>
            </a:pPr>
            <a:r>
              <a:rPr sz="1150" b="0">
                <a:solidFill>
                  <a:srgbClr val="F5F5F6"/>
                </a:solidFill>
                <a:latin typeface="Segoe UI Semibold"/>
              </a:rPr>
              <a:t>Stack. </a:t>
            </a:r>
            <a:r>
              <a:rPr sz="1150" b="0">
                <a:solidFill>
                  <a:srgbClr val="A8A8B0"/>
                </a:solidFill>
                <a:latin typeface="Segoe UI"/>
              </a:rPr>
              <a:t>Next.js 16, TypeScript, PostgreSQL on Supabase in Mumbai, Gemini, Vercel.</a:t>
            </a:r>
          </a:p>
        </p:txBody>
      </p:sp>
      <p:cxnSp>
        <p:nvCxnSpPr>
          <p:cNvPr id="26" name="Connector 25"/>
          <p:cNvCxnSpPr/>
          <p:nvPr/>
        </p:nvCxnSpPr>
        <p:spPr>
          <a:xfrm>
            <a:off x="548640" y="6400800"/>
            <a:ext cx="11094415"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8640" y="6492240"/>
            <a:ext cx="5486400" cy="22860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a:rPr>
              <a:t>DhanSathi  ·  Explainable banking for Bharat</a:t>
            </a:r>
          </a:p>
        </p:txBody>
      </p:sp>
      <p:sp>
        <p:nvSpPr>
          <p:cNvPr id="28" name="TextBox 27"/>
          <p:cNvSpPr txBox="1"/>
          <p:nvPr/>
        </p:nvSpPr>
        <p:spPr>
          <a:xfrm>
            <a:off x="9814255" y="6492240"/>
            <a:ext cx="1828800" cy="228600"/>
          </a:xfrm>
          <a:prstGeom prst="rect">
            <a:avLst/>
          </a:prstGeom>
          <a:noFill/>
        </p:spPr>
        <p:txBody>
          <a:bodyPr wrap="square" lIns="0" rIns="0" tIns="0" bIns="0" anchor="t">
            <a:spAutoFit/>
          </a:bodyPr>
          <a:lstStyle/>
          <a:p>
            <a:pPr algn="r">
              <a:lnSpc>
                <a:spcPct val="112000"/>
              </a:lnSpc>
              <a:spcAft>
                <a:spcPts val="0"/>
              </a:spcAft>
            </a:pPr>
            <a:r>
              <a:rPr sz="900" b="0">
                <a:solidFill>
                  <a:srgbClr val="70707A"/>
                </a:solidFill>
                <a:latin typeface="Segoe UI"/>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Semibold"/>
              </a:rPr>
              <a:t>13 · LIVE DEMO</a:t>
            </a:r>
          </a:p>
        </p:txBody>
      </p:sp>
      <p:sp>
        <p:nvSpPr>
          <p:cNvPr id="3" name="TextBox 2"/>
          <p:cNvSpPr txBox="1"/>
          <p:nvPr/>
        </p:nvSpPr>
        <p:spPr>
          <a:xfrm>
            <a:off x="548640" y="658368"/>
            <a:ext cx="11094415" cy="1097280"/>
          </a:xfrm>
          <a:prstGeom prst="rect">
            <a:avLst/>
          </a:prstGeom>
          <a:noFill/>
        </p:spPr>
        <p:txBody>
          <a:bodyPr wrap="square" lIns="0" rIns="0" tIns="0" bIns="0" anchor="t">
            <a:spAutoFit/>
          </a:bodyPr>
          <a:lstStyle/>
          <a:p>
            <a:pPr algn="l">
              <a:lnSpc>
                <a:spcPct val="102000"/>
              </a:lnSpc>
              <a:spcAft>
                <a:spcPts val="0"/>
              </a:spcAft>
            </a:pPr>
            <a:r>
              <a:rPr sz="3000" b="0">
                <a:solidFill>
                  <a:srgbClr val="F5F5F6"/>
                </a:solidFill>
                <a:latin typeface="Segoe UI Semibold"/>
              </a:rPr>
              <a:t>Four customers, four different decisions, one pipeline.</a:t>
            </a:r>
          </a:p>
        </p:txBody>
      </p:sp>
      <p:sp>
        <p:nvSpPr>
          <p:cNvPr id="4" name="Rounded Rectangle 3"/>
          <p:cNvSpPr/>
          <p:nvPr/>
        </p:nvSpPr>
        <p:spPr>
          <a:xfrm>
            <a:off x="548640" y="1645920"/>
            <a:ext cx="2602153" cy="3154680"/>
          </a:xfrm>
          <a:prstGeom prst="roundRect">
            <a:avLst>
              <a:gd name="adj" fmla="val 4000"/>
            </a:avLst>
          </a:prstGeom>
          <a:solidFill>
            <a:srgbClr val="16161A"/>
          </a:solidFill>
          <a:ln w="9525">
            <a:solidFill>
              <a:srgbClr val="303037"/>
            </a:solidFill>
          </a:ln>
        </p:spPr>
        <p:txBody>
          <a:bodyPr rtlCol="0" anchor="ctr"/>
          <a:lstStyle/>
          <a:p/>
        </p:txBody>
      </p:sp>
      <p:sp>
        <p:nvSpPr>
          <p:cNvPr id="5" name="TextBox 4"/>
          <p:cNvSpPr txBox="1"/>
          <p:nvPr/>
        </p:nvSpPr>
        <p:spPr>
          <a:xfrm>
            <a:off x="777240" y="1828800"/>
            <a:ext cx="2144953" cy="411480"/>
          </a:xfrm>
          <a:prstGeom prst="rect">
            <a:avLst/>
          </a:prstGeom>
          <a:noFill/>
        </p:spPr>
        <p:txBody>
          <a:bodyPr wrap="square" lIns="0" rIns="0" tIns="0" bIns="0" anchor="t">
            <a:spAutoFit/>
          </a:bodyPr>
          <a:lstStyle/>
          <a:p>
            <a:pPr algn="l">
              <a:lnSpc>
                <a:spcPct val="112000"/>
              </a:lnSpc>
              <a:spcAft>
                <a:spcPts val="0"/>
              </a:spcAft>
            </a:pPr>
            <a:r>
              <a:rPr sz="2200" b="0">
                <a:solidFill>
                  <a:srgbClr val="F5F5F6"/>
                </a:solidFill>
                <a:latin typeface="Segoe UI Semibold"/>
              </a:rPr>
              <a:t>Priya</a:t>
            </a:r>
          </a:p>
        </p:txBody>
      </p:sp>
      <p:sp>
        <p:nvSpPr>
          <p:cNvPr id="6" name="TextBox 5"/>
          <p:cNvSpPr txBox="1"/>
          <p:nvPr/>
        </p:nvSpPr>
        <p:spPr>
          <a:xfrm>
            <a:off x="777240" y="2286000"/>
            <a:ext cx="2144953" cy="274320"/>
          </a:xfrm>
          <a:prstGeom prst="rect">
            <a:avLst/>
          </a:prstGeom>
          <a:noFill/>
        </p:spPr>
        <p:txBody>
          <a:bodyPr wrap="square" lIns="0" rIns="0" tIns="0" bIns="0" anchor="t">
            <a:spAutoFit/>
          </a:bodyPr>
          <a:lstStyle/>
          <a:p>
            <a:pPr algn="l">
              <a:lnSpc>
                <a:spcPct val="112000"/>
              </a:lnSpc>
              <a:spcAft>
                <a:spcPts val="0"/>
              </a:spcAft>
            </a:pPr>
            <a:r>
              <a:rPr sz="1050" b="0">
                <a:solidFill>
                  <a:srgbClr val="A8A8B0"/>
                </a:solidFill>
                <a:latin typeface="Segoe UI"/>
              </a:rPr>
              <a:t>Salaried saver · Tier 3</a:t>
            </a:r>
          </a:p>
        </p:txBody>
      </p:sp>
      <p:sp>
        <p:nvSpPr>
          <p:cNvPr id="7" name="Rounded Rectangle 6"/>
          <p:cNvSpPr/>
          <p:nvPr/>
        </p:nvSpPr>
        <p:spPr>
          <a:xfrm>
            <a:off x="777240" y="2697480"/>
            <a:ext cx="2144953" cy="731520"/>
          </a:xfrm>
          <a:prstGeom prst="roundRect">
            <a:avLst>
              <a:gd name="adj" fmla="val 8000"/>
            </a:avLst>
          </a:prstGeom>
          <a:solidFill>
            <a:srgbClr val="1F1F24"/>
          </a:solidFill>
          <a:ln w="9525">
            <a:solidFill>
              <a:srgbClr val="303037"/>
            </a:solidFill>
          </a:ln>
        </p:spPr>
        <p:txBody>
          <a:bodyPr rtlCol="0" anchor="ctr"/>
          <a:lstStyle/>
          <a:p/>
        </p:txBody>
      </p:sp>
      <p:sp>
        <p:nvSpPr>
          <p:cNvPr id="8" name="TextBox 7"/>
          <p:cNvSpPr txBox="1"/>
          <p:nvPr/>
        </p:nvSpPr>
        <p:spPr>
          <a:xfrm>
            <a:off x="914400" y="2697480"/>
            <a:ext cx="1870633" cy="731520"/>
          </a:xfrm>
          <a:prstGeom prst="rect">
            <a:avLst/>
          </a:prstGeom>
          <a:noFill/>
        </p:spPr>
        <p:txBody>
          <a:bodyPr wrap="square" lIns="0" rIns="0" tIns="0" bIns="0" anchor="ctr">
            <a:spAutoFit/>
          </a:bodyPr>
          <a:lstStyle/>
          <a:p>
            <a:pPr algn="l">
              <a:lnSpc>
                <a:spcPct val="105000"/>
              </a:lnSpc>
              <a:spcAft>
                <a:spcPts val="0"/>
              </a:spcAft>
            </a:pPr>
            <a:r>
              <a:rPr sz="1150" b="0">
                <a:solidFill>
                  <a:srgbClr val="F5F5F6"/>
                </a:solidFill>
                <a:latin typeface="Segoe UI Semibold"/>
              </a:rPr>
              <a:t>Systematic Investment Plan</a:t>
            </a:r>
          </a:p>
        </p:txBody>
      </p:sp>
      <p:sp>
        <p:nvSpPr>
          <p:cNvPr id="9" name="TextBox 8"/>
          <p:cNvSpPr txBox="1"/>
          <p:nvPr/>
        </p:nvSpPr>
        <p:spPr>
          <a:xfrm>
            <a:off x="777240" y="3566160"/>
            <a:ext cx="2144953" cy="27432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Semibold"/>
              </a:rPr>
              <a:t>WATCH FOR</a:t>
            </a:r>
          </a:p>
        </p:txBody>
      </p:sp>
      <p:sp>
        <p:nvSpPr>
          <p:cNvPr id="10" name="TextBox 9"/>
          <p:cNvSpPr txBox="1"/>
          <p:nvPr/>
        </p:nvSpPr>
        <p:spPr>
          <a:xfrm>
            <a:off x="777240" y="3813048"/>
            <a:ext cx="2144953" cy="914400"/>
          </a:xfrm>
          <a:prstGeom prst="rect">
            <a:avLst/>
          </a:prstGeom>
          <a:noFill/>
        </p:spPr>
        <p:txBody>
          <a:bodyPr wrap="square" lIns="0" rIns="0" tIns="0" bIns="0" anchor="t">
            <a:spAutoFit/>
          </a:bodyPr>
          <a:lstStyle/>
          <a:p>
            <a:pPr algn="l">
              <a:lnSpc>
                <a:spcPct val="115000"/>
              </a:lnSpc>
              <a:spcAft>
                <a:spcPts val="0"/>
              </a:spcAft>
            </a:pPr>
            <a:r>
              <a:rPr sz="1100" b="0">
                <a:solidFill>
                  <a:srgbClr val="F5F5F6"/>
                </a:solidFill>
                <a:latin typeface="Segoe UI"/>
              </a:rPr>
              <a:t>Timing and counterfactuals, then her Key Facts Statement and a one-tap cooling-off exit.</a:t>
            </a:r>
          </a:p>
        </p:txBody>
      </p:sp>
      <p:sp>
        <p:nvSpPr>
          <p:cNvPr id="11" name="Rounded Rectangle 10"/>
          <p:cNvSpPr/>
          <p:nvPr/>
        </p:nvSpPr>
        <p:spPr>
          <a:xfrm>
            <a:off x="3379393" y="1645920"/>
            <a:ext cx="2602153" cy="3154680"/>
          </a:xfrm>
          <a:prstGeom prst="roundRect">
            <a:avLst>
              <a:gd name="adj" fmla="val 4000"/>
            </a:avLst>
          </a:prstGeom>
          <a:solidFill>
            <a:srgbClr val="16161A"/>
          </a:solidFill>
          <a:ln w="9525">
            <a:solidFill>
              <a:srgbClr val="303037"/>
            </a:solidFill>
          </a:ln>
        </p:spPr>
        <p:txBody>
          <a:bodyPr rtlCol="0" anchor="ctr"/>
          <a:lstStyle/>
          <a:p/>
        </p:txBody>
      </p:sp>
      <p:sp>
        <p:nvSpPr>
          <p:cNvPr id="12" name="TextBox 11"/>
          <p:cNvSpPr txBox="1"/>
          <p:nvPr/>
        </p:nvSpPr>
        <p:spPr>
          <a:xfrm>
            <a:off x="3607993" y="1828800"/>
            <a:ext cx="2144953" cy="411480"/>
          </a:xfrm>
          <a:prstGeom prst="rect">
            <a:avLst/>
          </a:prstGeom>
          <a:noFill/>
        </p:spPr>
        <p:txBody>
          <a:bodyPr wrap="square" lIns="0" rIns="0" tIns="0" bIns="0" anchor="t">
            <a:spAutoFit/>
          </a:bodyPr>
          <a:lstStyle/>
          <a:p>
            <a:pPr algn="l">
              <a:lnSpc>
                <a:spcPct val="112000"/>
              </a:lnSpc>
              <a:spcAft>
                <a:spcPts val="0"/>
              </a:spcAft>
            </a:pPr>
            <a:r>
              <a:rPr sz="2200" b="0">
                <a:solidFill>
                  <a:srgbClr val="F5F5F6"/>
                </a:solidFill>
                <a:latin typeface="Segoe UI Semibold"/>
              </a:rPr>
              <a:t>Ramesh</a:t>
            </a:r>
          </a:p>
        </p:txBody>
      </p:sp>
      <p:sp>
        <p:nvSpPr>
          <p:cNvPr id="13" name="TextBox 12"/>
          <p:cNvSpPr txBox="1"/>
          <p:nvPr/>
        </p:nvSpPr>
        <p:spPr>
          <a:xfrm>
            <a:off x="3607993" y="2286000"/>
            <a:ext cx="2144953" cy="274320"/>
          </a:xfrm>
          <a:prstGeom prst="rect">
            <a:avLst/>
          </a:prstGeom>
          <a:noFill/>
        </p:spPr>
        <p:txBody>
          <a:bodyPr wrap="square" lIns="0" rIns="0" tIns="0" bIns="0" anchor="t">
            <a:spAutoFit/>
          </a:bodyPr>
          <a:lstStyle/>
          <a:p>
            <a:pPr algn="l">
              <a:lnSpc>
                <a:spcPct val="112000"/>
              </a:lnSpc>
              <a:spcAft>
                <a:spcPts val="0"/>
              </a:spcAft>
            </a:pPr>
            <a:r>
              <a:rPr sz="1050" b="0">
                <a:solidFill>
                  <a:srgbClr val="A8A8B0"/>
                </a:solidFill>
                <a:latin typeface="Segoe UI"/>
              </a:rPr>
              <a:t>Gig worker · Tier 2</a:t>
            </a:r>
          </a:p>
        </p:txBody>
      </p:sp>
      <p:sp>
        <p:nvSpPr>
          <p:cNvPr id="14" name="Rounded Rectangle 13"/>
          <p:cNvSpPr/>
          <p:nvPr/>
        </p:nvSpPr>
        <p:spPr>
          <a:xfrm>
            <a:off x="3607993" y="2697480"/>
            <a:ext cx="2144953" cy="731520"/>
          </a:xfrm>
          <a:prstGeom prst="roundRect">
            <a:avLst>
              <a:gd name="adj" fmla="val 8000"/>
            </a:avLst>
          </a:prstGeom>
          <a:solidFill>
            <a:srgbClr val="1F1F24"/>
          </a:solidFill>
          <a:ln w="9525">
            <a:solidFill>
              <a:srgbClr val="303037"/>
            </a:solidFill>
          </a:ln>
        </p:spPr>
        <p:txBody>
          <a:bodyPr rtlCol="0" anchor="ctr"/>
          <a:lstStyle/>
          <a:p/>
        </p:txBody>
      </p:sp>
      <p:sp>
        <p:nvSpPr>
          <p:cNvPr id="15" name="TextBox 14"/>
          <p:cNvSpPr txBox="1"/>
          <p:nvPr/>
        </p:nvSpPr>
        <p:spPr>
          <a:xfrm>
            <a:off x="3745153" y="2697480"/>
            <a:ext cx="1870633" cy="731520"/>
          </a:xfrm>
          <a:prstGeom prst="rect">
            <a:avLst/>
          </a:prstGeom>
          <a:noFill/>
        </p:spPr>
        <p:txBody>
          <a:bodyPr wrap="square" lIns="0" rIns="0" tIns="0" bIns="0" anchor="ctr">
            <a:spAutoFit/>
          </a:bodyPr>
          <a:lstStyle/>
          <a:p>
            <a:pPr algn="l">
              <a:lnSpc>
                <a:spcPct val="105000"/>
              </a:lnSpc>
              <a:spcAft>
                <a:spcPts val="0"/>
              </a:spcAft>
            </a:pPr>
            <a:r>
              <a:rPr sz="1150" b="0">
                <a:solidFill>
                  <a:srgbClr val="F5F5F6"/>
                </a:solidFill>
                <a:latin typeface="Segoe UI Semibold"/>
              </a:rPr>
              <a:t>Vehicle Loan</a:t>
            </a:r>
          </a:p>
        </p:txBody>
      </p:sp>
      <p:sp>
        <p:nvSpPr>
          <p:cNvPr id="16" name="TextBox 15"/>
          <p:cNvSpPr txBox="1"/>
          <p:nvPr/>
        </p:nvSpPr>
        <p:spPr>
          <a:xfrm>
            <a:off x="3607993" y="3566160"/>
            <a:ext cx="2144953" cy="27432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Semibold"/>
              </a:rPr>
              <a:t>WATCH FOR</a:t>
            </a:r>
          </a:p>
        </p:txBody>
      </p:sp>
      <p:sp>
        <p:nvSpPr>
          <p:cNvPr id="17" name="TextBox 16"/>
          <p:cNvSpPr txBox="1"/>
          <p:nvPr/>
        </p:nvSpPr>
        <p:spPr>
          <a:xfrm>
            <a:off x="3607993" y="3813048"/>
            <a:ext cx="2144953" cy="914400"/>
          </a:xfrm>
          <a:prstGeom prst="rect">
            <a:avLst/>
          </a:prstGeom>
          <a:noFill/>
        </p:spPr>
        <p:txBody>
          <a:bodyPr wrap="square" lIns="0" rIns="0" tIns="0" bIns="0" anchor="t">
            <a:spAutoFit/>
          </a:bodyPr>
          <a:lstStyle/>
          <a:p>
            <a:pPr algn="l">
              <a:lnSpc>
                <a:spcPct val="115000"/>
              </a:lnSpc>
              <a:spcAft>
                <a:spcPts val="0"/>
              </a:spcAft>
            </a:pPr>
            <a:r>
              <a:rPr sz="1100" b="0">
                <a:solidFill>
                  <a:srgbClr val="F5F5F6"/>
                </a:solidFill>
                <a:latin typeface="Segoe UI"/>
              </a:rPr>
              <a:t>Irregular income sized to his earnings, not penalised for being irregular.</a:t>
            </a:r>
          </a:p>
        </p:txBody>
      </p:sp>
      <p:sp>
        <p:nvSpPr>
          <p:cNvPr id="18" name="Rounded Rectangle 17"/>
          <p:cNvSpPr/>
          <p:nvPr/>
        </p:nvSpPr>
        <p:spPr>
          <a:xfrm>
            <a:off x="6210147" y="1645920"/>
            <a:ext cx="2602153" cy="3154680"/>
          </a:xfrm>
          <a:prstGeom prst="roundRect">
            <a:avLst>
              <a:gd name="adj" fmla="val 4000"/>
            </a:avLst>
          </a:prstGeom>
          <a:solidFill>
            <a:srgbClr val="16161A"/>
          </a:solidFill>
          <a:ln w="9525">
            <a:solidFill>
              <a:srgbClr val="303037"/>
            </a:solidFill>
          </a:ln>
        </p:spPr>
        <p:txBody>
          <a:bodyPr rtlCol="0" anchor="ctr"/>
          <a:lstStyle/>
          <a:p/>
        </p:txBody>
      </p:sp>
      <p:sp>
        <p:nvSpPr>
          <p:cNvPr id="19" name="TextBox 18"/>
          <p:cNvSpPr txBox="1"/>
          <p:nvPr/>
        </p:nvSpPr>
        <p:spPr>
          <a:xfrm>
            <a:off x="6438747" y="1828800"/>
            <a:ext cx="2144953" cy="411480"/>
          </a:xfrm>
          <a:prstGeom prst="rect">
            <a:avLst/>
          </a:prstGeom>
          <a:noFill/>
        </p:spPr>
        <p:txBody>
          <a:bodyPr wrap="square" lIns="0" rIns="0" tIns="0" bIns="0" anchor="t">
            <a:spAutoFit/>
          </a:bodyPr>
          <a:lstStyle/>
          <a:p>
            <a:pPr algn="l">
              <a:lnSpc>
                <a:spcPct val="112000"/>
              </a:lnSpc>
              <a:spcAft>
                <a:spcPts val="0"/>
              </a:spcAft>
            </a:pPr>
            <a:r>
              <a:rPr sz="2200" b="0">
                <a:solidFill>
                  <a:srgbClr val="F5F5F6"/>
                </a:solidFill>
                <a:latin typeface="Segoe UI Semibold"/>
              </a:rPr>
              <a:t>Sunita</a:t>
            </a:r>
          </a:p>
        </p:txBody>
      </p:sp>
      <p:sp>
        <p:nvSpPr>
          <p:cNvPr id="20" name="TextBox 19"/>
          <p:cNvSpPr txBox="1"/>
          <p:nvPr/>
        </p:nvSpPr>
        <p:spPr>
          <a:xfrm>
            <a:off x="6438747" y="2286000"/>
            <a:ext cx="2144953" cy="274320"/>
          </a:xfrm>
          <a:prstGeom prst="rect">
            <a:avLst/>
          </a:prstGeom>
          <a:noFill/>
        </p:spPr>
        <p:txBody>
          <a:bodyPr wrap="square" lIns="0" rIns="0" tIns="0" bIns="0" anchor="t">
            <a:spAutoFit/>
          </a:bodyPr>
          <a:lstStyle/>
          <a:p>
            <a:pPr algn="l">
              <a:lnSpc>
                <a:spcPct val="112000"/>
              </a:lnSpc>
              <a:spcAft>
                <a:spcPts val="0"/>
              </a:spcAft>
            </a:pPr>
            <a:r>
              <a:rPr sz="1050" b="0">
                <a:solidFill>
                  <a:srgbClr val="A8A8B0"/>
                </a:solidFill>
                <a:latin typeface="Segoe UI"/>
              </a:rPr>
              <a:t>Two missed EMIs · Tier 3</a:t>
            </a:r>
          </a:p>
        </p:txBody>
      </p:sp>
      <p:sp>
        <p:nvSpPr>
          <p:cNvPr id="21" name="Rounded Rectangle 20"/>
          <p:cNvSpPr/>
          <p:nvPr/>
        </p:nvSpPr>
        <p:spPr>
          <a:xfrm>
            <a:off x="6438747" y="2697480"/>
            <a:ext cx="2144953" cy="731520"/>
          </a:xfrm>
          <a:prstGeom prst="roundRect">
            <a:avLst>
              <a:gd name="adj" fmla="val 8000"/>
            </a:avLst>
          </a:prstGeom>
          <a:solidFill>
            <a:srgbClr val="F5F5F6"/>
          </a:solidFill>
          <a:ln>
            <a:noFill/>
          </a:ln>
        </p:spPr>
        <p:txBody>
          <a:bodyPr rtlCol="0" anchor="ctr"/>
          <a:lstStyle/>
          <a:p/>
        </p:txBody>
      </p:sp>
      <p:sp>
        <p:nvSpPr>
          <p:cNvPr id="22" name="TextBox 21"/>
          <p:cNvSpPr txBox="1"/>
          <p:nvPr/>
        </p:nvSpPr>
        <p:spPr>
          <a:xfrm>
            <a:off x="6575907" y="2697480"/>
            <a:ext cx="1870633" cy="731520"/>
          </a:xfrm>
          <a:prstGeom prst="rect">
            <a:avLst/>
          </a:prstGeom>
          <a:noFill/>
        </p:spPr>
        <p:txBody>
          <a:bodyPr wrap="square" lIns="0" rIns="0" tIns="0" bIns="0" anchor="ctr">
            <a:spAutoFit/>
          </a:bodyPr>
          <a:lstStyle/>
          <a:p>
            <a:pPr algn="l">
              <a:lnSpc>
                <a:spcPct val="105000"/>
              </a:lnSpc>
              <a:spcAft>
                <a:spcPts val="0"/>
              </a:spcAft>
            </a:pPr>
            <a:r>
              <a:rPr sz="1150" b="0">
                <a:solidFill>
                  <a:srgbClr val="0B0B0C"/>
                </a:solidFill>
                <a:latin typeface="Segoe UI Semibold"/>
              </a:rPr>
              <a:t>Offer withheld → EMI restructuring</a:t>
            </a:r>
          </a:p>
        </p:txBody>
      </p:sp>
      <p:sp>
        <p:nvSpPr>
          <p:cNvPr id="23" name="TextBox 22"/>
          <p:cNvSpPr txBox="1"/>
          <p:nvPr/>
        </p:nvSpPr>
        <p:spPr>
          <a:xfrm>
            <a:off x="6438747" y="3566160"/>
            <a:ext cx="2144953" cy="27432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Semibold"/>
              </a:rPr>
              <a:t>WATCH FOR</a:t>
            </a:r>
          </a:p>
        </p:txBody>
      </p:sp>
      <p:sp>
        <p:nvSpPr>
          <p:cNvPr id="24" name="TextBox 23"/>
          <p:cNvSpPr txBox="1"/>
          <p:nvPr/>
        </p:nvSpPr>
        <p:spPr>
          <a:xfrm>
            <a:off x="6438747" y="3813048"/>
            <a:ext cx="2144953" cy="914400"/>
          </a:xfrm>
          <a:prstGeom prst="rect">
            <a:avLst/>
          </a:prstGeom>
          <a:noFill/>
        </p:spPr>
        <p:txBody>
          <a:bodyPr wrap="square" lIns="0" rIns="0" tIns="0" bIns="0" anchor="t">
            <a:spAutoFit/>
          </a:bodyPr>
          <a:lstStyle/>
          <a:p>
            <a:pPr algn="l">
              <a:lnSpc>
                <a:spcPct val="115000"/>
              </a:lnSpc>
              <a:spcAft>
                <a:spcPts val="0"/>
              </a:spcAft>
            </a:pPr>
            <a:r>
              <a:rPr sz="1100" b="0">
                <a:solidFill>
                  <a:srgbClr val="F5F5F6"/>
                </a:solidFill>
                <a:latin typeface="Segoe UI"/>
              </a:rPr>
              <a:t>The wellness gate, and what switching off one consent scope costs her.</a:t>
            </a:r>
          </a:p>
        </p:txBody>
      </p:sp>
      <p:sp>
        <p:nvSpPr>
          <p:cNvPr id="25" name="Rounded Rectangle 24"/>
          <p:cNvSpPr/>
          <p:nvPr/>
        </p:nvSpPr>
        <p:spPr>
          <a:xfrm>
            <a:off x="9040901" y="1645920"/>
            <a:ext cx="2602153" cy="3154680"/>
          </a:xfrm>
          <a:prstGeom prst="roundRect">
            <a:avLst>
              <a:gd name="adj" fmla="val 4000"/>
            </a:avLst>
          </a:prstGeom>
          <a:solidFill>
            <a:srgbClr val="16161A"/>
          </a:solidFill>
          <a:ln w="9525">
            <a:solidFill>
              <a:srgbClr val="303037"/>
            </a:solidFill>
          </a:ln>
        </p:spPr>
        <p:txBody>
          <a:bodyPr rtlCol="0" anchor="ctr"/>
          <a:lstStyle/>
          <a:p/>
        </p:txBody>
      </p:sp>
      <p:sp>
        <p:nvSpPr>
          <p:cNvPr id="26" name="TextBox 25"/>
          <p:cNvSpPr txBox="1"/>
          <p:nvPr/>
        </p:nvSpPr>
        <p:spPr>
          <a:xfrm>
            <a:off x="9269501" y="1828800"/>
            <a:ext cx="2144953" cy="411480"/>
          </a:xfrm>
          <a:prstGeom prst="rect">
            <a:avLst/>
          </a:prstGeom>
          <a:noFill/>
        </p:spPr>
        <p:txBody>
          <a:bodyPr wrap="square" lIns="0" rIns="0" tIns="0" bIns="0" anchor="t">
            <a:spAutoFit/>
          </a:bodyPr>
          <a:lstStyle/>
          <a:p>
            <a:pPr algn="l">
              <a:lnSpc>
                <a:spcPct val="112000"/>
              </a:lnSpc>
              <a:spcAft>
                <a:spcPts val="0"/>
              </a:spcAft>
            </a:pPr>
            <a:r>
              <a:rPr sz="2200" b="0">
                <a:solidFill>
                  <a:srgbClr val="F5F5F6"/>
                </a:solidFill>
                <a:latin typeface="Segoe UI Semibold"/>
              </a:rPr>
              <a:t>Suresh</a:t>
            </a:r>
          </a:p>
        </p:txBody>
      </p:sp>
      <p:sp>
        <p:nvSpPr>
          <p:cNvPr id="27" name="TextBox 26"/>
          <p:cNvSpPr txBox="1"/>
          <p:nvPr/>
        </p:nvSpPr>
        <p:spPr>
          <a:xfrm>
            <a:off x="9269501" y="2286000"/>
            <a:ext cx="2144953" cy="274320"/>
          </a:xfrm>
          <a:prstGeom prst="rect">
            <a:avLst/>
          </a:prstGeom>
          <a:noFill/>
        </p:spPr>
        <p:txBody>
          <a:bodyPr wrap="square" lIns="0" rIns="0" tIns="0" bIns="0" anchor="t">
            <a:spAutoFit/>
          </a:bodyPr>
          <a:lstStyle/>
          <a:p>
            <a:pPr algn="l">
              <a:lnSpc>
                <a:spcPct val="112000"/>
              </a:lnSpc>
              <a:spcAft>
                <a:spcPts val="0"/>
              </a:spcAft>
            </a:pPr>
            <a:r>
              <a:rPr sz="1050" b="0">
                <a:solidFill>
                  <a:srgbClr val="A8A8B0"/>
                </a:solidFill>
                <a:latin typeface="Segoe UI"/>
              </a:rPr>
              <a:t>Zero missed EMIs · Tier 4</a:t>
            </a:r>
          </a:p>
        </p:txBody>
      </p:sp>
      <p:sp>
        <p:nvSpPr>
          <p:cNvPr id="28" name="Rounded Rectangle 27"/>
          <p:cNvSpPr/>
          <p:nvPr/>
        </p:nvSpPr>
        <p:spPr>
          <a:xfrm>
            <a:off x="9269501" y="2697480"/>
            <a:ext cx="2144953" cy="731520"/>
          </a:xfrm>
          <a:prstGeom prst="roundRect">
            <a:avLst>
              <a:gd name="adj" fmla="val 8000"/>
            </a:avLst>
          </a:prstGeom>
          <a:solidFill>
            <a:srgbClr val="F5F5F6"/>
          </a:solidFill>
          <a:ln>
            <a:noFill/>
          </a:ln>
        </p:spPr>
        <p:txBody>
          <a:bodyPr rtlCol="0" anchor="ctr"/>
          <a:lstStyle/>
          <a:p/>
        </p:txBody>
      </p:sp>
      <p:sp>
        <p:nvSpPr>
          <p:cNvPr id="29" name="TextBox 28"/>
          <p:cNvSpPr txBox="1"/>
          <p:nvPr/>
        </p:nvSpPr>
        <p:spPr>
          <a:xfrm>
            <a:off x="9406661" y="2697480"/>
            <a:ext cx="1870633" cy="731520"/>
          </a:xfrm>
          <a:prstGeom prst="rect">
            <a:avLst/>
          </a:prstGeom>
          <a:noFill/>
        </p:spPr>
        <p:txBody>
          <a:bodyPr wrap="square" lIns="0" rIns="0" tIns="0" bIns="0" anchor="ctr">
            <a:spAutoFit/>
          </a:bodyPr>
          <a:lstStyle/>
          <a:p>
            <a:pPr algn="l">
              <a:lnSpc>
                <a:spcPct val="105000"/>
              </a:lnSpc>
              <a:spcAft>
                <a:spcPts val="0"/>
              </a:spcAft>
            </a:pPr>
            <a:r>
              <a:rPr sz="1150" b="0">
                <a:solidFill>
                  <a:srgbClr val="0B0B0C"/>
                </a:solidFill>
                <a:latin typeface="Segoe UI Semibold"/>
              </a:rPr>
              <a:t>Offer withheld → support</a:t>
            </a:r>
          </a:p>
        </p:txBody>
      </p:sp>
      <p:sp>
        <p:nvSpPr>
          <p:cNvPr id="30" name="TextBox 29"/>
          <p:cNvSpPr txBox="1"/>
          <p:nvPr/>
        </p:nvSpPr>
        <p:spPr>
          <a:xfrm>
            <a:off x="9269501" y="3566160"/>
            <a:ext cx="2144953" cy="27432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Semibold"/>
              </a:rPr>
              <a:t>WATCH FOR</a:t>
            </a:r>
          </a:p>
        </p:txBody>
      </p:sp>
      <p:sp>
        <p:nvSpPr>
          <p:cNvPr id="31" name="TextBox 30"/>
          <p:cNvSpPr txBox="1"/>
          <p:nvPr/>
        </p:nvSpPr>
        <p:spPr>
          <a:xfrm>
            <a:off x="9269501" y="3813048"/>
            <a:ext cx="2144953" cy="914400"/>
          </a:xfrm>
          <a:prstGeom prst="rect">
            <a:avLst/>
          </a:prstGeom>
          <a:noFill/>
        </p:spPr>
        <p:txBody>
          <a:bodyPr wrap="square" lIns="0" rIns="0" tIns="0" bIns="0" anchor="t">
            <a:spAutoFit/>
          </a:bodyPr>
          <a:lstStyle/>
          <a:p>
            <a:pPr algn="l">
              <a:lnSpc>
                <a:spcPct val="115000"/>
              </a:lnSpc>
              <a:spcAft>
                <a:spcPts val="0"/>
              </a:spcAft>
            </a:pPr>
            <a:r>
              <a:rPr sz="1100" b="0">
                <a:solidFill>
                  <a:srgbClr val="F5F5F6"/>
                </a:solidFill>
                <a:latin typeface="Segoe UI"/>
              </a:rPr>
              <a:t>The model catching what the rules cleared, before anything goes wrong.</a:t>
            </a:r>
          </a:p>
        </p:txBody>
      </p:sp>
      <p:sp>
        <p:nvSpPr>
          <p:cNvPr id="32" name="TextBox 31"/>
          <p:cNvSpPr txBox="1"/>
          <p:nvPr/>
        </p:nvSpPr>
        <p:spPr>
          <a:xfrm>
            <a:off x="548640" y="5074920"/>
            <a:ext cx="2743200" cy="27432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Semibold"/>
              </a:rPr>
              <a:t>ALSO IN THE WALKTHROUGH</a:t>
            </a:r>
          </a:p>
        </p:txBody>
      </p:sp>
      <p:sp>
        <p:nvSpPr>
          <p:cNvPr id="33" name="Rounded Rectangle 32"/>
          <p:cNvSpPr/>
          <p:nvPr/>
        </p:nvSpPr>
        <p:spPr>
          <a:xfrm>
            <a:off x="548640" y="5394960"/>
            <a:ext cx="1038758" cy="246888"/>
          </a:xfrm>
          <a:prstGeom prst="roundRect">
            <a:avLst>
              <a:gd name="adj" fmla="val 18000"/>
            </a:avLst>
          </a:prstGeom>
          <a:noFill/>
          <a:ln w="9525">
            <a:solidFill>
              <a:srgbClr val="4A4A52"/>
            </a:solidFill>
          </a:ln>
        </p:spPr>
        <p:txBody>
          <a:bodyPr rtlCol="0" anchor="ctr"/>
          <a:lstStyle/>
          <a:p/>
        </p:txBody>
      </p:sp>
      <p:sp>
        <p:nvSpPr>
          <p:cNvPr id="34" name="TextBox 33"/>
          <p:cNvSpPr txBox="1"/>
          <p:nvPr/>
        </p:nvSpPr>
        <p:spPr>
          <a:xfrm>
            <a:off x="548640" y="5394960"/>
            <a:ext cx="1038758" cy="246888"/>
          </a:xfrm>
          <a:prstGeom prst="rect">
            <a:avLst/>
          </a:prstGeom>
          <a:noFill/>
        </p:spPr>
        <p:txBody>
          <a:bodyPr wrap="square" lIns="0" rIns="0" tIns="0" bIns="0" anchor="ctr">
            <a:spAutoFit/>
          </a:bodyPr>
          <a:lstStyle/>
          <a:p>
            <a:pPr algn="ctr">
              <a:lnSpc>
                <a:spcPct val="112000"/>
              </a:lnSpc>
              <a:spcAft>
                <a:spcPts val="0"/>
              </a:spcAft>
            </a:pPr>
            <a:r>
              <a:rPr sz="1000" b="0">
                <a:solidFill>
                  <a:srgbClr val="F5F5F6"/>
                </a:solidFill>
                <a:latin typeface="Segoe UI Semibold"/>
              </a:rPr>
              <a:t>Time Machine</a:t>
            </a:r>
          </a:p>
        </p:txBody>
      </p:sp>
      <p:sp>
        <p:nvSpPr>
          <p:cNvPr id="35" name="Rounded Rectangle 34"/>
          <p:cNvSpPr/>
          <p:nvPr/>
        </p:nvSpPr>
        <p:spPr>
          <a:xfrm>
            <a:off x="1715414" y="5394960"/>
            <a:ext cx="1622145" cy="246888"/>
          </a:xfrm>
          <a:prstGeom prst="roundRect">
            <a:avLst>
              <a:gd name="adj" fmla="val 18000"/>
            </a:avLst>
          </a:prstGeom>
          <a:noFill/>
          <a:ln w="9525">
            <a:solidFill>
              <a:srgbClr val="4A4A52"/>
            </a:solidFill>
          </a:ln>
        </p:spPr>
        <p:txBody>
          <a:bodyPr rtlCol="0" anchor="ctr"/>
          <a:lstStyle/>
          <a:p/>
        </p:txBody>
      </p:sp>
      <p:sp>
        <p:nvSpPr>
          <p:cNvPr id="36" name="TextBox 35"/>
          <p:cNvSpPr txBox="1"/>
          <p:nvPr/>
        </p:nvSpPr>
        <p:spPr>
          <a:xfrm>
            <a:off x="1715414" y="5394960"/>
            <a:ext cx="1622145" cy="246888"/>
          </a:xfrm>
          <a:prstGeom prst="rect">
            <a:avLst/>
          </a:prstGeom>
          <a:noFill/>
        </p:spPr>
        <p:txBody>
          <a:bodyPr wrap="square" lIns="0" rIns="0" tIns="0" bIns="0" anchor="ctr">
            <a:spAutoFit/>
          </a:bodyPr>
          <a:lstStyle/>
          <a:p>
            <a:pPr algn="ctr">
              <a:lnSpc>
                <a:spcPct val="112000"/>
              </a:lnSpc>
              <a:spcAft>
                <a:spcPts val="0"/>
              </a:spcAft>
            </a:pPr>
            <a:r>
              <a:rPr sz="1000" b="0">
                <a:solidFill>
                  <a:srgbClr val="F5F5F6"/>
                </a:solidFill>
                <a:latin typeface="Segoe UI Semibold"/>
              </a:rPr>
              <a:t>Off-topic chat refusal</a:t>
            </a:r>
          </a:p>
        </p:txBody>
      </p:sp>
      <p:sp>
        <p:nvSpPr>
          <p:cNvPr id="37" name="Rounded Rectangle 36"/>
          <p:cNvSpPr/>
          <p:nvPr/>
        </p:nvSpPr>
        <p:spPr>
          <a:xfrm>
            <a:off x="3465576" y="5394960"/>
            <a:ext cx="1803196" cy="246888"/>
          </a:xfrm>
          <a:prstGeom prst="roundRect">
            <a:avLst>
              <a:gd name="adj" fmla="val 18000"/>
            </a:avLst>
          </a:prstGeom>
          <a:noFill/>
          <a:ln w="9525">
            <a:solidFill>
              <a:srgbClr val="4A4A52"/>
            </a:solidFill>
          </a:ln>
        </p:spPr>
        <p:txBody>
          <a:bodyPr rtlCol="0" anchor="ctr"/>
          <a:lstStyle/>
          <a:p/>
        </p:txBody>
      </p:sp>
      <p:sp>
        <p:nvSpPr>
          <p:cNvPr id="38" name="TextBox 37"/>
          <p:cNvSpPr txBox="1"/>
          <p:nvPr/>
        </p:nvSpPr>
        <p:spPr>
          <a:xfrm>
            <a:off x="3465576" y="5394960"/>
            <a:ext cx="1803196" cy="246888"/>
          </a:xfrm>
          <a:prstGeom prst="rect">
            <a:avLst/>
          </a:prstGeom>
          <a:noFill/>
        </p:spPr>
        <p:txBody>
          <a:bodyPr wrap="square" lIns="0" rIns="0" tIns="0" bIns="0" anchor="ctr">
            <a:spAutoFit/>
          </a:bodyPr>
          <a:lstStyle/>
          <a:p>
            <a:pPr algn="ctr">
              <a:lnSpc>
                <a:spcPct val="112000"/>
              </a:lnSpc>
              <a:spcAft>
                <a:spcPts val="0"/>
              </a:spcAft>
            </a:pPr>
            <a:r>
              <a:rPr sz="1000" b="0">
                <a:solidFill>
                  <a:srgbClr val="F5F5F6"/>
                </a:solidFill>
                <a:latin typeface="Segoe UI Semibold"/>
              </a:rPr>
              <a:t>Hash-chained audit ledger</a:t>
            </a:r>
          </a:p>
        </p:txBody>
      </p:sp>
      <p:sp>
        <p:nvSpPr>
          <p:cNvPr id="39" name="Rounded Rectangle 38"/>
          <p:cNvSpPr/>
          <p:nvPr/>
        </p:nvSpPr>
        <p:spPr>
          <a:xfrm>
            <a:off x="5396788" y="5394960"/>
            <a:ext cx="1260043" cy="246888"/>
          </a:xfrm>
          <a:prstGeom prst="roundRect">
            <a:avLst>
              <a:gd name="adj" fmla="val 18000"/>
            </a:avLst>
          </a:prstGeom>
          <a:noFill/>
          <a:ln w="9525">
            <a:solidFill>
              <a:srgbClr val="4A4A52"/>
            </a:solidFill>
          </a:ln>
        </p:spPr>
        <p:txBody>
          <a:bodyPr rtlCol="0" anchor="ctr"/>
          <a:lstStyle/>
          <a:p/>
        </p:txBody>
      </p:sp>
      <p:sp>
        <p:nvSpPr>
          <p:cNvPr id="40" name="TextBox 39"/>
          <p:cNvSpPr txBox="1"/>
          <p:nvPr/>
        </p:nvSpPr>
        <p:spPr>
          <a:xfrm>
            <a:off x="5396788" y="5394960"/>
            <a:ext cx="1260043" cy="246888"/>
          </a:xfrm>
          <a:prstGeom prst="rect">
            <a:avLst/>
          </a:prstGeom>
          <a:noFill/>
        </p:spPr>
        <p:txBody>
          <a:bodyPr wrap="square" lIns="0" rIns="0" tIns="0" bIns="0" anchor="ctr">
            <a:spAutoFit/>
          </a:bodyPr>
          <a:lstStyle/>
          <a:p>
            <a:pPr algn="ctr">
              <a:lnSpc>
                <a:spcPct val="112000"/>
              </a:lnSpc>
              <a:spcAft>
                <a:spcPts val="0"/>
              </a:spcAft>
            </a:pPr>
            <a:r>
              <a:rPr sz="1000" b="0">
                <a:solidFill>
                  <a:srgbClr val="F5F5F6"/>
                </a:solidFill>
                <a:latin typeface="Segoe UI Semibold"/>
              </a:rPr>
              <a:t>Decision receipt</a:t>
            </a:r>
          </a:p>
        </p:txBody>
      </p:sp>
      <p:sp>
        <p:nvSpPr>
          <p:cNvPr id="41" name="Rounded Rectangle 40"/>
          <p:cNvSpPr/>
          <p:nvPr/>
        </p:nvSpPr>
        <p:spPr>
          <a:xfrm>
            <a:off x="6784848" y="5394960"/>
            <a:ext cx="817473" cy="246888"/>
          </a:xfrm>
          <a:prstGeom prst="roundRect">
            <a:avLst>
              <a:gd name="adj" fmla="val 18000"/>
            </a:avLst>
          </a:prstGeom>
          <a:noFill/>
          <a:ln w="9525">
            <a:solidFill>
              <a:srgbClr val="4A4A52"/>
            </a:solidFill>
          </a:ln>
        </p:spPr>
        <p:txBody>
          <a:bodyPr rtlCol="0" anchor="ctr"/>
          <a:lstStyle/>
          <a:p/>
        </p:txBody>
      </p:sp>
      <p:sp>
        <p:nvSpPr>
          <p:cNvPr id="42" name="TextBox 41"/>
          <p:cNvSpPr txBox="1"/>
          <p:nvPr/>
        </p:nvSpPr>
        <p:spPr>
          <a:xfrm>
            <a:off x="6784848" y="5394960"/>
            <a:ext cx="817473" cy="246888"/>
          </a:xfrm>
          <a:prstGeom prst="rect">
            <a:avLst/>
          </a:prstGeom>
          <a:noFill/>
        </p:spPr>
        <p:txBody>
          <a:bodyPr wrap="square" lIns="0" rIns="0" tIns="0" bIns="0" anchor="ctr">
            <a:spAutoFit/>
          </a:bodyPr>
          <a:lstStyle/>
          <a:p>
            <a:pPr algn="ctr">
              <a:lnSpc>
                <a:spcPct val="112000"/>
              </a:lnSpc>
              <a:spcAft>
                <a:spcPts val="0"/>
              </a:spcAft>
            </a:pPr>
            <a:r>
              <a:rPr sz="1000" b="0">
                <a:solidFill>
                  <a:srgbClr val="F5F5F6"/>
                </a:solidFill>
                <a:latin typeface="Segoe UI Semibold"/>
              </a:rPr>
              <a:t>/fairness</a:t>
            </a:r>
          </a:p>
        </p:txBody>
      </p:sp>
      <p:sp>
        <p:nvSpPr>
          <p:cNvPr id="43" name="Rounded Rectangle 42"/>
          <p:cNvSpPr/>
          <p:nvPr/>
        </p:nvSpPr>
        <p:spPr>
          <a:xfrm>
            <a:off x="7730337" y="5394960"/>
            <a:ext cx="938174" cy="246888"/>
          </a:xfrm>
          <a:prstGeom prst="roundRect">
            <a:avLst>
              <a:gd name="adj" fmla="val 18000"/>
            </a:avLst>
          </a:prstGeom>
          <a:noFill/>
          <a:ln w="9525">
            <a:solidFill>
              <a:srgbClr val="4A4A52"/>
            </a:solidFill>
          </a:ln>
        </p:spPr>
        <p:txBody>
          <a:bodyPr rtlCol="0" anchor="ctr"/>
          <a:lstStyle/>
          <a:p/>
        </p:txBody>
      </p:sp>
      <p:sp>
        <p:nvSpPr>
          <p:cNvPr id="44" name="TextBox 43"/>
          <p:cNvSpPr txBox="1"/>
          <p:nvPr/>
        </p:nvSpPr>
        <p:spPr>
          <a:xfrm>
            <a:off x="7730337" y="5394960"/>
            <a:ext cx="938174" cy="246888"/>
          </a:xfrm>
          <a:prstGeom prst="rect">
            <a:avLst/>
          </a:prstGeom>
          <a:noFill/>
        </p:spPr>
        <p:txBody>
          <a:bodyPr wrap="square" lIns="0" rIns="0" tIns="0" bIns="0" anchor="ctr">
            <a:spAutoFit/>
          </a:bodyPr>
          <a:lstStyle/>
          <a:p>
            <a:pPr algn="ctr">
              <a:lnSpc>
                <a:spcPct val="112000"/>
              </a:lnSpc>
              <a:spcAft>
                <a:spcPts val="0"/>
              </a:spcAft>
            </a:pPr>
            <a:r>
              <a:rPr sz="1000" b="0">
                <a:solidFill>
                  <a:srgbClr val="F5F5F6"/>
                </a:solidFill>
                <a:latin typeface="Segoe UI Semibold"/>
              </a:rPr>
              <a:t>/model-card</a:t>
            </a:r>
          </a:p>
        </p:txBody>
      </p:sp>
      <p:sp>
        <p:nvSpPr>
          <p:cNvPr id="45" name="Rounded Rectangle 44"/>
          <p:cNvSpPr/>
          <p:nvPr/>
        </p:nvSpPr>
        <p:spPr>
          <a:xfrm>
            <a:off x="8796528" y="5394960"/>
            <a:ext cx="938174" cy="246888"/>
          </a:xfrm>
          <a:prstGeom prst="roundRect">
            <a:avLst>
              <a:gd name="adj" fmla="val 18000"/>
            </a:avLst>
          </a:prstGeom>
          <a:noFill/>
          <a:ln w="9525">
            <a:solidFill>
              <a:srgbClr val="4A4A52"/>
            </a:solidFill>
          </a:ln>
        </p:spPr>
        <p:txBody>
          <a:bodyPr rtlCol="0" anchor="ctr"/>
          <a:lstStyle/>
          <a:p/>
        </p:txBody>
      </p:sp>
      <p:sp>
        <p:nvSpPr>
          <p:cNvPr id="46" name="TextBox 45"/>
          <p:cNvSpPr txBox="1"/>
          <p:nvPr/>
        </p:nvSpPr>
        <p:spPr>
          <a:xfrm>
            <a:off x="8796528" y="5394960"/>
            <a:ext cx="938174" cy="246888"/>
          </a:xfrm>
          <a:prstGeom prst="rect">
            <a:avLst/>
          </a:prstGeom>
          <a:noFill/>
        </p:spPr>
        <p:txBody>
          <a:bodyPr wrap="square" lIns="0" rIns="0" tIns="0" bIns="0" anchor="ctr">
            <a:spAutoFit/>
          </a:bodyPr>
          <a:lstStyle/>
          <a:p>
            <a:pPr algn="ctr">
              <a:lnSpc>
                <a:spcPct val="112000"/>
              </a:lnSpc>
              <a:spcAft>
                <a:spcPts val="0"/>
              </a:spcAft>
            </a:pPr>
            <a:r>
              <a:rPr sz="1000" b="0">
                <a:solidFill>
                  <a:srgbClr val="F5F5F6"/>
                </a:solidFill>
                <a:latin typeface="Segoe UI Semibold"/>
              </a:rPr>
              <a:t>/compliance</a:t>
            </a:r>
          </a:p>
        </p:txBody>
      </p:sp>
      <p:cxnSp>
        <p:nvCxnSpPr>
          <p:cNvPr id="47" name="Connector 46"/>
          <p:cNvCxnSpPr/>
          <p:nvPr/>
        </p:nvCxnSpPr>
        <p:spPr>
          <a:xfrm>
            <a:off x="548640" y="6400800"/>
            <a:ext cx="11094415"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48640" y="6492240"/>
            <a:ext cx="5486400" cy="22860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a:rPr>
              <a:t>DhanSathi  ·  Explainable banking for Bharat</a:t>
            </a:r>
          </a:p>
        </p:txBody>
      </p:sp>
      <p:sp>
        <p:nvSpPr>
          <p:cNvPr id="49" name="TextBox 48"/>
          <p:cNvSpPr txBox="1"/>
          <p:nvPr/>
        </p:nvSpPr>
        <p:spPr>
          <a:xfrm>
            <a:off x="9814255" y="6492240"/>
            <a:ext cx="1828800" cy="228600"/>
          </a:xfrm>
          <a:prstGeom prst="rect">
            <a:avLst/>
          </a:prstGeom>
          <a:noFill/>
        </p:spPr>
        <p:txBody>
          <a:bodyPr wrap="square" lIns="0" rIns="0" tIns="0" bIns="0" anchor="t">
            <a:spAutoFit/>
          </a:bodyPr>
          <a:lstStyle/>
          <a:p>
            <a:pPr algn="r">
              <a:lnSpc>
                <a:spcPct val="112000"/>
              </a:lnSpc>
              <a:spcAft>
                <a:spcPts val="0"/>
              </a:spcAft>
            </a:pPr>
            <a:r>
              <a:rPr sz="900" b="0">
                <a:solidFill>
                  <a:srgbClr val="70707A"/>
                </a:solidFill>
                <a:latin typeface="Segoe UI"/>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0" rIns="0" tIns="0" bIns="0" anchor="t">
            <a:spAutoFit/>
          </a:bodyPr>
          <a:lstStyle/>
          <a:p>
            <a:pPr algn="l">
              <a:lnSpc>
                <a:spcPct val="112000"/>
              </a:lnSpc>
              <a:spcAft>
                <a:spcPts val="0"/>
              </a:spcAft>
            </a:pPr>
            <a:r>
              <a:rPr sz="1000" b="0">
                <a:solidFill>
                  <a:srgbClr val="70707A"/>
                </a:solidFill>
                <a:latin typeface="Segoe UI Semibold"/>
              </a:rPr>
              <a:t>14 · WHAT COMES NEXT</a:t>
            </a:r>
          </a:p>
        </p:txBody>
      </p:sp>
      <p:sp>
        <p:nvSpPr>
          <p:cNvPr id="3" name="TextBox 2"/>
          <p:cNvSpPr txBox="1"/>
          <p:nvPr/>
        </p:nvSpPr>
        <p:spPr>
          <a:xfrm>
            <a:off x="548640" y="658368"/>
            <a:ext cx="5760720" cy="822960"/>
          </a:xfrm>
          <a:prstGeom prst="rect">
            <a:avLst/>
          </a:prstGeom>
          <a:noFill/>
        </p:spPr>
        <p:txBody>
          <a:bodyPr wrap="square" lIns="0" rIns="0" tIns="0" bIns="0" anchor="t">
            <a:spAutoFit/>
          </a:bodyPr>
          <a:lstStyle/>
          <a:p>
            <a:pPr algn="l">
              <a:lnSpc>
                <a:spcPct val="112000"/>
              </a:lnSpc>
              <a:spcAft>
                <a:spcPts val="0"/>
              </a:spcAft>
            </a:pPr>
            <a:r>
              <a:rPr sz="2600" b="0">
                <a:solidFill>
                  <a:srgbClr val="F5F5F6"/>
                </a:solidFill>
                <a:latin typeface="Segoe UI Semibold"/>
              </a:rPr>
              <a:t>What we would build next</a:t>
            </a:r>
          </a:p>
        </p:txBody>
      </p:sp>
      <p:sp>
        <p:nvSpPr>
          <p:cNvPr id="4" name="TextBox 3"/>
          <p:cNvSpPr txBox="1"/>
          <p:nvPr/>
        </p:nvSpPr>
        <p:spPr>
          <a:xfrm>
            <a:off x="548640" y="1554480"/>
            <a:ext cx="457200" cy="320040"/>
          </a:xfrm>
          <a:prstGeom prst="rect">
            <a:avLst/>
          </a:prstGeom>
          <a:noFill/>
        </p:spPr>
        <p:txBody>
          <a:bodyPr wrap="square" lIns="0" rIns="0" tIns="0" bIns="0" anchor="t">
            <a:spAutoFit/>
          </a:bodyPr>
          <a:lstStyle/>
          <a:p>
            <a:pPr algn="l">
              <a:lnSpc>
                <a:spcPct val="112000"/>
              </a:lnSpc>
              <a:spcAft>
                <a:spcPts val="0"/>
              </a:spcAft>
            </a:pPr>
            <a:r>
              <a:rPr sz="1100" b="0">
                <a:solidFill>
                  <a:srgbClr val="70707A"/>
                </a:solidFill>
                <a:latin typeface="Consolas"/>
              </a:rPr>
              <a:t>01</a:t>
            </a:r>
          </a:p>
        </p:txBody>
      </p:sp>
      <p:sp>
        <p:nvSpPr>
          <p:cNvPr id="5" name="TextBox 4"/>
          <p:cNvSpPr txBox="1"/>
          <p:nvPr/>
        </p:nvSpPr>
        <p:spPr>
          <a:xfrm>
            <a:off x="1005840" y="1536192"/>
            <a:ext cx="5303520" cy="320040"/>
          </a:xfrm>
          <a:prstGeom prst="rect">
            <a:avLst/>
          </a:prstGeom>
          <a:noFill/>
        </p:spPr>
        <p:txBody>
          <a:bodyPr wrap="square" lIns="0" rIns="0" tIns="0" bIns="0" anchor="t">
            <a:spAutoFit/>
          </a:bodyPr>
          <a:lstStyle/>
          <a:p>
            <a:pPr algn="l">
              <a:lnSpc>
                <a:spcPct val="112000"/>
              </a:lnSpc>
              <a:spcAft>
                <a:spcPts val="0"/>
              </a:spcAft>
            </a:pPr>
            <a:r>
              <a:rPr sz="1400" b="0">
                <a:solidFill>
                  <a:srgbClr val="F5F5F6"/>
                </a:solidFill>
                <a:latin typeface="Segoe UI Semibold"/>
              </a:rPr>
              <a:t>Fraud and anomaly detection</a:t>
            </a:r>
          </a:p>
        </p:txBody>
      </p:sp>
      <p:sp>
        <p:nvSpPr>
          <p:cNvPr id="6" name="TextBox 5"/>
          <p:cNvSpPr txBox="1"/>
          <p:nvPr/>
        </p:nvSpPr>
        <p:spPr>
          <a:xfrm>
            <a:off x="1005840" y="1856231"/>
            <a:ext cx="5303520" cy="685800"/>
          </a:xfrm>
          <a:prstGeom prst="rect">
            <a:avLst/>
          </a:prstGeom>
          <a:noFill/>
        </p:spPr>
        <p:txBody>
          <a:bodyPr wrap="square" lIns="0" rIns="0" tIns="0" bIns="0" anchor="t">
            <a:spAutoFit/>
          </a:bodyPr>
          <a:lstStyle/>
          <a:p>
            <a:pPr algn="l">
              <a:lnSpc>
                <a:spcPct val="115000"/>
              </a:lnSpc>
              <a:spcAft>
                <a:spcPts val="0"/>
              </a:spcAft>
            </a:pPr>
            <a:r>
              <a:rPr sz="1100" b="0">
                <a:solidFill>
                  <a:srgbClr val="A8A8B0"/>
                </a:solidFill>
                <a:latin typeface="Segoe UI"/>
              </a:rPr>
              <a:t>Unusual-pattern rules plus an outlier score. The intervention is a one-tap “was this you?”, never an account freeze.</a:t>
            </a:r>
          </a:p>
        </p:txBody>
      </p:sp>
      <p:sp>
        <p:nvSpPr>
          <p:cNvPr id="7" name="TextBox 6"/>
          <p:cNvSpPr txBox="1"/>
          <p:nvPr/>
        </p:nvSpPr>
        <p:spPr>
          <a:xfrm>
            <a:off x="548640" y="2651760"/>
            <a:ext cx="457200" cy="320040"/>
          </a:xfrm>
          <a:prstGeom prst="rect">
            <a:avLst/>
          </a:prstGeom>
          <a:noFill/>
        </p:spPr>
        <p:txBody>
          <a:bodyPr wrap="square" lIns="0" rIns="0" tIns="0" bIns="0" anchor="t">
            <a:spAutoFit/>
          </a:bodyPr>
          <a:lstStyle/>
          <a:p>
            <a:pPr algn="l">
              <a:lnSpc>
                <a:spcPct val="112000"/>
              </a:lnSpc>
              <a:spcAft>
                <a:spcPts val="0"/>
              </a:spcAft>
            </a:pPr>
            <a:r>
              <a:rPr sz="1100" b="0">
                <a:solidFill>
                  <a:srgbClr val="70707A"/>
                </a:solidFill>
                <a:latin typeface="Consolas"/>
              </a:rPr>
              <a:t>02</a:t>
            </a:r>
          </a:p>
        </p:txBody>
      </p:sp>
      <p:sp>
        <p:nvSpPr>
          <p:cNvPr id="8" name="TextBox 7"/>
          <p:cNvSpPr txBox="1"/>
          <p:nvPr/>
        </p:nvSpPr>
        <p:spPr>
          <a:xfrm>
            <a:off x="1005840" y="2633472"/>
            <a:ext cx="5303520" cy="320040"/>
          </a:xfrm>
          <a:prstGeom prst="rect">
            <a:avLst/>
          </a:prstGeom>
          <a:noFill/>
        </p:spPr>
        <p:txBody>
          <a:bodyPr wrap="square" lIns="0" rIns="0" tIns="0" bIns="0" anchor="t">
            <a:spAutoFit/>
          </a:bodyPr>
          <a:lstStyle/>
          <a:p>
            <a:pPr algn="l">
              <a:lnSpc>
                <a:spcPct val="112000"/>
              </a:lnSpc>
              <a:spcAft>
                <a:spcPts val="0"/>
              </a:spcAft>
            </a:pPr>
            <a:r>
              <a:rPr sz="1400" b="0">
                <a:solidFill>
                  <a:srgbClr val="F5F5F6"/>
                </a:solidFill>
                <a:latin typeface="Segoe UI Semibold"/>
              </a:rPr>
              <a:t>Guided onboarding, loan and KYC journey</a:t>
            </a:r>
          </a:p>
        </p:txBody>
      </p:sp>
      <p:sp>
        <p:nvSpPr>
          <p:cNvPr id="9" name="TextBox 8"/>
          <p:cNvSpPr txBox="1"/>
          <p:nvPr/>
        </p:nvSpPr>
        <p:spPr>
          <a:xfrm>
            <a:off x="1005840" y="2953512"/>
            <a:ext cx="5303520" cy="685800"/>
          </a:xfrm>
          <a:prstGeom prst="rect">
            <a:avLst/>
          </a:prstGeom>
          <a:noFill/>
        </p:spPr>
        <p:txBody>
          <a:bodyPr wrap="square" lIns="0" rIns="0" tIns="0" bIns="0" anchor="t">
            <a:spAutoFit/>
          </a:bodyPr>
          <a:lstStyle/>
          <a:p>
            <a:pPr algn="l">
              <a:lnSpc>
                <a:spcPct val="115000"/>
              </a:lnSpc>
              <a:spcAft>
                <a:spcPts val="0"/>
              </a:spcAft>
            </a:pPr>
            <a:r>
              <a:rPr sz="1100" b="0">
                <a:solidFill>
                  <a:srgbClr val="A8A8B0"/>
                </a:solidFill>
                <a:latin typeface="Segoe UI"/>
              </a:rPr>
              <a:t>Step persistence, stall detection, resume on another channel, and drop-off analytics for the bank.</a:t>
            </a:r>
          </a:p>
        </p:txBody>
      </p:sp>
      <p:sp>
        <p:nvSpPr>
          <p:cNvPr id="10" name="TextBox 9"/>
          <p:cNvSpPr txBox="1"/>
          <p:nvPr/>
        </p:nvSpPr>
        <p:spPr>
          <a:xfrm>
            <a:off x="548640" y="3749039"/>
            <a:ext cx="457200" cy="320040"/>
          </a:xfrm>
          <a:prstGeom prst="rect">
            <a:avLst/>
          </a:prstGeom>
          <a:noFill/>
        </p:spPr>
        <p:txBody>
          <a:bodyPr wrap="square" lIns="0" rIns="0" tIns="0" bIns="0" anchor="t">
            <a:spAutoFit/>
          </a:bodyPr>
          <a:lstStyle/>
          <a:p>
            <a:pPr algn="l">
              <a:lnSpc>
                <a:spcPct val="112000"/>
              </a:lnSpc>
              <a:spcAft>
                <a:spcPts val="0"/>
              </a:spcAft>
            </a:pPr>
            <a:r>
              <a:rPr sz="1100" b="0">
                <a:solidFill>
                  <a:srgbClr val="70707A"/>
                </a:solidFill>
                <a:latin typeface="Consolas"/>
              </a:rPr>
              <a:t>03</a:t>
            </a:r>
          </a:p>
        </p:txBody>
      </p:sp>
      <p:sp>
        <p:nvSpPr>
          <p:cNvPr id="11" name="TextBox 10"/>
          <p:cNvSpPr txBox="1"/>
          <p:nvPr/>
        </p:nvSpPr>
        <p:spPr>
          <a:xfrm>
            <a:off x="1005840" y="3730752"/>
            <a:ext cx="5303520" cy="320040"/>
          </a:xfrm>
          <a:prstGeom prst="rect">
            <a:avLst/>
          </a:prstGeom>
          <a:noFill/>
        </p:spPr>
        <p:txBody>
          <a:bodyPr wrap="square" lIns="0" rIns="0" tIns="0" bIns="0" anchor="t">
            <a:spAutoFit/>
          </a:bodyPr>
          <a:lstStyle/>
          <a:p>
            <a:pPr algn="l">
              <a:lnSpc>
                <a:spcPct val="112000"/>
              </a:lnSpc>
              <a:spcAft>
                <a:spcPts val="0"/>
              </a:spcAft>
            </a:pPr>
            <a:r>
              <a:rPr sz="1400" b="0">
                <a:solidFill>
                  <a:srgbClr val="F5F5F6"/>
                </a:solidFill>
                <a:latin typeface="Segoe UI Semibold"/>
              </a:rPr>
              <a:t>Model governance</a:t>
            </a:r>
          </a:p>
        </p:txBody>
      </p:sp>
      <p:sp>
        <p:nvSpPr>
          <p:cNvPr id="12" name="TextBox 11"/>
          <p:cNvSpPr txBox="1"/>
          <p:nvPr/>
        </p:nvSpPr>
        <p:spPr>
          <a:xfrm>
            <a:off x="1005840" y="4050791"/>
            <a:ext cx="5303520" cy="685800"/>
          </a:xfrm>
          <a:prstGeom prst="rect">
            <a:avLst/>
          </a:prstGeom>
          <a:noFill/>
        </p:spPr>
        <p:txBody>
          <a:bodyPr wrap="square" lIns="0" rIns="0" tIns="0" bIns="0" anchor="t">
            <a:spAutoFit/>
          </a:bodyPr>
          <a:lstStyle/>
          <a:p>
            <a:pPr algn="l">
              <a:lnSpc>
                <a:spcPct val="115000"/>
              </a:lnSpc>
              <a:spcAft>
                <a:spcPts val="0"/>
              </a:spcAft>
            </a:pPr>
            <a:r>
              <a:rPr sz="1100" b="0">
                <a:solidFill>
                  <a:srgbClr val="A8A8B0"/>
                </a:solidFill>
                <a:latin typeface="Segoe UI"/>
              </a:rPr>
              <a:t>Drift monitoring and scheduled revalidation, trained on a real labelled ledger.</a:t>
            </a:r>
          </a:p>
        </p:txBody>
      </p:sp>
      <p:sp>
        <p:nvSpPr>
          <p:cNvPr id="13" name="TextBox 12"/>
          <p:cNvSpPr txBox="1"/>
          <p:nvPr/>
        </p:nvSpPr>
        <p:spPr>
          <a:xfrm>
            <a:off x="548640" y="4846320"/>
            <a:ext cx="457200" cy="320040"/>
          </a:xfrm>
          <a:prstGeom prst="rect">
            <a:avLst/>
          </a:prstGeom>
          <a:noFill/>
        </p:spPr>
        <p:txBody>
          <a:bodyPr wrap="square" lIns="0" rIns="0" tIns="0" bIns="0" anchor="t">
            <a:spAutoFit/>
          </a:bodyPr>
          <a:lstStyle/>
          <a:p>
            <a:pPr algn="l">
              <a:lnSpc>
                <a:spcPct val="112000"/>
              </a:lnSpc>
              <a:spcAft>
                <a:spcPts val="0"/>
              </a:spcAft>
            </a:pPr>
            <a:r>
              <a:rPr sz="1100" b="0">
                <a:solidFill>
                  <a:srgbClr val="70707A"/>
                </a:solidFill>
                <a:latin typeface="Consolas"/>
              </a:rPr>
              <a:t>04</a:t>
            </a:r>
          </a:p>
        </p:txBody>
      </p:sp>
      <p:sp>
        <p:nvSpPr>
          <p:cNvPr id="14" name="TextBox 13"/>
          <p:cNvSpPr txBox="1"/>
          <p:nvPr/>
        </p:nvSpPr>
        <p:spPr>
          <a:xfrm>
            <a:off x="1005840" y="4828032"/>
            <a:ext cx="5303520" cy="320040"/>
          </a:xfrm>
          <a:prstGeom prst="rect">
            <a:avLst/>
          </a:prstGeom>
          <a:noFill/>
        </p:spPr>
        <p:txBody>
          <a:bodyPr wrap="square" lIns="0" rIns="0" tIns="0" bIns="0" anchor="t">
            <a:spAutoFit/>
          </a:bodyPr>
          <a:lstStyle/>
          <a:p>
            <a:pPr algn="l">
              <a:lnSpc>
                <a:spcPct val="112000"/>
              </a:lnSpc>
              <a:spcAft>
                <a:spcPts val="0"/>
              </a:spcAft>
            </a:pPr>
            <a:r>
              <a:rPr sz="1400" b="0">
                <a:solidFill>
                  <a:srgbClr val="F5F5F6"/>
                </a:solidFill>
                <a:latin typeface="Segoe UI Semibold"/>
              </a:rPr>
              <a:t>Production hardening</a:t>
            </a:r>
          </a:p>
        </p:txBody>
      </p:sp>
      <p:sp>
        <p:nvSpPr>
          <p:cNvPr id="15" name="TextBox 14"/>
          <p:cNvSpPr txBox="1"/>
          <p:nvPr/>
        </p:nvSpPr>
        <p:spPr>
          <a:xfrm>
            <a:off x="1005840" y="5148072"/>
            <a:ext cx="5303520" cy="685800"/>
          </a:xfrm>
          <a:prstGeom prst="rect">
            <a:avLst/>
          </a:prstGeom>
          <a:noFill/>
        </p:spPr>
        <p:txBody>
          <a:bodyPr wrap="square" lIns="0" rIns="0" tIns="0" bIns="0" anchor="t">
            <a:spAutoFit/>
          </a:bodyPr>
          <a:lstStyle/>
          <a:p>
            <a:pPr algn="l">
              <a:lnSpc>
                <a:spcPct val="115000"/>
              </a:lnSpc>
              <a:spcAft>
                <a:spcPts val="0"/>
              </a:spcAft>
            </a:pPr>
            <a:r>
              <a:rPr sz="1100" b="0">
                <a:solidFill>
                  <a:srgbClr val="A8A8B0"/>
                </a:solidFill>
                <a:latin typeface="Segoe UI"/>
              </a:rPr>
              <a:t>Authentication, real account linkage, and write-once storage for the audit chain.</a:t>
            </a:r>
          </a:p>
        </p:txBody>
      </p:sp>
      <p:sp>
        <p:nvSpPr>
          <p:cNvPr id="16" name="Rounded Rectangle 15"/>
          <p:cNvSpPr/>
          <p:nvPr/>
        </p:nvSpPr>
        <p:spPr>
          <a:xfrm>
            <a:off x="6720840" y="658368"/>
            <a:ext cx="4922215" cy="5440680"/>
          </a:xfrm>
          <a:prstGeom prst="roundRect">
            <a:avLst>
              <a:gd name="adj" fmla="val 3000"/>
            </a:avLst>
          </a:prstGeom>
          <a:solidFill>
            <a:srgbClr val="F5F5F6"/>
          </a:solidFill>
          <a:ln>
            <a:noFill/>
          </a:ln>
        </p:spPr>
        <p:txBody>
          <a:bodyPr rtlCol="0" anchor="ctr"/>
          <a:lstStyle/>
          <a:p/>
        </p:txBody>
      </p:sp>
      <p:sp>
        <p:nvSpPr>
          <p:cNvPr id="17" name="TextBox 16"/>
          <p:cNvSpPr txBox="1"/>
          <p:nvPr/>
        </p:nvSpPr>
        <p:spPr>
          <a:xfrm>
            <a:off x="7178040" y="1097280"/>
            <a:ext cx="4007815" cy="3291840"/>
          </a:xfrm>
          <a:prstGeom prst="rect">
            <a:avLst/>
          </a:prstGeom>
          <a:noFill/>
        </p:spPr>
        <p:txBody>
          <a:bodyPr wrap="square" lIns="0" rIns="0" tIns="0" bIns="0" anchor="t">
            <a:spAutoFit/>
          </a:bodyPr>
          <a:lstStyle/>
          <a:p>
            <a:pPr algn="l">
              <a:lnSpc>
                <a:spcPct val="108000"/>
              </a:lnSpc>
              <a:spcAft>
                <a:spcPts val="0"/>
              </a:spcAft>
            </a:pPr>
            <a:r>
              <a:rPr sz="3200" b="0">
                <a:solidFill>
                  <a:srgbClr val="0B0B0C"/>
                </a:solidFill>
                <a:latin typeface="Segoe UI Semibold"/>
              </a:rPr>
              <a:t>A product that can say no is a product you can trust with a yes.</a:t>
            </a:r>
          </a:p>
        </p:txBody>
      </p:sp>
      <p:sp>
        <p:nvSpPr>
          <p:cNvPr id="18" name="TextBox 17"/>
          <p:cNvSpPr txBox="1"/>
          <p:nvPr/>
        </p:nvSpPr>
        <p:spPr>
          <a:xfrm>
            <a:off x="7178040" y="4297680"/>
            <a:ext cx="4007815" cy="365760"/>
          </a:xfrm>
          <a:prstGeom prst="rect">
            <a:avLst/>
          </a:prstGeom>
          <a:noFill/>
        </p:spPr>
        <p:txBody>
          <a:bodyPr wrap="square" lIns="0" rIns="0" tIns="0" bIns="0" anchor="t">
            <a:spAutoFit/>
          </a:bodyPr>
          <a:lstStyle/>
          <a:p>
            <a:pPr algn="l">
              <a:lnSpc>
                <a:spcPct val="112000"/>
              </a:lnSpc>
              <a:spcAft>
                <a:spcPts val="0"/>
              </a:spcAft>
            </a:pPr>
            <a:r>
              <a:rPr sz="1800" b="0">
                <a:solidFill>
                  <a:srgbClr val="0B0B0C"/>
                </a:solidFill>
                <a:latin typeface="Segoe UI Semibold"/>
              </a:rPr>
              <a:t>DhanSathi</a:t>
            </a:r>
          </a:p>
        </p:txBody>
      </p:sp>
      <p:sp>
        <p:nvSpPr>
          <p:cNvPr id="19" name="TextBox 18"/>
          <p:cNvSpPr txBox="1"/>
          <p:nvPr/>
        </p:nvSpPr>
        <p:spPr>
          <a:xfrm>
            <a:off x="7178040" y="4663440"/>
            <a:ext cx="4007815" cy="1097280"/>
          </a:xfrm>
          <a:prstGeom prst="rect">
            <a:avLst/>
          </a:prstGeom>
          <a:noFill/>
        </p:spPr>
        <p:txBody>
          <a:bodyPr wrap="square" lIns="0" rIns="0" tIns="0" bIns="0" anchor="t">
            <a:spAutoFit/>
          </a:bodyPr>
          <a:lstStyle/>
          <a:p>
            <a:pPr algn="l">
              <a:lnSpc>
                <a:spcPct val="120000"/>
              </a:lnSpc>
              <a:spcAft>
                <a:spcPts val="0"/>
              </a:spcAft>
            </a:pPr>
            <a:r>
              <a:rPr sz="1200" b="0">
                <a:solidFill>
                  <a:srgbClr val="45454C"/>
                </a:solidFill>
                <a:latin typeface="Segoe UI"/>
              </a:rPr>
              <a:t>Explainable, consent-first banking for Bharat. Every number in this deck comes from the running product.</a:t>
            </a:r>
          </a:p>
        </p:txBody>
      </p:sp>
      <p:cxnSp>
        <p:nvCxnSpPr>
          <p:cNvPr id="20" name="Connector 19"/>
          <p:cNvCxnSpPr/>
          <p:nvPr/>
        </p:nvCxnSpPr>
        <p:spPr>
          <a:xfrm>
            <a:off x="548640" y="6400800"/>
            <a:ext cx="11094415" cy="0"/>
          </a:xfrm>
          <a:prstGeom prst="line">
            <a:avLst/>
          </a:prstGeom>
          <a:ln w="6350">
            <a:solidFill>
              <a:srgbClr val="30303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6492240"/>
            <a:ext cx="5486400" cy="228600"/>
          </a:xfrm>
          <a:prstGeom prst="rect">
            <a:avLst/>
          </a:prstGeom>
          <a:noFill/>
        </p:spPr>
        <p:txBody>
          <a:bodyPr wrap="square" lIns="0" rIns="0" tIns="0" bIns="0" anchor="t">
            <a:spAutoFit/>
          </a:bodyPr>
          <a:lstStyle/>
          <a:p>
            <a:pPr algn="l">
              <a:lnSpc>
                <a:spcPct val="112000"/>
              </a:lnSpc>
              <a:spcAft>
                <a:spcPts val="0"/>
              </a:spcAft>
            </a:pPr>
            <a:r>
              <a:rPr sz="900" b="0">
                <a:solidFill>
                  <a:srgbClr val="70707A"/>
                </a:solidFill>
                <a:latin typeface="Segoe UI"/>
              </a:rPr>
              <a:t>DhanSathi  ·  Explainable banking for Bharat</a:t>
            </a:r>
          </a:p>
        </p:txBody>
      </p:sp>
      <p:sp>
        <p:nvSpPr>
          <p:cNvPr id="22" name="TextBox 21"/>
          <p:cNvSpPr txBox="1"/>
          <p:nvPr/>
        </p:nvSpPr>
        <p:spPr>
          <a:xfrm>
            <a:off x="9814255" y="6492240"/>
            <a:ext cx="1828800" cy="228600"/>
          </a:xfrm>
          <a:prstGeom prst="rect">
            <a:avLst/>
          </a:prstGeom>
          <a:noFill/>
        </p:spPr>
        <p:txBody>
          <a:bodyPr wrap="square" lIns="0" rIns="0" tIns="0" bIns="0" anchor="t">
            <a:spAutoFit/>
          </a:bodyPr>
          <a:lstStyle/>
          <a:p>
            <a:pPr algn="r">
              <a:lnSpc>
                <a:spcPct val="112000"/>
              </a:lnSpc>
              <a:spcAft>
                <a:spcPts val="0"/>
              </a:spcAft>
            </a:pPr>
            <a:r>
              <a:rPr sz="900" b="0">
                <a:solidFill>
                  <a:srgbClr val="70707A"/>
                </a:solidFill>
                <a:latin typeface="Segoe U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